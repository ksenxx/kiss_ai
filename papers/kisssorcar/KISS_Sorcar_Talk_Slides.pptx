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56032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554480"/>
            <a:ext cx="9692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000" b="1" i="0">
                <a:solidFill>
                  <a:srgbClr val="1B2A4A"/>
                </a:solidFill>
                <a:latin typeface="Calibri"/>
              </a:rPr>
              <a:t>KISS Sorcar</a:t>
            </a:r>
          </a:p>
          <a:p>
            <a:r>
              <a:rPr sz="2600" b="0" i="0">
                <a:solidFill>
                  <a:srgbClr val="2C3E6B"/>
                </a:solidFill>
                <a:latin typeface="Calibri"/>
              </a:rPr>
              <a:t>Building Trustworthy AI for Software Engineering</a:t>
            </a:r>
          </a:p>
          <a:p>
            <a:r>
              <a:rPr sz="2000" b="0" i="1">
                <a:solidFill>
                  <a:srgbClr val="444B5A"/>
                </a:solidFill>
                <a:latin typeface="Calibri"/>
              </a:rPr>
              <a:t>Lessons from a Two-Stage, Human-in-the-Loop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9692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1B2A4A"/>
                </a:solidFill>
                <a:latin typeface="Calibri"/>
              </a:rPr>
              <a:t>Koushik Sen</a:t>
            </a:r>
          </a:p>
          <a:p>
            <a:r>
              <a:rPr sz="1600" b="0" i="0">
                <a:solidFill>
                  <a:srgbClr val="444B5A"/>
                </a:solidFill>
                <a:latin typeface="Calibri"/>
              </a:rPr>
              <a:t>EECS Department, UC Berkeley</a:t>
            </a:r>
          </a:p>
          <a:p>
            <a:r>
              <a:rPr sz="1600" b="0" i="0">
                <a:solidFill>
                  <a:srgbClr val="444B5A"/>
                </a:solidFill>
                <a:latin typeface="Calibri"/>
              </a:rPr>
              <a:t>ksen@berkeley.edu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1">
                <a:solidFill>
                  <a:srgbClr val="2C3E6B"/>
                </a:solidFill>
                <a:latin typeface="Calibri"/>
              </a:rPr>
              <a:t>"Everything should be made as simple as possible, but not simpler." — Albert Einstein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035040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2C3E6B"/>
                </a:solidFill>
                <a:latin typeface="Calibri"/>
              </a:rPr>
              <a:t>https://github.com/ksenxx/kiss_ai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What This Talk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52120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01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A two-stage (bicameral) trustworthiness framework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02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Model-generated functional tests for code quality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03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Don't train general-purpose models — reuse large ones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04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Co-creative coding with open models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05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Skill files &amp; token management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06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Assumptions in language-model training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07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Training models for user awareness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08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Over-indexing &amp; data gaps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09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Trade-offs in AI patch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2120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10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Benchmark evaluation strategy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11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AI code generation &amp; trust challenges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12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Human-in-the-loop code review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13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Prompt-injection risks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14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AI agent development challenges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15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Git for continuous debugging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16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Model strengths &amp; limitations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2C3E6B"/>
                </a:solidFill>
                <a:latin typeface="Calibri"/>
              </a:rPr>
              <a:t>17  </a:t>
            </a:r>
            <a:r>
              <a:rPr sz="1500" b="0" i="0">
                <a:solidFill>
                  <a:srgbClr val="444B5A"/>
                </a:solidFill>
                <a:latin typeface="Calibri"/>
              </a:rPr>
              <a:t>AI tools for production debugging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01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A Two-Stage Trustworthiness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Separate Generation from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Decouple model training/generation from an independent external verification stage.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A “bicameral” design — two cooperating chambers: one proposes, the other checks.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Independent verification builds trust that holds across many different use cases.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Trustworthiness comes from the second stage, not from trusting the generator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550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888F9E"/>
                </a:solidFill>
                <a:latin typeface="Calibri"/>
              </a:rPr>
              <a:t>Bicameral = a two-chamber structure (as in a two-house legislature), used here as a metaphor for proposer + verifier.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02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Model-Generated Functional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C3E6B"/>
                </a:solidFill>
                <a:latin typeface="Calibri"/>
              </a:rPr>
              <a:t>SOFTWARE DEVELOPMENT</a:t>
            </a:r>
          </a:p>
          <a:p>
            <a:r>
              <a:rPr sz="3000" b="1" i="0">
                <a:solidFill>
                  <a:srgbClr val="1B2A4A"/>
                </a:solidFill>
                <a:latin typeface="Calibri"/>
              </a:rPr>
              <a:t>Validate Code with Tests the Model Writes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Have the model generate functional tests to validate the quality of generated code.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Tests give an objective signal of correctness instead of trusting raw output.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Weigh both code quality and the cost of producing and running it.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Functional tests become the contract the generated code must satisfy.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03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Avoid Training General-Purpose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Reuse Large Models Instead of Training Your 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Training a general-purpose model from scratch is hard, expensive, and often unnecessary.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Build on existing large foundation models rather than reinventing them.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Focus effort on the application layer, evaluation, and verification — not pre-training.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04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Co-Creative Code Generation with Open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Open Models for Secure, Proprietary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Open models can be post-trained to handle proprietary data securely on-premise.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Custom skill files let Claude Code reach internal tools and private context.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This enables a co-creative loop between developer and model inside the company's walls.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550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888F9E"/>
                </a:solidFill>
                <a:latin typeface="Calibri"/>
              </a:rPr>
              <a:t>“Cloud code” in the transcript refers to Claude Code; skill files are reusable SKILL.md tool/instruction bundles.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05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Skill Files &amp; Token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C3E6B"/>
                </a:solidFill>
                <a:latin typeface="Calibri"/>
              </a:rPr>
              <a:t>PYTHON CODE ANALYSIS</a:t>
            </a:r>
          </a:p>
          <a:p>
            <a:r>
              <a:rPr sz="3000" b="1" i="0">
                <a:solidFill>
                  <a:srgbClr val="1B2A4A"/>
                </a:solidFill>
                <a:latin typeface="Calibri"/>
              </a:rPr>
              <a:t>Preload Skill Files to Save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Re-invoking skill files on every call repeatedly re-reads them and wastes tokens.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Preloading skill files once keeps the instructions resident in context.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Result: lower token consumption and more efficient Python code-analysis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06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Assumptions in Language-Model 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Assumptions, Search, and the Human in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Language models lean on built-in assumptions and search-based methods.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Better evaluation is needed to expose where those assumptions break.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Keeping human developers involved reduces bugs and improves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07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Training Models for User Awareness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Make Models Aware of What the User Knows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Train models to be more informative and calibrated to the user's existing knowledge.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Large companies (e.g., Facebook) trace how development unfolds over time.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Signals such as a user's email-domain context can influence model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550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888F9E"/>
                </a:solidFill>
                <a:latin typeface="Calibri"/>
              </a:rPr>
              <a:t>Examples reflect the speaker's observations; specific corporate practices were stated illustratively.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08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Over-Indexing &amp; Data Gaps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Two Failure Modes That Hurt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Over-indexing — fitting too tightly to narrow data — limits generality.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Data gaps leave models blind in areas with little or no coverage.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Together these challenges make academic survival and progress harder.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09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Trade-offs in AI Patch Generation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When Patches Lack Traceability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AI-generated patches often lack traceability of how a decision was reached.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That makes the rationale behind a change hard to reconstruct or audit.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It also obscures trade-offs between performance and security.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10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Benchmark Evaluation Strategy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Evaluate Against a Defined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Measure model performance against a clearly specified test set.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Require the model to meet or exceed agreed benchmark standards before acceptance.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A fixed benchmark makes progress comparable and regressions visible.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11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AI Code Generation &amp; Trust Challenges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When Output Outpaces Human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AI-generated code raises trust issues because developers must verify large outputs.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Generation can exceed human coding velocity, so review becomes the bottleneck.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This complicates both security and quality assurance at scale.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12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Human-in-the-Loop Code Review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No Acceptance Without Human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The team insists every piece of AI-generated code is verified by a human.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Regression tests are required to confirm nothing existing was broken.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Detailed workflow explanations must accompany changes before they are accepted.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13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AI Code Review &amp; Prompt-Injection Risks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Review, Explain, Validate — and Stay Alert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The reviewer reads AI-generated code, then explains and independently validates it.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Prompt injection can occur when a model follows embedded instructions too strictly.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Treat external/untrusted content as data, not as commands to obey.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14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AI Agent Development Challenges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Living with Agent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Working with Claude Code agents surfaces capability limits and token constraints.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Independent validation of agent output is essential, not optional.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Human feedback remains the anchor for AI code quality.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15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Git for Continuous Debugging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Commit Often, Debug Forever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Commit roughly every minute to capture fine-grained code changes and bugs.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The Git history becomes a queryable database of work.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Track tasks, commits, and bugs through that history for fast root-cause analysis.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16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Model Strengths &amp; Limitations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A4A"/>
                </a:solidFill>
                <a:latin typeface="Calibri"/>
              </a:rPr>
              <a:t>Different Models, Different Edges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AI models vary in strengths and weaknesses — compare them on arena.ai.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Rankings shift constantly; at the time of the talk GPT-5.1 sat around eighth.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Deep-research tasks need specialized data (e.g., Google Maps) general models lack.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550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888F9E"/>
                </a:solidFill>
                <a:latin typeface="Calibri"/>
              </a:rPr>
              <a:t>arena.ai is a live model-comparison leaderboard; rankings are volatile and were accurate as a snapshot only.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64592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56032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9FB0D0"/>
                </a:solidFill>
                <a:latin typeface="Calibri"/>
              </a:rPr>
              <a:t>17</a:t>
            </a:r>
          </a:p>
          <a:p>
            <a:r>
              <a:rPr sz="3600" b="1" i="0">
                <a:solidFill>
                  <a:srgbClr val="FFFFFF"/>
                </a:solidFill>
                <a:latin typeface="Calibri"/>
              </a:rPr>
              <a:t>AI Tools for Production Debugging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5603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2C3E6B"/>
                </a:solidFill>
                <a:latin typeface="Calibri"/>
              </a:rPr>
              <a:t>OPERATIONS</a:t>
            </a:r>
          </a:p>
          <a:p>
            <a:r>
              <a:rPr sz="3000" b="1" i="0">
                <a:solidFill>
                  <a:srgbClr val="1B2A4A"/>
                </a:solidFill>
                <a:latin typeface="Calibri"/>
              </a:rPr>
              <a:t>Prompt Your Way Through the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2011680" cy="38100"/>
          </a:xfrm>
          <a:prstGeom prst="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Use AI tools to debug production issues, not just to write new code.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Effective prompting is what turns raw logs into actionable insight.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1800" b="1" i="0">
                <a:solidFill>
                  <a:srgbClr val="2C3E6B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444B5A"/>
                </a:solidFill>
                <a:latin typeface="Calibri"/>
              </a:rPr>
              <a:t>The quality of the question largely determines the quality of the diagnosis.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ISS-Sor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256032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102412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Key Takeaways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FB0D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E6EAF2"/>
                </a:solidFill>
                <a:latin typeface="Calibri"/>
              </a:rPr>
              <a:t>Separate generation from independent verification — trust comes from the second stage.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FB0D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E6EAF2"/>
                </a:solidFill>
                <a:latin typeface="Calibri"/>
              </a:rPr>
              <a:t>Keep humans in the loop: regression tests, explanations, and review before acceptance.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FB0D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E6EAF2"/>
                </a:solidFill>
                <a:latin typeface="Calibri"/>
              </a:rPr>
              <a:t>Reuse large models; post-train open models for proprietary, secure workflows.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9FB0D0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E6EAF2"/>
                </a:solidFill>
                <a:latin typeface="Calibri"/>
              </a:rPr>
              <a:t>Manage tokens, commit continuously, and pick models by task using live benchmarks.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9FB0D0"/>
                </a:solidFill>
                <a:latin typeface="Calibri"/>
              </a:rPr>
              <a:t>Koushik Sen  ·  ksen@berkeley.edu  ·  github.com/ksenxx/kiss_ai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