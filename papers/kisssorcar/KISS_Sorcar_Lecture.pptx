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300" r:id="rId3"/>
    <p:sldId id="302" r:id="rId4"/>
    <p:sldId id="303" r:id="rId5"/>
    <p:sldId id="30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8" r:id="rId46"/>
    <p:sldId id="299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5"/>
    <p:restoredTop sz="94638"/>
  </p:normalViewPr>
  <p:slideViewPr>
    <p:cSldViewPr snapToGrid="0" snapToObjects="1">
      <p:cViewPr varScale="1">
        <p:scale>
          <a:sx n="170" d="100"/>
          <a:sy n="170" d="100"/>
        </p:scale>
        <p:origin x="208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D199C-B2D4-9243-A663-77494DA580BD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67696-6F99-D845-B240-088A53994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67696-6F99-D845-B240-088A539946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64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B2A4A"/>
                </a:solidFill>
              </a:rPr>
              <a:t>KISS Sorcar</a:t>
            </a:r>
          </a:p>
          <a:p>
            <a:r>
              <a:rPr sz="2800">
                <a:solidFill>
                  <a:srgbClr val="2C3E6B"/>
                </a:solidFill>
              </a:rPr>
              <a:t>A Stupidly-Simple General-Purpose and
Software Engineering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4151"/>
                </a:solidFill>
              </a:defRPr>
            </a:pPr>
            <a:r>
              <a:t>Koushik Sen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EECS Department, UC Berkeley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ksen@berkeley.edu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B7280"/>
                </a:solidFill>
              </a:defRPr>
            </a:pPr>
            <a:r>
              <a:t>"Everything should be made as simple as possible, but not simpler." — Albert Einstein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https://github.com/ksenxx/kiss_ai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D5A1-924D-F0F1-B6DC-FDFE04B6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2085-44A0-D9DB-F758-40588104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174820" cy="4525963"/>
          </a:xfrm>
        </p:spPr>
        <p:txBody>
          <a:bodyPr>
            <a:normAutofit/>
          </a:bodyPr>
          <a:lstStyle/>
          <a:p>
            <a:r>
              <a:rPr lang="en-US" dirty="0"/>
              <a:t>Motivation &amp; Problem Statement</a:t>
            </a:r>
          </a:p>
          <a:p>
            <a:r>
              <a:rPr lang="en-US" dirty="0"/>
              <a:t>The KISS Agent Framework — Five-Layer Architecture</a:t>
            </a:r>
          </a:p>
          <a:p>
            <a:r>
              <a:rPr lang="en-US" dirty="0"/>
              <a:t>The System Prompt — Engineering Discipline as Instructions</a:t>
            </a:r>
          </a:p>
          <a:p>
            <a:r>
              <a:rPr lang="en-US" dirty="0"/>
              <a:t>VS Code Extension — Unique Features</a:t>
            </a:r>
          </a:p>
          <a:p>
            <a:r>
              <a:rPr lang="en-US" dirty="0"/>
              <a:t>Evaluation on Terminal Bench 2.0</a:t>
            </a:r>
          </a:p>
          <a:p>
            <a:r>
              <a:rPr lang="en-US" dirty="0"/>
              <a:t>Painless Software Engineering — A Case Study</a:t>
            </a:r>
          </a:p>
          <a:p>
            <a:r>
              <a:rPr lang="en-US" dirty="0"/>
              <a:t>Related Work &amp; 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4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515C-0D80-B1A8-AF5A-CB8719A3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D4D0F-E668-32B8-2A59-EF78D2BF345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48D82-F6E8-DDA7-0BCE-A981D0D078D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6A06A2-4AFD-C924-1FB6-201E3024ED75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7AE57-5924-530F-D9DA-129F3760AF2D}"/>
              </a:ext>
            </a:extLst>
          </p:cNvPr>
          <p:cNvSpPr txBox="1"/>
          <p:nvPr/>
        </p:nvSpPr>
        <p:spPr>
          <a:xfrm>
            <a:off x="731520" y="457200"/>
            <a:ext cx="1072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rPr lang="en-US" dirty="0"/>
              <a:t>Sorcar beats Cursor agent and Claude Code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911D0-4682-A96E-C085-50A39892DA5B}"/>
              </a:ext>
            </a:extLst>
          </p:cNvPr>
          <p:cNvSpPr txBox="1"/>
          <p:nvPr/>
        </p:nvSpPr>
        <p:spPr>
          <a:xfrm>
            <a:off x="1737360" y="1691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Claude Code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BB85F9-456F-D132-EDDD-AF6D95F131B4}"/>
              </a:ext>
            </a:extLst>
          </p:cNvPr>
          <p:cNvSpPr/>
          <p:nvPr/>
        </p:nvSpPr>
        <p:spPr>
          <a:xfrm>
            <a:off x="1828800" y="2011680"/>
            <a:ext cx="4242816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A463A-8B17-9A44-F39B-5D1F934BEE98}"/>
              </a:ext>
            </a:extLst>
          </p:cNvPr>
          <p:cNvSpPr txBox="1"/>
          <p:nvPr/>
        </p:nvSpPr>
        <p:spPr>
          <a:xfrm>
            <a:off x="6254496" y="201168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58.0%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F7900-BF44-E2D1-8AFE-A1D866599B23}"/>
              </a:ext>
            </a:extLst>
          </p:cNvPr>
          <p:cNvSpPr txBox="1"/>
          <p:nvPr/>
        </p:nvSpPr>
        <p:spPr>
          <a:xfrm>
            <a:off x="1737360" y="2880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Cursor Composer 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CB74F6-C104-6D66-D653-870EE6A7D52A}"/>
              </a:ext>
            </a:extLst>
          </p:cNvPr>
          <p:cNvSpPr/>
          <p:nvPr/>
        </p:nvSpPr>
        <p:spPr>
          <a:xfrm>
            <a:off x="1828800" y="3200400"/>
            <a:ext cx="4513478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9AB90-515A-2430-97F1-9347F734E4E3}"/>
              </a:ext>
            </a:extLst>
          </p:cNvPr>
          <p:cNvSpPr txBox="1"/>
          <p:nvPr/>
        </p:nvSpPr>
        <p:spPr>
          <a:xfrm>
            <a:off x="6525158" y="3200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61.7%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5426D-6E0B-1C7C-6382-7626A1C682E7}"/>
              </a:ext>
            </a:extLst>
          </p:cNvPr>
          <p:cNvSpPr txBox="1"/>
          <p:nvPr/>
        </p:nvSpPr>
        <p:spPr>
          <a:xfrm>
            <a:off x="173736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KISS Sorcar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ECFE6D-C4F9-0AC8-1256-EC0DF5FCA2CF}"/>
              </a:ext>
            </a:extLst>
          </p:cNvPr>
          <p:cNvSpPr/>
          <p:nvPr/>
        </p:nvSpPr>
        <p:spPr>
          <a:xfrm>
            <a:off x="1828800" y="4389120"/>
            <a:ext cx="4550054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AA9C22-26F0-FB23-1BDD-4B2F32D9970C}"/>
              </a:ext>
            </a:extLst>
          </p:cNvPr>
          <p:cNvSpPr txBox="1"/>
          <p:nvPr/>
        </p:nvSpPr>
        <p:spPr>
          <a:xfrm>
            <a:off x="6561734" y="438912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62.2%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9DFCFA-B02B-5221-E91A-8409F6807FAA}"/>
              </a:ext>
            </a:extLst>
          </p:cNvPr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All using Claude Opus 4.6 as the underlying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F7C5F7-3999-1DA7-5070-6FC281F22B61}"/>
              </a:ext>
            </a:extLst>
          </p:cNvPr>
          <p:cNvSpPr txBox="1"/>
          <p:nvPr/>
        </p:nvSpPr>
        <p:spPr>
          <a:xfrm>
            <a:off x="1371600" y="56235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Cursor Composer 2 uses a custom fine-tuned model with large-scale RL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41AA7-2461-2C49-51BA-C4BA47076827}"/>
              </a:ext>
            </a:extLst>
          </p:cNvPr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KISS Sorcar: no fine-tuning, no benchmark-specific optimizations, ~2,700 lines of Python</a:t>
            </a:r>
          </a:p>
        </p:txBody>
      </p:sp>
    </p:spTree>
    <p:extLst>
      <p:ext uri="{BB962C8B-B14F-4D97-AF65-F5344CB8AC3E}">
        <p14:creationId xmlns:p14="http://schemas.microsoft.com/office/powerpoint/2010/main" val="252453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CC587-7E77-722D-360C-41E67CA5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2" b="912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</a:rPr>
              <a:t>Everything You Need, Nothing You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Built for software engineering and general-purpose automation.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General-Purpose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Books flights, drives desktop apps, navigates websites, and automates everyday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Time-Tested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Built on robust principles — code is simple, elegant, maintainable, and bug-free.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Third-Party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Slack, Discord, Teams, WhatsApp, iMessage, Telegram, Signal, Gmail, cron, and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65760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Runs Relentlessly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Auto-summarization and continuation across sub-sessions. Never gives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Browser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Built-in Chromium via Playwright. Navigate, click, fill forms, take screenshots.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Git Worktree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778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Every task runs on its own branch in a separate worktree. Working tree untouched.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0000" y="12344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600" y="11887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Docker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600" y="14630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Execute tasks inside Docker containers for sandboxed, reproducible environments.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000" y="205740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600" y="201168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Multimodal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600" y="228600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Understands images, screenshots, and text. Attach visual context to prompts.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0" y="288036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600" y="283464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Budget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600" y="310896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Tokens, cost, and time at every step. Hard budget ceilings prevent runaway spending.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0000" y="370332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28600" y="365760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Project Overrides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600" y="393192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Per-repository SORCAR.md customizes the agent — project knowledge in one human-curated place.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0000" y="452628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600" y="448056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CLI + VS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600" y="475488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Rich VS Code extension or command-line tool. Same agent, your choice of interface.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0000" y="5349240"/>
            <a:ext cx="13716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28600" y="5303520"/>
            <a:ext cx="52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Quality Over Speed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600" y="557784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Runs linters, type checkers, and tests before declaring success. Clean, tested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Why do we need another AI assistant?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Stubborn Gaps in Current AI Assistants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Finite Context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Single sessions cannot handle long-horizon tasks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Single-Mistake Derailment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One error can send the entire session off track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Dead-End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Agents get stuck repeating the same failing approach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AI Slop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720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Low-quality, generic, hedging output that wastes tokens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166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Difficult Review &amp; Revert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40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Generated changes are hard to inspect and roll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63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Our Approach: Keep It Simple, Stupid</a:t>
            </a:r>
          </a:p>
        </p:txBody>
      </p:sp>
      <p:sp>
        <p:nvSpPr>
          <p:cNvPr id="6" name="Rectangle 5"/>
          <p:cNvSpPr/>
          <p:nvPr/>
        </p:nvSpPr>
        <p:spPr>
          <a:xfrm rot="2700000">
            <a:off x="914400" y="175564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KISS Agent Framework: ~2,700 lines of Python</a:t>
            </a:r>
          </a:p>
        </p:txBody>
      </p:sp>
      <p:sp>
        <p:nvSpPr>
          <p:cNvPr id="8" name="Rectangle 7"/>
          <p:cNvSpPr/>
          <p:nvPr/>
        </p:nvSpPr>
        <p:spPr>
          <a:xfrm rot="2700000">
            <a:off x="914400" y="235000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Five-layer agent hierarchy — each layer adds exactly one concern</a:t>
            </a:r>
          </a:p>
        </p:txBody>
      </p:sp>
      <p:sp>
        <p:nvSpPr>
          <p:cNvPr id="10" name="Rectangle 9"/>
          <p:cNvSpPr/>
          <p:nvPr/>
        </p:nvSpPr>
        <p:spPr>
          <a:xfrm rot="2700000">
            <a:off x="914400" y="294436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58712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rPr dirty="0"/>
              <a:t>Robust system prompt encoding engineering discipline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914400" y="353872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Quality over latency — let the model validate its own output</a:t>
            </a:r>
          </a:p>
        </p:txBody>
      </p:sp>
      <p:sp>
        <p:nvSpPr>
          <p:cNvPr id="14" name="Rectangle 13"/>
          <p:cNvSpPr/>
          <p:nvPr/>
        </p:nvSpPr>
        <p:spPr>
          <a:xfrm rot="2700000">
            <a:off x="914400" y="413308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Built using itself — continuous self-hosted stress test</a:t>
            </a:r>
          </a:p>
        </p:txBody>
      </p:sp>
      <p:sp>
        <p:nvSpPr>
          <p:cNvPr id="16" name="Rectangle 15"/>
          <p:cNvSpPr/>
          <p:nvPr/>
        </p:nvSpPr>
        <p:spPr>
          <a:xfrm rot="2700000">
            <a:off x="914400" y="472744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Free, open-source VS Code extension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KISS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 Five-Layer 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Five-Layer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304" y="1554480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5: Worktree Sorcar Agent</a:t>
            </a:r>
            <a:r>
              <a:rPr sz="1500">
                <a:solidFill>
                  <a:srgbClr val="DBEAFE"/>
                </a:solidFill>
              </a:rPr>
              <a:t>    Git worktree isolation — branch per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704" y="1554480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741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304" y="2441448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4: Chat Sorcar Agent</a:t>
            </a:r>
            <a:r>
              <a:rPr sz="1500">
                <a:solidFill>
                  <a:srgbClr val="DBEAFE"/>
                </a:solidFill>
              </a:rPr>
              <a:t>    Persistent multi-turn chat with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704" y="2441448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317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304" y="3328416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3: Sorcar Agent</a:t>
            </a:r>
            <a:r>
              <a:rPr sz="1500">
                <a:solidFill>
                  <a:srgbClr val="DBEAFE"/>
                </a:solidFill>
              </a:rPr>
              <a:t>    Coding tools, browser, parallel 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704" y="3328416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744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4304" y="4215384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2: Relentless Agent</a:t>
            </a:r>
            <a:r>
              <a:rPr sz="1500">
                <a:solidFill>
                  <a:srgbClr val="DBEAFE"/>
                </a:solidFill>
              </a:rPr>
              <a:t>    Auto continuation via 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704" y="4215384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433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4304" y="5102352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1: KISS Agent</a:t>
            </a:r>
            <a:r>
              <a:rPr sz="1500">
                <a:solidFill>
                  <a:srgbClr val="DBEAFE"/>
                </a:solidFill>
              </a:rPr>
              <a:t>    Budget-tracked ReAct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704" y="5102352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428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304" y="6080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B7280"/>
                </a:solidFill>
              </a:defRPr>
            </a:pPr>
            <a:r>
              <a:t>Total: ~2,700 lines of Python  •  Strict inheritance chain  •  Each layer delegates upward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1: KISS Agent — The Inner Execution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Native Function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Tools registered as ordinary Python callables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OpenAI-compatible tool schema, cached at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Budget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10062"/>
            <a:ext cx="7498079" cy="5919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rPr dirty="0"/>
              <a:t>Per-step token counting &amp; dollar cost computation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rPr dirty="0"/>
              <a:t>Per-agent budget + </a:t>
            </a:r>
            <a:r>
              <a:t>global budget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Error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10896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Retries transient API errors (rate limits, server errors)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Immediate raise on non-retryable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Non-Agentic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8620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Single generation without ReAct loop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Useful for summarization &amp; Q/A sub-tasks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Stateless Across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6344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Each run() resets conversation, counters, tool registry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Safe to reuse a single instance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KISS Agent — A Complete Agent in 10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48495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b="1" dirty="0">
                <a:solidFill>
                  <a:srgbClr val="C678DD"/>
                </a:solidFill>
                <a:latin typeface="Courier New"/>
              </a:rPr>
              <a:t>from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E5C07B"/>
                </a:solidFill>
                <a:latin typeface="Courier New"/>
              </a:rPr>
              <a:t>kiss.core.kiss_agent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b="1" dirty="0">
                <a:solidFill>
                  <a:srgbClr val="C678DD"/>
                </a:solidFill>
                <a:latin typeface="Courier New"/>
              </a:rPr>
              <a:t>import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E5C07B"/>
                </a:solidFill>
                <a:latin typeface="Courier New"/>
              </a:rPr>
              <a:t>KISSAgent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b="1" dirty="0">
                <a:solidFill>
                  <a:srgbClr val="C678DD"/>
                </a:solidFill>
                <a:latin typeface="Courier New"/>
              </a:rPr>
              <a:t>def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calculate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expression</a:t>
            </a:r>
            <a:r>
              <a:rPr lang="en-US" sz="1300" dirty="0">
                <a:solidFill>
                  <a:srgbClr val="56B6C2"/>
                </a:solidFill>
                <a:latin typeface="Courier New"/>
              </a:rPr>
              <a:t>: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str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)</a:t>
            </a:r>
            <a:r>
              <a:rPr lang="en-US" sz="1300" dirty="0">
                <a:solidFill>
                  <a:srgbClr val="56B6C2"/>
                </a:solidFill>
                <a:latin typeface="Courier New"/>
              </a:rPr>
              <a:t> -&gt;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str</a:t>
            </a:r>
            <a:r>
              <a:rPr lang="en-US" sz="1300" dirty="0">
                <a:solidFill>
                  <a:srgbClr val="56B6C2"/>
                </a:solidFill>
                <a:latin typeface="Courier New"/>
              </a:rPr>
              <a:t>: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98C379"/>
                </a:solidFill>
                <a:latin typeface="Courier New"/>
              </a:rPr>
              <a:t>    """Evaluate a math expression."""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b="1" dirty="0">
                <a:solidFill>
                  <a:srgbClr val="C678DD"/>
                </a:solidFill>
                <a:latin typeface="Courier New"/>
              </a:rPr>
              <a:t>return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str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eval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(expression))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agent = </a:t>
            </a:r>
            <a:r>
              <a:rPr lang="en-US" sz="1300" dirty="0">
                <a:solidFill>
                  <a:srgbClr val="E5C07B"/>
                </a:solidFill>
                <a:latin typeface="Courier New"/>
              </a:rPr>
              <a:t>KISSAgent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name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"Math Buddy"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)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result = agent.</a:t>
            </a:r>
            <a:r>
              <a:rPr lang="en-US" sz="1300" dirty="0">
                <a:solidFill>
                  <a:srgbClr val="61AFEF"/>
                </a:solidFill>
                <a:latin typeface="Courier New"/>
              </a:rPr>
              <a:t>run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model_name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"gemini-2.5-flash"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,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prompt_template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"Calculate: {question}"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,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arguments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={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"question"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: </a:t>
            </a:r>
            <a:r>
              <a:rPr lang="en-US" sz="1300" dirty="0">
                <a:solidFill>
                  <a:srgbClr val="98C379"/>
                </a:solidFill>
                <a:latin typeface="Courier New"/>
              </a:rPr>
              <a:t>"What is 15% of 847?"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},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lang="en-US" sz="1300" dirty="0">
                <a:solidFill>
                  <a:srgbClr val="E06C75"/>
                </a:solidFill>
                <a:latin typeface="Courier New"/>
              </a:rPr>
              <a:t>tools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=[calculate]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E2E8F0"/>
                </a:solidFill>
                <a:latin typeface="Courier New"/>
              </a:rPr>
              <a:t>)</a:t>
            </a: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rPr lang="en-US" sz="1300" dirty="0">
                <a:solidFill>
                  <a:srgbClr val="61AFEF"/>
                </a:solidFill>
                <a:latin typeface="Courier New"/>
              </a:rPr>
              <a:t>print</a:t>
            </a:r>
            <a:r>
              <a:rPr lang="en-US" sz="1300" dirty="0">
                <a:solidFill>
                  <a:srgbClr val="E2E8F0"/>
                </a:solidFill>
                <a:latin typeface="Courier New"/>
              </a:rPr>
              <a:t>(result)  </a:t>
            </a:r>
            <a:r>
              <a:rPr lang="en-US" sz="1300" i="1" dirty="0">
                <a:solidFill>
                  <a:srgbClr val="7F848E"/>
                </a:solidFill>
                <a:latin typeface="Courier New"/>
              </a:rPr>
              <a:t># 127.05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B7280"/>
                </a:solidFill>
              </a:defRPr>
            </a:pPr>
            <a:r>
              <a:t>The framework handles tool-schema generation, the ReAct loop, and budget tracking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2: Relentless Agent — Never Give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Automatic continuation across sub-sessions via structured summarization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600" b="0">
                <a:solidFill>
                  <a:srgbClr val="92400E"/>
                </a:solidFill>
              </a:defRPr>
            </a:pPr>
            <a:r>
              <a:t>Key Insight: When a sub-session exhausts its context window, produce a</a:t>
            </a:r>
            <a:br/>
            <a:r>
              <a:t>structured chronological summary and resume in a fresh sub-session.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Continuation Protocol: finish(success, is_continue, summary) → fresh sub-session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Chronological summaries with code snippets dramatically improve coherence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Forced Continuation: crashed sessions are summarized by a separate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7091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Near-budget-end instruction forces self-continuation before hitting step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120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Naïve "summarize context" produces poor continuations — specificity matters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Relentless Agent — Continuation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CONTINUATION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93776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Task Progress (Continuation {</a:t>
            </a:r>
            <a:r>
              <a:rPr dirty="0" err="1"/>
              <a:t>continuation_number</a:t>
            </a:r>
            <a:r>
              <a:rPr dirty="0"/>
              <a:t>})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{</a:t>
            </a:r>
            <a:r>
              <a:rPr dirty="0" err="1"/>
              <a:t>progress_text</a:t>
            </a:r>
            <a:r>
              <a:rPr dirty="0"/>
              <a:t>}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Continue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Complete the rest of the task.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**DON'T** redo completed work.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If you have been retrying the same approach without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progress, step back and rethink the strategy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SUMMARIZER PROMPT (on crash)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Summarizer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The trajectory of the agent is stored in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the file: {</a:t>
            </a:r>
            <a:r>
              <a:rPr dirty="0" err="1"/>
              <a:t>trajectory_file</a:t>
            </a:r>
            <a:r>
              <a:rPr dirty="0"/>
              <a:t>}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# Instructions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Read the trajectory file and analyze it.  The trajectory file could be large.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- Return a precise chronologically-ordered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list of things the agent did with the reason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for doing that along with relevant code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  snippets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rPr dirty="0"/>
              <a:t>Related to </a:t>
            </a:r>
            <a:r>
              <a:rPr dirty="0" err="1"/>
              <a:t>Reflexion</a:t>
            </a:r>
            <a:r>
              <a:rPr dirty="0"/>
              <a:t> (Shinn et al., 2023) — but summaries continue the task rather than critique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3: Sorcar Agent — The Toolbox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065941"/>
                </a:solidFill>
              </a:defRPr>
            </a:pPr>
            <a:r>
              <a:t>🖥️  Coding Tools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Shell executor (streaming, timeout, cancellable)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File reader, precise string editor, file writer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Tool names match Claude Code for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1E40AF"/>
                </a:solidFill>
              </a:defRPr>
            </a:pPr>
            <a:r>
              <a:t>🌐  Browser Automation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Programmatic Chromium control via Playwright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Navigate, read accessibility trees, click,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type, scroll,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92400E"/>
                </a:solidFill>
              </a:defRPr>
            </a:pPr>
            <a:r>
              <a:t>⚡  Parallel Sub-Agents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Independent Sorcar instances in thread pool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Each gets own LLM context and tools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Results collected in input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6B21A8"/>
                </a:solidFill>
              </a:defRPr>
            </a:pPr>
            <a:r>
              <a:t>💬  User Interaction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ask-user-question tool for clarification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Renders as text input in VS Code sidebar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Reads from stdin in CLI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9260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700" b="1">
                <a:solidFill>
                  <a:srgbClr val="9F1239"/>
                </a:solidFill>
              </a:defRPr>
            </a:pPr>
            <a:r>
              <a:t>🐳  Docker Isolation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Docker-aware tool variants when image specified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All commands execute inside container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Sandboxing for untrusted tasks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rPr dirty="0"/>
              <a:t>Layer 4: Chat Sorcar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Persistent multi-turn conversation with history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Chat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Each task assigned to a chat session with a stable chat ID.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Prior tasks &amp; results persisted to sorcar.db, prepended as numbered context entries.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Bounded Chat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Caps in-context history at MAX_TASKS = 10 to keep the prompt bounded.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Preserves the first two entries (session intent) and the most recent ones; drops the middle.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Session Management, Frequent Tasks &amp;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57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New chat / resume by description / resume by chat ID.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Frequency table surfaces top tasks in IDE sidebar — click-to-replay recurring requests.</a:t>
            </a:r>
          </a:p>
          <a:p>
            <a:r>
              <a:t>Records model, working dir, version, tokens, cost, parallel/worktree flags for audit.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5: Worktree Sorcar Agent —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Git worktree isolation — every task runs on its own branch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Branch-Per-Task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New git branch + worktree per task. User's main tree stays untouched.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889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Dirty-State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Uncommitted changes copied to worktree as baseline commit.</a:t>
            </a:r>
          </a:p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Cherry-pick replays only agent changes during merge.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2044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Concurrency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Per-repo file lock serializes checkout/stash/merge/pop.</a:t>
            </a:r>
          </a:p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Thread-local storage isolates per-task state.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5196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Crash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All state stored in git (branch names, config). Reconstructs from git on restart.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834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Graceful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37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Falls back to direct execution if not in git repo, no commits, or detached HEAD.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System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Engineering Discipline as LLM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System Prompt — Not "Be Helpful" but a Precise Engineering Spec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16733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Identity &amp; Visibility</a:t>
            </a:r>
          </a:p>
        </p:txBody>
      </p:sp>
      <p:sp>
        <p:nvSpPr>
          <p:cNvPr id="8" name="Chevron 7"/>
          <p:cNvSpPr/>
          <p:nvPr/>
        </p:nvSpPr>
        <p:spPr>
          <a:xfrm>
            <a:off x="914400" y="217627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Tool Rules</a:t>
            </a:r>
          </a:p>
        </p:txBody>
      </p:sp>
      <p:sp>
        <p:nvSpPr>
          <p:cNvPr id="10" name="Chevron 9"/>
          <p:cNvSpPr/>
          <p:nvPr/>
        </p:nvSpPr>
        <p:spPr>
          <a:xfrm>
            <a:off x="914400" y="267919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Pre-flight Checks + Mandatory First Actions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914400" y="318211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Code Style Guidelines</a:t>
            </a:r>
          </a:p>
        </p:txBody>
      </p:sp>
      <p:sp>
        <p:nvSpPr>
          <p:cNvPr id="14" name="Chevron 13"/>
          <p:cNvSpPr/>
          <p:nvPr/>
        </p:nvSpPr>
        <p:spPr>
          <a:xfrm>
            <a:off x="914400" y="368503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Deep Work Rules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6733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Planning for Complex Tasks</a:t>
            </a:r>
          </a:p>
        </p:txBody>
      </p:sp>
      <p:sp>
        <p:nvSpPr>
          <p:cNvPr id="18" name="Chevron 17"/>
          <p:cNvSpPr/>
          <p:nvPr/>
        </p:nvSpPr>
        <p:spPr>
          <a:xfrm>
            <a:off x="6217920" y="217627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Testing Instructions</a:t>
            </a:r>
          </a:p>
        </p:txBody>
      </p:sp>
      <p:sp>
        <p:nvSpPr>
          <p:cNvPr id="20" name="Chevron 19"/>
          <p:cNvSpPr/>
          <p:nvPr/>
        </p:nvSpPr>
        <p:spPr>
          <a:xfrm>
            <a:off x="6217920" y="267919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Real-Time Data</a:t>
            </a:r>
          </a:p>
        </p:txBody>
      </p:sp>
      <p:sp>
        <p:nvSpPr>
          <p:cNvPr id="22" name="Chevron 21"/>
          <p:cNvSpPr/>
          <p:nvPr/>
        </p:nvSpPr>
        <p:spPr>
          <a:xfrm>
            <a:off x="6217920" y="318211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Pre-Finish Verification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6217920" y="368503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Web Research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728655" cy="5943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500" b="0">
                <a:solidFill>
                  <a:srgbClr val="92400E"/>
                </a:solidFill>
              </a:defRPr>
            </a:pPr>
            <a:r>
              <a:t>Each section addresses specific, observed failure modes in LLM agents.</a:t>
            </a:r>
            <a:br/>
            <a:r>
              <a:t>XML-tagged sections (recommended by Anthropic, OpenAI, Google) carve unambiguous boundaries between concerns.</a:t>
            </a:r>
          </a:p>
        </p:txBody>
      </p:sp>
      <p:sp>
        <p:nvSpPr>
          <p:cNvPr id="27" name="Chevron 23"/>
          <p:cNvSpPr/>
          <p:nvPr/>
        </p:nvSpPr>
        <p:spPr>
          <a:xfrm>
            <a:off x="6217920" y="41879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4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File Browsing Protocol</a:t>
            </a:r>
          </a:p>
        </p:txBody>
      </p:sp>
      <p:sp>
        <p:nvSpPr>
          <p:cNvPr id="29" name="Chevron 23"/>
          <p:cNvSpPr/>
          <p:nvPr/>
        </p:nvSpPr>
        <p:spPr>
          <a:xfrm>
            <a:off x="6217920" y="4617720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4"/>
          <p:cNvSpPr txBox="1"/>
          <p:nvPr/>
        </p:nvSpPr>
        <p:spPr>
          <a:xfrm>
            <a:off x="6766560" y="45902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Desktop Application Control</a:t>
            </a:r>
          </a:p>
        </p:txBody>
      </p:sp>
      <p:sp>
        <p:nvSpPr>
          <p:cNvPr id="31" name="Chevron 23"/>
          <p:cNvSpPr/>
          <p:nvPr/>
        </p:nvSpPr>
        <p:spPr>
          <a:xfrm>
            <a:off x="6217920" y="5047488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4"/>
          <p:cNvSpPr txBox="1"/>
          <p:nvPr/>
        </p:nvSpPr>
        <p:spPr>
          <a:xfrm>
            <a:off x="6766560" y="502005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Sorcar-Specific Overrides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Identity &amp;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SYSTEM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10972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&lt;identity&gt;  KISS Sorcar — AI General Assistant &amp; IDE.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Your sole goal: complete the task accurately and thoroughly.&lt;/identity&gt;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&lt;visibility_constraint&gt;  User sees only finish(summary=...).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Bad: "Greeted user, awaiting task."   Good: "Hi! I’m KISS Sorcar, ready to help."&lt;/visibility_constraint&gt;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38328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Tell the model what it is before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SOLE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74904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Anchors on the task; no meta-commentary, no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BE RIGOROUS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11480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Check facts; produce high-quality work — calm, explanatory 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Only the finish() summary is shown to the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NO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84632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Include the full answer in summary — not a meta-description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XML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1208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&lt;identity&gt;, &lt;tool_rules&gt;, &lt;code_style&gt;, … — unambiguous section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POSITIVE 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57784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Replaces shouted imperatives — more reliable with frontier models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Tool Rules — Mechanical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Use Write() for new files; Edit() for small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overwriting existing files with incomplete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Bash timeout: 120s default, retry higher, background for &gt;10min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8483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Eliminates spurious failures from short timeouts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518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Parallel independent tool calls in one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1518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Reduces round-trips when calls are independent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55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If running out of context, continue via finish()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14553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"rush to finish" — clean handoff beats frantic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READ large files in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758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context window exhaustion from a single file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PWD/tmp/ for ALL temp files (CRITICAL); clean up before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20624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Never directly in PWD/; delete only files you created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Use go_to_url() for browser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3659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Disambiguates web access; ambiguous tasks trigger web research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Pre-flight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Read before modify — use Read() tool, never Bash 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Most common bug: editing based on stale state.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Mandatory first read: SORCAR.md — follow its instructions with highest priority.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If task depends on architecture, read source files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Extends per-file reading to architectural context.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Prevents jumping to code generation without understanding.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If referenced files/commands don't exist, ask instead of guessing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LLMs confabulate — they'll edit phantom files.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Converts silent failure into explicit clarification.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Bug fixes: write an integration test first, then fix, then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Three-step sequence; integration test (no mocks) reproduces the bug.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Forces understanding root cause before patching.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Code Style Guidelines — A Minimalist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Simple, clean, readable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LLMs over-engineer — unnecessary abstractions, helpers, indirection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unnecessary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Intermediate variables that serve no purpose increase cognitive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Avoid tight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Cross-module globals and shared state create fragile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attribute redirections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63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self.x = other.x creates two paths to the same value — harder to reason about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duplicate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66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Check for existing implementations before creating new 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Document public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69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Public API is the contract — documentation is not 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Root cause, not symptoms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Trace the causal chain to the root — no ad hoc patches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Prefer named functions over closures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Closures obscure control flow — use explicit parameter passing instead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Deep Work Rules — No Vague 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"align" / "match" / "make consistent" →</a:t>
            </a:r>
          </a:p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Read the target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Model often infers what Y contains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without ever reading 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Use concrete values, not indirections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Instead of "update X to match Y":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read Y, extract values, write into 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List all planned changes before executing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Multi-file changes need full-scope awareness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to prevent inconsistencies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Every change needs a verification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09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Test, grep, CLI command — no change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without programmatic validation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Planning for Complex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Triggered for: 3+ files, cross-module changes, or architectural work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List the files that need to change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Enumerate full blast radius before touching any file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State the exact intended change in each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Convert "update the database module" → concrete specification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Identify dependencies and execution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New utility must be written before callers can import it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State how each change will be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Pair each change with a test, grep, or CLI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28655" cy="411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400" b="0">
                <a:solidFill>
                  <a:srgbClr val="92400E"/>
                </a:solidFill>
              </a:defRPr>
            </a:pPr>
            <a:r>
              <a:t>Escape clause: For simple single-file tasks, skip formal planning and execute directly.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Testing Instructions — The Most Opinionated Section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9344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Run lint + typecheckers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Catches unused imports, type mismatches, style violations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76272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Aim for 100% branch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21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On new and modified code — every branch, error path, edge case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4320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Integration &amp; E2E tests only — no mocks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8833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Mock tests verify implementation, not behavior.</a:t>
            </a:r>
          </a:p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A mocked suite can pass while the system is fundamentally broken.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10128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Integration tests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552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Exercise actual behavior with real I/O,</a:t>
            </a:r>
          </a:p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real DB connections, real inter-module interactions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87705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Tests must be independent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22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No shared state, no execution order dependencies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44398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Only run impacted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389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Full suite after every edit wastes time and compute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010912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9560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Race condition: sleep &lt; 0.1s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9560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Widen race window to make bugs deterministic in tests</a:t>
            </a:r>
          </a:p>
        </p:txBody>
      </p:sp>
      <p:sp>
        <p:nvSpPr>
          <p:cNvPr id="27" name="gen_oval_27"/>
          <p:cNvSpPr/>
          <p:nvPr/>
        </p:nvSpPr>
        <p:spPr>
          <a:xfrm>
            <a:off x="731520" y="548640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gen_title_28"/>
          <p:cNvSpPr txBox="1"/>
          <p:nvPr/>
        </p:nvSpPr>
        <p:spPr>
          <a:xfrm>
            <a:off x="1097280" y="543153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No structural tests on source code</a:t>
            </a:r>
          </a:p>
        </p:txBody>
      </p:sp>
      <p:sp>
        <p:nvSpPr>
          <p:cNvPr id="29" name="gen_desc_29"/>
          <p:cNvSpPr txBox="1"/>
          <p:nvPr/>
        </p:nvSpPr>
        <p:spPr>
          <a:xfrm>
            <a:off x="5120640" y="543153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Don’t assert a function or import exists — such tests break on refactors and give false coverage</a:t>
            </a:r>
          </a:p>
        </p:txBody>
      </p:sp>
      <p:sp>
        <p:nvSpPr>
          <p:cNvPr id="30" name="gen_oval_30"/>
          <p:cNvSpPr/>
          <p:nvPr/>
        </p:nvSpPr>
        <p:spPr>
          <a:xfrm>
            <a:off x="731520" y="596188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gen_title_31"/>
          <p:cNvSpPr txBox="1"/>
          <p:nvPr/>
        </p:nvSpPr>
        <p:spPr>
          <a:xfrm>
            <a:off x="1097280" y="590702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Parallelize tests when &gt; 100  (CRITICAL)</a:t>
            </a:r>
          </a:p>
        </p:txBody>
      </p:sp>
      <p:sp>
        <p:nvSpPr>
          <p:cNvPr id="32" name="gen_desc_32"/>
          <p:cNvSpPr txBox="1"/>
          <p:nvPr/>
        </p:nvSpPr>
        <p:spPr>
          <a:xfrm>
            <a:off x="5120640" y="590702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Count first; split into (cores − 2) shards via run_parallel — amortizes orchestration overhead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Prompt Evolution — Removing the Self-Improvement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Earlier SYSTEM.md:</a:t>
            </a:r>
          </a:p>
          <a:p>
            <a:pPr algn="ctr">
              <a:defRPr sz="1500" b="1">
                <a:solidFill>
                  <a:srgbClr val="1B2A4A"/>
                </a:solidFill>
              </a:defRPr>
            </a:pPr>
            <a:r>
              <a:t>agent updated USER_PREFS.md each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5941"/>
                </a:solidFill>
              </a:defRPr>
            </a:pPr>
            <a:r>
              <a:t>91-task production audit:</a:t>
            </a:r>
          </a:p>
          <a:p>
            <a:pPr algn="ctr">
              <a:defRPr sz="1500" b="1">
                <a:solidFill>
                  <a:srgbClr val="065941"/>
                </a:solidFill>
              </a:defRPr>
            </a:pPr>
            <a:r>
              <a:t>0% compliance — never updated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92400E"/>
                </a:solidFill>
              </a:defRPr>
            </a:pPr>
            <a:r>
              <a:t>CRITICAL markers:</a:t>
            </a:r>
          </a:p>
          <a:p>
            <a:pPr algn="ctr">
              <a:defRPr sz="1500" b="1">
                <a:solidFill>
                  <a:srgbClr val="92400E"/>
                </a:solidFill>
              </a:defRPr>
            </a:pPr>
            <a:r>
              <a:t>helped tests, not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114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6B21A8"/>
                </a:solidFill>
              </a:defRPr>
            </a:pPr>
            <a:r>
              <a:t>Removed entirely:</a:t>
            </a:r>
          </a:p>
          <a:p>
            <a:pPr algn="ctr">
              <a:defRPr sz="1500" b="1">
                <a:solidFill>
                  <a:srgbClr val="6B21A8"/>
                </a:solidFill>
              </a:defRPr>
            </a:pPr>
            <a:r>
              <a:t>USER_PREFS.md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A second audit of 91 production tasks found the in-prompt loop had 0%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961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Relocating it to a post-task sub-agent accumulated noise faster than useful invariants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88736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Project knowledge is better captured in the per-repository SORCAR.md the user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181344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Removing it shrinks the prompt and concentrates knowledge in one human-curated place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Pre-Finish Verification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Before calling finish(success=True), the agent MUST: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Re-read every modified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574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Self code review — catch typos, forgotten brackets, context-wrong edits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Run `uv run check --full` (mandatory for code)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7432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Required for any .py/.ts/.js/.css edit — verifiable mandate, not a soft guideline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Check each user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290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Systematic comparison between task description and delivered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Clean up tmp/ files you created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1148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Delete only files you created in PWD/tmp/; preserve everything else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Don’t finish with failures; rethink after 3 retries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Break repetitive loops — abandon failing approach for first principles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Web Research &amp; File Browsing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Two-Phase Approach:  COLLECT first  →  SYNTHESIZE second  (skipped for pure code edits with sufficient context)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Visit AT LEAST 10 websites (HARD requirement)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Use go_to_url() only — NOT curl/wget (loophole 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Collect into PWD/tmp/information-{id}.md (your proof of 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Real-time data: look it up — never answer from training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Don’t fabricate source counts; skip for code edits with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521208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 Browsing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Read files into PWD/tmp/file-information-{id}.md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Collect WITHOUT much thinking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Extract facts: signatures, hierarchies, call 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Summary is smaller than raw files — saves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Prevents premature commitment to a plan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VS Code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Unique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VS Code Extension — Unique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065941"/>
                </a:solidFill>
              </a:defRPr>
            </a:pPr>
            <a:r>
              <a:t>Git Worktree Isolation &amp; One-Click Merge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Every task runs on its own git branch in a separate worktree.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After the task: one-click “Commit and Merge” or “Discard.”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User's working tree stays untouched; review happens on the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1E40AF"/>
                </a:solidFill>
              </a:defRPr>
            </a:pPr>
            <a:r>
              <a:t>Real-Time Budget Accountability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Input/output tokens, cache hits, dollar cost, elapsed time — updated every step.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Per-task and global budget ceilings with hard errors on overspend.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No other tool provides this level of cost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ctr">
              <a:spcAft>
                <a:spcPts val="400"/>
              </a:spcAft>
              <a:defRPr sz="2000" b="1">
                <a:solidFill>
                  <a:srgbClr val="92400E"/>
                </a:solidFill>
              </a:defRPr>
            </a:pPr>
            <a:r>
              <a:t>Integrated Browser Automation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Live browser preview in sidebar via Playwright + Chromium.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Navigate, click, type, scroll, screenshot — all programmatic.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Verify deployed apps, scrape docs, interact with CI dashboards.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Terminal Bench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Evaluation Setup — Terminal Bench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89 diverse terminal-based tasks (compilers, servers, crypto, ML, emulation, 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057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Each task runs in an isolated Docker container with automatic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5 independent trials per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Claude Opus 4.6 as the underlying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No benchmark-specific prompt modifications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9 tasks hard-skipped (verified infeasible for Opus 4.6) — counted as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Harbor framework for orchestration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663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5074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Evaluated on a 2025 MacBook Air 15"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Aggregate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554480"/>
          <a:ext cx="7619695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4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B2A4A"/>
                          </a:solidFill>
                        </a:defRPr>
                      </a:pPr>
                      <a:r>
                        <a:t>Total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Overall pass rate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62.2%  (277 / 445)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pass@any (≥ 1/5)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78.7%  (70 / 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pass@all (5/5)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43.8%  (39 / 89)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Always-fail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Always-pass tasks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Mixed-result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Median cost / trial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$0.45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Mean cost /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$0.90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Median duration / trial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202s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Mean duration /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446s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Comparison with Other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4242816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201168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58.0%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Cursor Composer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4513478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5158" y="3200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61.7%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KISS Sorcar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389120"/>
            <a:ext cx="4550054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1734" y="438912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62.2%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All using Claude Opus 4.6 as the underlying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235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Cursor Composer 2 uses a custom fine-tuned model with large-scale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KISS Sorcar: no fine-tuning, no benchmark-specific optimizations, ~2,700 lines of Python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Task-Level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Consistently Solved  (39/89)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Cryptanalysis, chess, git operations, server config,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data processing, Coq proofs, ML inference, QEMU startup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→ Breadth across systems, security, data, formal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Consistently Failed  (19/89)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Graphical/multimedia tasks (video, Windows 3.11 GUI)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Resource-intensive builds (CompCert, Doom for MIPS)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Niche domains (DNA insertion, OCaml GC, polyglot)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Mixed Results  (31/89)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write-compressor (3/5), crack-7z-hash (4/5)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Non-determinism in model reasoning or timing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Some tasks at boundary of model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59436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300" b="0">
                <a:solidFill>
                  <a:srgbClr val="9F1239"/>
                </a:solidFill>
              </a:defRPr>
            </a:pPr>
            <a:r>
              <a:t>Note: Recent analysis found widespread cheating on Terminal Bench 2.0 — top 3 submissions commit harness-level cheating.</a:t>
            </a:r>
            <a:br/>
            <a:r>
              <a:t>Our results are cheat-free and honest.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Painless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 Real Development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Painless SE — Worktree Merge Redesign in 4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Developer never opens a source file, writes code, or runs tests 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1: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rPr dirty="0"/>
              <a:t>"Can you tell me </a:t>
            </a:r>
            <a:r>
              <a:rPr lang="en-US" dirty="0"/>
              <a:t>the detailed step-by-step workflow</a:t>
            </a:r>
            <a:r>
              <a:rPr dirty="0"/>
              <a:t> with git when a task finishes?"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77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reads source, returns structured 4-phase lifecycle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2: 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rPr dirty="0"/>
              <a:t>"Change it to simply ask Commit and Merge or Discard</a:t>
            </a:r>
            <a:r>
              <a:rPr lang="en-US" dirty="0"/>
              <a:t> in Step X</a:t>
            </a:r>
            <a:r>
              <a:rPr dirty="0"/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83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modifies 6 files across Python &amp; TypeScript, removes manual_merge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3: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rPr dirty="0"/>
              <a:t>"Why do modified files show up in Source Control?"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89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traces squash_merge_branch(), discovers deliberate git reset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4: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t>"The review already happens in the worktree. Fix it."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94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replaces git reset with conditional git commit. All 104 tests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defRPr sz="1400" b="0">
                <a:solidFill>
                  <a:srgbClr val="065941"/>
                </a:solidFill>
              </a:defRPr>
            </a:pPr>
            <a:r>
              <a:t>Entire cycle — understand, redesign, investigate, fix — via natural language.</a:t>
            </a:r>
            <a:br/>
            <a:r>
              <a:t>Worktree isolation + Chat persistence + Relentless continuation make this possible.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Quality Over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Quality Over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Weaker/cheaper models → discard &amp; retry → higher total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Using a capable model with proper validation is actually cheaper in aggregate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Frontier model + time to validate = dramatically less slop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Lint, typecheck, test before declaring success → consistently well-organized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Token costs and inference latencies will continue to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Quality-first posture becomes increasingly practical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Built using itself — 4 months of continuous self-hosted stress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Agent-introduced bugs immediately impair its own ability to 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Related Work —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800" b="1">
                <a:solidFill>
                  <a:srgbClr val="1F4E79"/>
                </a:solidFill>
              </a:rPr>
              <a:t>Code-Specialized Models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Code Llama, StarCoder, DeepSeek-Coder, Claude Opus 4.6/4.7, GPT-5.5, Gemini 3.1, Cursor Composer 2, Kimi K2.5, GLM-5.1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9424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800" b="1">
                <a:solidFill>
                  <a:srgbClr val="1F4E79"/>
                </a:solidFill>
              </a:rPr>
              <a:t>Code Generation Agents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SWE-Agent, OpenHands, Agentless, Devin, Aider, Claude Code, Codex   — KISS adds Relentless continuation + worktree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1528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800" b="1">
                <a:solidFill>
                  <a:srgbClr val="1F4E79"/>
                </a:solidFill>
              </a:rPr>
              <a:t>Multi-Agent &amp; Reasoning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ChatDev, MetaGPT, AutoGen; ReAct, Toolformer, CoT, Tree of Thoughts, Reflexion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13632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800" b="1">
                <a:solidFill>
                  <a:srgbClr val="1F4E79"/>
                </a:solidFill>
              </a:rPr>
              <a:t>Agent Frameworks &amp; Surveys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LangChain, DSPy, CrewAI, smolagents, OpenAI Agents SDK, Google ADK; Surveys by Xi 2023, Wang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45736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800" b="1">
                <a:solidFill>
                  <a:srgbClr val="1F4E79"/>
                </a:solidFill>
              </a:rPr>
              <a:t>Recent Agentic SE &amp; Benchmarks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SE 3.0 (Hassan), Wang 2025 survey, Trae test-time scaling, SWE-bench Pro, LiveCodeBench; cheating audits (Stein, Wang); GSD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5912" cy="77724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800" b="1">
                <a:solidFill>
                  <a:srgbClr val="1F4E79"/>
                </a:solidFill>
              </a:rPr>
              <a:t>IDE Integration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GitHub Copilot, Cursor, Windsurf — completion / single-turn; KISS: autonomous multi-step with full tool access + git isolation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8191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Simplicity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81912"/>
            <a:ext cx="61556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~2,700 lines of Python beats systems with fine-tuning and RL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1226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Layered single-concern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12264"/>
            <a:ext cx="6449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Each layer solves exactly one problem — compose for full power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4261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1518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System prompt = engineering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42616"/>
            <a:ext cx="72546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Read before write, test before fix, plan before execute, verify before finish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17296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4553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Quality &gt;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72968"/>
            <a:ext cx="55696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Let the model validate — dramatically reduces AI slop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758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Self-hosted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03320"/>
            <a:ext cx="55197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Building with itself provides continuous stress 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3367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62.2% on Terminal Bench 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33672"/>
            <a:ext cx="64894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Outperforms Claude Code (58%) and Cursor Composer 2 (61.7%)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76402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365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Free &amp; open-source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64024"/>
            <a:ext cx="36792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rPr lang="en-US" dirty="0"/>
              <a:t>		</a:t>
            </a:r>
            <a:r>
              <a:rPr dirty="0"/>
              <a:t>All you need is a model API key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An Important Advice — Automated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Use KISS Sorcar to identify issues in blogs, papers, and code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534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FRAUD DETECTION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103120"/>
            <a:ext cx="8534095" cy="3840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Can you read &lt;&lt;</a:t>
            </a:r>
            <a:r>
              <a:rPr dirty="0" err="1"/>
              <a:t>url</a:t>
            </a:r>
            <a:r>
              <a:rPr dirty="0"/>
              <a:t>&gt;&gt;, and thoroughly and precisely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check for **wrong assumptions**, **cheating**,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**irreproducibility issues**, **fraud**,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**potential for cheating in evaluation**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and **security vulnerabilities**?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endParaRPr dirty="0"/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Use internet search extensively and do not believe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what people say -- verify them yourself.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Do not hesitate to download code and run them to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validate results.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For security vulnerabilities, create a POC and test it.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Generate an html report in PWD/</a:t>
            </a:r>
            <a:r>
              <a:rPr dirty="0" err="1"/>
              <a:t>sorcar_reported_frauds</a:t>
            </a:r>
            <a:r>
              <a:rPr dirty="0"/>
              <a:t>/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and open in the user's default browser.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rPr dirty="0"/>
              <a:t>Thoroughly fact check everything you claim in the report.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BFDBFE"/>
                </a:solidFill>
              </a:defRPr>
            </a:pPr>
            <a:r>
              <a:t>Koushik Sen  •  UC Berkeley  •  ksen@berkeley.edu</a:t>
            </a:r>
          </a:p>
          <a:p>
            <a:pPr algn="ctr">
              <a:spcAft>
                <a:spcPts val="600"/>
              </a:spcAft>
              <a:defRPr sz="1800">
                <a:solidFill>
                  <a:srgbClr val="BFDBFE"/>
                </a:solidFill>
              </a:defRPr>
            </a:pPr>
            <a:r>
              <a:t>https://github.com/ksenxx/kiss_ai</a:t>
            </a:r>
          </a:p>
          <a:p>
            <a:pPr algn="ctr">
              <a:spcAft>
                <a:spcPts val="600"/>
              </a:spcAft>
              <a:defRPr sz="1800">
                <a:solidFill>
                  <a:srgbClr val="93C5FD"/>
                </a:solidFill>
              </a:defRPr>
            </a:pPr>
            <a:endParaRPr/>
          </a:p>
          <a:p>
            <a:pPr algn="ctr">
              <a:spcAft>
                <a:spcPts val="600"/>
              </a:spcAft>
              <a:defRPr sz="1800">
                <a:solidFill>
                  <a:srgbClr val="93C5FD"/>
                </a:solidFill>
              </a:defRPr>
            </a:pPr>
            <a:r>
              <a:t>Free &amp; Open Source  •  VS Code Extension  •  Try it today!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Supported by: Accenture, Amazon, AMD, Anyscale, Broadcom, Google, IBM, Intel,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Intesa Sanpaolo, Lambda, Lightspeed, Mibura, NVIDIA, Samsung SDS, SAP, DoE, DARPA</a:t>
            </a:r>
          </a:p>
          <a:p>
            <a:pPr>
              <a:defRPr sz="800"/>
            </a:pPr>
            <a:endParaRPr/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Thanks to: Marius Momeu, Yogya Mehrotra, Debabrata Dash, Yiwei Hou, Kaiyao Ke,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Muxi Lyu, Anoop Mishra, Manish Shetty, Ion Stoica, Shangyin Tan, Hao Wang, Matei Zaharia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4119</Words>
  <Application>Microsoft Macintosh PowerPoint</Application>
  <PresentationFormat>Widescreen</PresentationFormat>
  <Paragraphs>580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Courier New</vt:lpstr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Koushik Sen</cp:lastModifiedBy>
  <cp:revision>8</cp:revision>
  <dcterms:created xsi:type="dcterms:W3CDTF">2013-01-27T09:14:16Z</dcterms:created>
  <dcterms:modified xsi:type="dcterms:W3CDTF">2026-05-06T01:33:32Z</dcterms:modified>
  <cp:category/>
</cp:coreProperties>
</file>