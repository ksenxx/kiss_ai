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slides/slide25.xml" ContentType="application/vnd.openxmlformats-officedocument.presentationml.slide+xml"/>
  <Override PartName="/ppt/slides/slide26.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8" r:id="rId29"/>
    <p:sldId id="279" r:id="rId30"/>
    <p:sldId id="270" r:id="rId21"/>
    <p:sldId id="280" r:id="rId31"/>
    <p:sldId id="281" r:id="rId32"/>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15.xml"/><Relationship Id="rId30" Type="http://schemas.openxmlformats.org/officeDocument/2006/relationships/slide" Target="slides/slide16.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3262"/>
        </a:solidFill>
        <a:effectLst/>
      </p:bgPr>
    </p:bg>
    <p:spTree>
      <p:nvGrpSpPr>
        <p:cNvPr id="1" name=""/>
        <p:cNvGrpSpPr/>
        <p:nvPr/>
      </p:nvGrpSpPr>
      <p:grpSpPr/>
      <p:sp>
        <p:nvSpPr>
          <p:cNvPr id="2" name="Rectangle 1"/>
          <p:cNvSpPr/>
          <p:nvPr/>
        </p:nvSpPr>
        <p:spPr>
          <a:xfrm>
            <a:off x="0" y="0"/>
            <a:ext cx="12191695" cy="256032"/>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1874519"/>
            <a:ext cx="2011680" cy="508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868680"/>
            <a:ext cx="10515600" cy="457200"/>
          </a:xfrm>
          <a:prstGeom prst="rect">
            <a:avLst/>
          </a:prstGeom>
          <a:noFill/>
        </p:spPr>
        <p:txBody>
          <a:bodyPr wrap="square" anchor="t" lIns="0" rIns="0" tIns="0" bIns="0">
            <a:spAutoFit/>
          </a:bodyPr>
          <a:lstStyle/>
          <a:p>
            <a:pPr algn="l">
              <a:lnSpc>
                <a:spcPct val="100000"/>
              </a:lnSpc>
              <a:spcBef>
                <a:spcPts val="0"/>
              </a:spcBef>
              <a:spcAft>
                <a:spcPts val="800"/>
              </a:spcAft>
            </a:pPr>
            <a:r>
              <a:rPr sz="1400" b="1" i="0">
                <a:solidFill>
                  <a:srgbClr val="FDB515"/>
                </a:solidFill>
                <a:latin typeface="Arial"/>
              </a:rPr>
              <a:t>C  A  S  E     S  T  U  D  Y</a:t>
            </a:r>
          </a:p>
        </p:txBody>
      </p:sp>
      <p:sp>
        <p:nvSpPr>
          <p:cNvPr id="5" name="TextBox 4"/>
          <p:cNvSpPr txBox="1"/>
          <p:nvPr/>
        </p:nvSpPr>
        <p:spPr>
          <a:xfrm>
            <a:off x="822960" y="2148840"/>
            <a:ext cx="10607040" cy="2377440"/>
          </a:xfrm>
          <a:prstGeom prst="rect">
            <a:avLst/>
          </a:prstGeom>
          <a:noFill/>
        </p:spPr>
        <p:txBody>
          <a:bodyPr wrap="square" anchor="t" lIns="0" rIns="0" tIns="0" bIns="0">
            <a:spAutoFit/>
          </a:bodyPr>
          <a:lstStyle/>
          <a:p>
            <a:pPr algn="l">
              <a:lnSpc>
                <a:spcPct val="102000"/>
              </a:lnSpc>
              <a:spcBef>
                <a:spcPts val="0"/>
              </a:spcBef>
              <a:spcAft>
                <a:spcPts val="800"/>
              </a:spcAft>
            </a:pPr>
            <a:r>
              <a:rPr sz="5200" b="1" i="0">
                <a:solidFill>
                  <a:srgbClr val="FFFFFF"/>
                </a:solidFill>
                <a:latin typeface="Arial"/>
              </a:rPr>
              <a:t>Software Engineering KISS Sorcar</a:t>
            </a:r>
          </a:p>
          <a:p>
            <a:pPr algn="l">
              <a:lnSpc>
                <a:spcPct val="102000"/>
              </a:lnSpc>
              <a:spcBef>
                <a:spcPts val="200"/>
              </a:spcBef>
              <a:spcAft>
                <a:spcPts val="800"/>
              </a:spcAft>
            </a:pPr>
            <a:r>
              <a:rPr sz="5200" b="1" i="0">
                <a:solidFill>
                  <a:srgbClr val="FDB515"/>
                </a:solidFill>
                <a:latin typeface="Arial"/>
              </a:rPr>
              <a:t>with KISS Sorcar</a:t>
            </a:r>
          </a:p>
        </p:txBody>
      </p:sp>
      <p:sp>
        <p:nvSpPr>
          <p:cNvPr id="6" name="TextBox 5"/>
          <p:cNvSpPr txBox="1"/>
          <p:nvPr/>
        </p:nvSpPr>
        <p:spPr>
          <a:xfrm>
            <a:off x="822960" y="4800600"/>
            <a:ext cx="10515600" cy="640080"/>
          </a:xfrm>
          <a:prstGeom prst="rect">
            <a:avLst/>
          </a:prstGeom>
          <a:noFill/>
        </p:spPr>
        <p:txBody>
          <a:bodyPr wrap="square" anchor="t" lIns="0" rIns="0" tIns="0" bIns="0">
            <a:spAutoFit/>
          </a:bodyPr>
          <a:lstStyle/>
          <a:p>
            <a:pPr algn="l">
              <a:lnSpc>
                <a:spcPct val="100000"/>
              </a:lnSpc>
              <a:spcBef>
                <a:spcPts val="0"/>
              </a:spcBef>
              <a:spcAft>
                <a:spcPts val="800"/>
              </a:spcAft>
            </a:pPr>
            <a:r>
              <a:rPr sz="2000" b="0" i="1">
                <a:solidFill>
                  <a:srgbClr val="E9E5D8"/>
                </a:solidFill>
                <a:latin typeface="Arial"/>
              </a:rPr>
              <a:t>Building a self-hosting AI assistant and IDE — and analyzing 3,099 tasks it ran on its own code</a:t>
            </a:r>
          </a:p>
        </p:txBody>
      </p:sp>
      <p:sp>
        <p:nvSpPr>
          <p:cNvPr id="7" name="TextBox 6"/>
          <p:cNvSpPr txBox="1"/>
          <p:nvPr/>
        </p:nvSpPr>
        <p:spPr>
          <a:xfrm>
            <a:off x="822960" y="5623560"/>
            <a:ext cx="10515600" cy="822960"/>
          </a:xfrm>
          <a:prstGeom prst="rect">
            <a:avLst/>
          </a:prstGeom>
          <a:noFill/>
        </p:spPr>
        <p:txBody>
          <a:bodyPr wrap="square" anchor="t" lIns="0" rIns="0" tIns="0" bIns="0">
            <a:spAutoFit/>
          </a:bodyPr>
          <a:lstStyle/>
          <a:p>
            <a:pPr algn="l">
              <a:lnSpc>
                <a:spcPct val="100000"/>
              </a:lnSpc>
              <a:spcBef>
                <a:spcPts val="0"/>
              </a:spcBef>
              <a:spcAft>
                <a:spcPts val="800"/>
              </a:spcAft>
            </a:pPr>
            <a:r>
              <a:rPr sz="2200" b="1" i="0">
                <a:solidFill>
                  <a:srgbClr val="FFFFFF"/>
                </a:solidFill>
                <a:latin typeface="Arial"/>
              </a:rPr>
              <a:t>Koushik Sen</a:t>
            </a:r>
          </a:p>
          <a:p>
            <a:pPr algn="l">
              <a:lnSpc>
                <a:spcPct val="100000"/>
              </a:lnSpc>
              <a:spcBef>
                <a:spcPts val="0"/>
              </a:spcBef>
              <a:spcAft>
                <a:spcPts val="800"/>
              </a:spcAft>
            </a:pPr>
            <a:r>
              <a:rPr sz="1600" b="0" i="0">
                <a:solidFill>
                  <a:srgbClr val="E9E5D8"/>
                </a:solidFill>
                <a:latin typeface="Arial"/>
              </a:rPr>
              <a:t>EECS Department, UC Berkeley  ·  ksen@berkeley.edu</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A1F2B"/>
        </a:solidFill>
        <a:effectLst/>
      </p:bgPr>
    </p:bg>
    <p:spTree>
      <p:nvGrpSpPr>
        <p:cNvPr id="1" name=""/>
        <p:cNvGrpSpPr/>
        <p:nvPr/>
      </p:nvGrpSpPr>
      <p:grpSpPr/>
      <p:sp>
        <p:nvSpPr>
          <p:cNvPr id="2" name="Rectangle 1"/>
          <p:cNvSpPr/>
          <p:nvPr/>
        </p:nvSpPr>
        <p:spPr>
          <a:xfrm>
            <a:off x="822960" y="1920240"/>
            <a:ext cx="146304" cy="201168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80160" y="1828800"/>
            <a:ext cx="9692640" cy="2560320"/>
          </a:xfrm>
          <a:prstGeom prst="rect">
            <a:avLst/>
          </a:prstGeom>
          <a:noFill/>
        </p:spPr>
        <p:txBody>
          <a:bodyPr wrap="square" anchor="ctr" lIns="0" rIns="0" tIns="0" bIns="0">
            <a:spAutoFit/>
          </a:bodyPr>
          <a:lstStyle/>
          <a:p>
            <a:pPr algn="l">
              <a:lnSpc>
                <a:spcPct val="108000"/>
              </a:lnSpc>
              <a:spcBef>
                <a:spcPts val="0"/>
              </a:spcBef>
              <a:spcAft>
                <a:spcPts val="800"/>
              </a:spcAft>
            </a:pPr>
            <a:r>
              <a:rPr sz="4000" b="0" i="1">
                <a:solidFill>
                  <a:srgbClr val="FFFFFF"/>
                </a:solidFill>
                <a:latin typeface="Arial"/>
              </a:rPr>
              <a:t>“Everything should be made as simple as possible, but not simpler.”</a:t>
            </a:r>
          </a:p>
          <a:p>
            <a:pPr algn="l">
              <a:lnSpc>
                <a:spcPct val="100000"/>
              </a:lnSpc>
              <a:spcBef>
                <a:spcPts val="1800"/>
              </a:spcBef>
              <a:spcAft>
                <a:spcPts val="800"/>
              </a:spcAft>
            </a:pPr>
            <a:r>
              <a:rPr sz="2200" b="1" i="0">
                <a:solidFill>
                  <a:srgbClr val="FDB515"/>
                </a:solidFill>
                <a:latin typeface="Arial"/>
              </a:rPr>
              <a:t>Albert Einstein</a:t>
            </a:r>
          </a:p>
        </p:txBody>
      </p:sp>
      <p:sp>
        <p:nvSpPr>
          <p:cNvPr id="4" name="TextBox 3"/>
          <p:cNvSpPr txBox="1"/>
          <p:nvPr/>
        </p:nvSpPr>
        <p:spPr>
          <a:xfrm>
            <a:off x="1280160" y="4937760"/>
            <a:ext cx="9692640" cy="914400"/>
          </a:xfrm>
          <a:prstGeom prst="rect">
            <a:avLst/>
          </a:prstGeom>
          <a:noFill/>
        </p:spPr>
        <p:txBody>
          <a:bodyPr wrap="square" anchor="t" lIns="0" rIns="0" tIns="0" bIns="0">
            <a:spAutoFit/>
          </a:bodyPr>
          <a:lstStyle/>
          <a:p>
            <a:pPr algn="l">
              <a:lnSpc>
                <a:spcPct val="100000"/>
              </a:lnSpc>
              <a:spcBef>
                <a:spcPts val="0"/>
              </a:spcBef>
              <a:spcAft>
                <a:spcPts val="800"/>
              </a:spcAft>
            </a:pPr>
            <a:r>
              <a:rPr sz="1900" b="0" i="1">
                <a:solidFill>
                  <a:srgbClr val="E9E5D8"/>
                </a:solidFill>
                <a:latin typeface="Arial"/>
              </a:rPr>
              <a:t>The KISS philosophy — each component does one thing, each concern lives in one place, no unnecessary abstraction.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C88A00"/>
                </a:solidFill>
                <a:latin typeface="Arial"/>
              </a:rPr>
              <a:t>T  H  E     B  I  G     I  D  E  A</a:t>
            </a:r>
          </a:p>
        </p:txBody>
      </p:sp>
      <p:sp>
        <p:nvSpPr>
          <p:cNvPr id="4" name="TextBox 3"/>
          <p:cNvSpPr txBox="1"/>
          <p:nvPr/>
        </p:nvSpPr>
        <p:spPr>
          <a:xfrm>
            <a:off x="822960" y="868680"/>
            <a:ext cx="10515600" cy="1280160"/>
          </a:xfrm>
          <a:prstGeom prst="rect">
            <a:avLst/>
          </a:prstGeom>
          <a:noFill/>
        </p:spPr>
        <p:txBody>
          <a:bodyPr wrap="square" anchor="t" lIns="0" rIns="0" tIns="0" bIns="0">
            <a:spAutoFit/>
          </a:bodyPr>
          <a:lstStyle/>
          <a:p>
            <a:pPr algn="l">
              <a:lnSpc>
                <a:spcPct val="100000"/>
              </a:lnSpc>
              <a:spcBef>
                <a:spcPts val="0"/>
              </a:spcBef>
              <a:spcAft>
                <a:spcPts val="800"/>
              </a:spcAft>
            </a:pPr>
            <a:r>
              <a:rPr sz="3400" b="1" i="0">
                <a:solidFill>
                  <a:srgbClr val="003262"/>
                </a:solidFill>
                <a:latin typeface="Arial"/>
              </a:rPr>
              <a:t>We built it with itself</a:t>
            </a:r>
          </a:p>
        </p:txBody>
      </p:sp>
      <p:sp>
        <p:nvSpPr>
          <p:cNvPr id="5" name="TextBox 4"/>
          <p:cNvSpPr txBox="1"/>
          <p:nvPr/>
        </p:nvSpPr>
        <p:spPr>
          <a:xfrm>
            <a:off x="822960" y="1783080"/>
            <a:ext cx="10515600" cy="868680"/>
          </a:xfrm>
          <a:prstGeom prst="rect">
            <a:avLst/>
          </a:prstGeom>
          <a:noFill/>
        </p:spPr>
        <p:txBody>
          <a:bodyPr wrap="square" anchor="t" lIns="0" rIns="0" tIns="0" bIns="0">
            <a:spAutoFit/>
          </a:bodyPr>
          <a:lstStyle/>
          <a:p>
            <a:pPr algn="l">
              <a:lnSpc>
                <a:spcPct val="112000"/>
              </a:lnSpc>
              <a:spcBef>
                <a:spcPts val="0"/>
              </a:spcBef>
              <a:spcAft>
                <a:spcPts val="800"/>
              </a:spcAft>
            </a:pPr>
            <a:r>
              <a:rPr sz="2100" b="0" i="0">
                <a:solidFill>
                  <a:srgbClr val="4A5260"/>
                </a:solidFill>
                <a:latin typeface="Arial"/>
              </a:rPr>
              <a:t>From the second month on, every code change, bug fix, feature, and paper draft was produced by KISS Sorcar operating on its own repository. Self-hosting turns the system into a continuous stress test.</a:t>
            </a:r>
          </a:p>
        </p:txBody>
      </p:sp>
      <p:sp>
        <p:nvSpPr>
          <p:cNvPr id="6" name="Rectangle 5"/>
          <p:cNvSpPr/>
          <p:nvPr/>
        </p:nvSpPr>
        <p:spPr>
          <a:xfrm>
            <a:off x="822960" y="3108960"/>
            <a:ext cx="2542032" cy="2011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3108960"/>
            <a:ext cx="2542032"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3429000"/>
            <a:ext cx="2084832" cy="1554480"/>
          </a:xfrm>
          <a:prstGeom prst="rect">
            <a:avLst/>
          </a:prstGeom>
          <a:noFill/>
        </p:spPr>
        <p:txBody>
          <a:bodyPr wrap="square" anchor="ctr" lIns="0" rIns="0" tIns="0" bIns="0">
            <a:spAutoFit/>
          </a:bodyPr>
          <a:lstStyle/>
          <a:p>
            <a:pPr algn="ctr">
              <a:lnSpc>
                <a:spcPct val="100000"/>
              </a:lnSpc>
              <a:spcBef>
                <a:spcPts val="0"/>
              </a:spcBef>
              <a:spcAft>
                <a:spcPts val="400"/>
              </a:spcAft>
            </a:pPr>
            <a:r>
              <a:rPr sz="6000" b="1" i="0">
                <a:solidFill>
                  <a:srgbClr val="003262"/>
                </a:solidFill>
                <a:latin typeface="Arial"/>
              </a:rPr>
              <a:t>3,099</a:t>
            </a:r>
          </a:p>
          <a:p>
            <a:pPr algn="ctr">
              <a:lnSpc>
                <a:spcPct val="100000"/>
              </a:lnSpc>
              <a:spcBef>
                <a:spcPts val="0"/>
              </a:spcBef>
              <a:spcAft>
                <a:spcPts val="800"/>
              </a:spcAft>
            </a:pPr>
            <a:r>
              <a:rPr sz="1600" b="0" i="0">
                <a:solidFill>
                  <a:srgbClr val="4A5260"/>
                </a:solidFill>
                <a:latin typeface="Arial"/>
              </a:rPr>
              <a:t>tasks issued</a:t>
            </a:r>
          </a:p>
        </p:txBody>
      </p:sp>
      <p:sp>
        <p:nvSpPr>
          <p:cNvPr id="9" name="Rectangle 8"/>
          <p:cNvSpPr/>
          <p:nvPr/>
        </p:nvSpPr>
        <p:spPr>
          <a:xfrm>
            <a:off x="3547872" y="3108960"/>
            <a:ext cx="2542032" cy="2011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547872" y="3108960"/>
            <a:ext cx="2542032" cy="109728"/>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76472" y="3429000"/>
            <a:ext cx="2084832" cy="1554480"/>
          </a:xfrm>
          <a:prstGeom prst="rect">
            <a:avLst/>
          </a:prstGeom>
          <a:noFill/>
        </p:spPr>
        <p:txBody>
          <a:bodyPr wrap="square" anchor="ctr" lIns="0" rIns="0" tIns="0" bIns="0">
            <a:spAutoFit/>
          </a:bodyPr>
          <a:lstStyle/>
          <a:p>
            <a:pPr algn="ctr">
              <a:lnSpc>
                <a:spcPct val="100000"/>
              </a:lnSpc>
              <a:spcBef>
                <a:spcPts val="0"/>
              </a:spcBef>
              <a:spcAft>
                <a:spcPts val="400"/>
              </a:spcAft>
            </a:pPr>
            <a:r>
              <a:rPr sz="6000" b="1" i="0">
                <a:solidFill>
                  <a:srgbClr val="003262"/>
                </a:solidFill>
                <a:latin typeface="Arial"/>
              </a:rPr>
              <a:t>44</a:t>
            </a:r>
          </a:p>
          <a:p>
            <a:pPr algn="ctr">
              <a:lnSpc>
                <a:spcPct val="100000"/>
              </a:lnSpc>
              <a:spcBef>
                <a:spcPts val="0"/>
              </a:spcBef>
              <a:spcAft>
                <a:spcPts val="800"/>
              </a:spcAft>
            </a:pPr>
            <a:r>
              <a:rPr sz="1600" b="0" i="0">
                <a:solidFill>
                  <a:srgbClr val="4A5260"/>
                </a:solidFill>
                <a:latin typeface="Arial"/>
              </a:rPr>
              <a:t>days of development</a:t>
            </a:r>
          </a:p>
        </p:txBody>
      </p:sp>
      <p:sp>
        <p:nvSpPr>
          <p:cNvPr id="12" name="Rectangle 11"/>
          <p:cNvSpPr/>
          <p:nvPr/>
        </p:nvSpPr>
        <p:spPr>
          <a:xfrm>
            <a:off x="6272784" y="3108960"/>
            <a:ext cx="2542032" cy="2011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72784" y="3108960"/>
            <a:ext cx="2542032"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01384" y="3429000"/>
            <a:ext cx="2084832" cy="1554480"/>
          </a:xfrm>
          <a:prstGeom prst="rect">
            <a:avLst/>
          </a:prstGeom>
          <a:noFill/>
        </p:spPr>
        <p:txBody>
          <a:bodyPr wrap="square" anchor="ctr" lIns="0" rIns="0" tIns="0" bIns="0">
            <a:spAutoFit/>
          </a:bodyPr>
          <a:lstStyle/>
          <a:p>
            <a:pPr algn="ctr">
              <a:lnSpc>
                <a:spcPct val="100000"/>
              </a:lnSpc>
              <a:spcBef>
                <a:spcPts val="0"/>
              </a:spcBef>
              <a:spcAft>
                <a:spcPts val="400"/>
              </a:spcAft>
            </a:pPr>
            <a:r>
              <a:rPr sz="6000" b="1" i="0">
                <a:solidFill>
                  <a:srgbClr val="003262"/>
                </a:solidFill>
                <a:latin typeface="Arial"/>
              </a:rPr>
              <a:t>877</a:t>
            </a:r>
          </a:p>
          <a:p>
            <a:pPr algn="ctr">
              <a:lnSpc>
                <a:spcPct val="100000"/>
              </a:lnSpc>
              <a:spcBef>
                <a:spcPts val="0"/>
              </a:spcBef>
              <a:spcAft>
                <a:spcPts val="800"/>
              </a:spcAft>
            </a:pPr>
            <a:r>
              <a:rPr sz="1600" b="0" i="0">
                <a:solidFill>
                  <a:srgbClr val="4A5260"/>
                </a:solidFill>
                <a:latin typeface="Arial"/>
              </a:rPr>
              <a:t>chat sessions</a:t>
            </a:r>
          </a:p>
        </p:txBody>
      </p:sp>
      <p:sp>
        <p:nvSpPr>
          <p:cNvPr id="15" name="Rectangle 14"/>
          <p:cNvSpPr/>
          <p:nvPr/>
        </p:nvSpPr>
        <p:spPr>
          <a:xfrm>
            <a:off x="8997696" y="3108960"/>
            <a:ext cx="2542032" cy="2011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997696" y="3108960"/>
            <a:ext cx="2542032" cy="109728"/>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26296" y="3429000"/>
            <a:ext cx="2084832" cy="1554480"/>
          </a:xfrm>
          <a:prstGeom prst="rect">
            <a:avLst/>
          </a:prstGeom>
          <a:noFill/>
        </p:spPr>
        <p:txBody>
          <a:bodyPr wrap="square" anchor="ctr" lIns="0" rIns="0" tIns="0" bIns="0">
            <a:spAutoFit/>
          </a:bodyPr>
          <a:lstStyle/>
          <a:p>
            <a:pPr algn="ctr">
              <a:lnSpc>
                <a:spcPct val="100000"/>
              </a:lnSpc>
              <a:spcBef>
                <a:spcPts val="0"/>
              </a:spcBef>
              <a:spcAft>
                <a:spcPts val="400"/>
              </a:spcAft>
            </a:pPr>
            <a:r>
              <a:rPr sz="4600" b="1" i="0">
                <a:solidFill>
                  <a:srgbClr val="003262"/>
                </a:solidFill>
                <a:latin typeface="Arial"/>
              </a:rPr>
              <a:t>~2,400</a:t>
            </a:r>
          </a:p>
          <a:p>
            <a:pPr algn="ctr">
              <a:lnSpc>
                <a:spcPct val="100000"/>
              </a:lnSpc>
              <a:spcBef>
                <a:spcPts val="0"/>
              </a:spcBef>
              <a:spcAft>
                <a:spcPts val="800"/>
              </a:spcAft>
            </a:pPr>
            <a:r>
              <a:rPr sz="1600" b="0" i="0">
                <a:solidFill>
                  <a:srgbClr val="4A5260"/>
                </a:solidFill>
                <a:latin typeface="Arial"/>
              </a:rPr>
              <a:t>lines of agent code</a:t>
            </a:r>
          </a:p>
        </p:txBody>
      </p:sp>
      <p:sp>
        <p:nvSpPr>
          <p:cNvPr id="18" name="Rectangle 17"/>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6547104"/>
            <a:ext cx="8229600" cy="274320"/>
          </a:xfrm>
          <a:prstGeom prst="rect">
            <a:avLst/>
          </a:prstGeom>
          <a:noFill/>
        </p:spPr>
        <p:txBody>
          <a:bodyPr wrap="square" anchor="t" lIns="0" rIns="0" tIns="0" bIns="0">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20" name="TextBox 19"/>
          <p:cNvSpPr txBox="1"/>
          <p:nvPr/>
        </p:nvSpPr>
        <p:spPr>
          <a:xfrm>
            <a:off x="10058400" y="6547104"/>
            <a:ext cx="1307592" cy="274320"/>
          </a:xfrm>
          <a:prstGeom prst="rect">
            <a:avLst/>
          </a:prstGeom>
          <a:noFill/>
        </p:spPr>
        <p:txBody>
          <a:bodyPr wrap="square" anchor="t" lIns="0" rIns="0" tIns="0" bIns="0">
            <a:spAutoFit/>
          </a:bodyPr>
          <a:lstStyle/>
          <a:p>
            <a:pPr algn="r">
              <a:lnSpc>
                <a:spcPct val="100000"/>
              </a:lnSpc>
              <a:spcBef>
                <a:spcPts val="0"/>
              </a:spcBef>
              <a:spcAft>
                <a:spcPts val="800"/>
              </a:spcAft>
            </a:pPr>
            <a:r>
              <a:rPr sz="1100" b="1" i="0">
                <a:solidFill>
                  <a:srgbClr val="C88A00"/>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C88A00"/>
                </a:solidFill>
                <a:latin typeface="Arial"/>
              </a:rPr>
              <a:t>A  R  C  H  I  T  E  C  T  U  R  E</a:t>
            </a:r>
          </a:p>
        </p:txBody>
      </p:sp>
      <p:sp>
        <p:nvSpPr>
          <p:cNvPr id="4" name="TextBox 3"/>
          <p:cNvSpPr txBox="1"/>
          <p:nvPr/>
        </p:nvSpPr>
        <p:spPr>
          <a:xfrm>
            <a:off x="822960" y="868680"/>
            <a:ext cx="10515600" cy="1280160"/>
          </a:xfrm>
          <a:prstGeom prst="rect">
            <a:avLst/>
          </a:prstGeom>
          <a:noFill/>
        </p:spPr>
        <p:txBody>
          <a:bodyPr wrap="square" anchor="t" lIns="0" rIns="0" tIns="0" bIns="0">
            <a:spAutoFit/>
          </a:bodyPr>
          <a:lstStyle/>
          <a:p>
            <a:pPr algn="l">
              <a:lnSpc>
                <a:spcPct val="100000"/>
              </a:lnSpc>
              <a:spcBef>
                <a:spcPts val="0"/>
              </a:spcBef>
              <a:spcAft>
                <a:spcPts val="800"/>
              </a:spcAft>
            </a:pPr>
            <a:r>
              <a:rPr sz="3400" b="1" i="0">
                <a:solidFill>
                  <a:srgbClr val="003262"/>
                </a:solidFill>
                <a:latin typeface="Arial"/>
              </a:rPr>
              <a:t>A five-layer agent hierarchy</a:t>
            </a:r>
          </a:p>
        </p:txBody>
      </p:sp>
      <p:sp>
        <p:nvSpPr>
          <p:cNvPr id="5" name="TextBox 4"/>
          <p:cNvSpPr txBox="1"/>
          <p:nvPr/>
        </p:nvSpPr>
        <p:spPr>
          <a:xfrm>
            <a:off x="822960" y="1783080"/>
            <a:ext cx="10515600" cy="502920"/>
          </a:xfrm>
          <a:prstGeom prst="rect">
            <a:avLst/>
          </a:prstGeom>
          <a:noFill/>
        </p:spPr>
        <p:txBody>
          <a:bodyPr wrap="square" anchor="t" lIns="0" rIns="0" tIns="0" bIns="0">
            <a:spAutoFit/>
          </a:bodyPr>
          <a:lstStyle/>
          <a:p>
            <a:pPr algn="l">
              <a:lnSpc>
                <a:spcPct val="100000"/>
              </a:lnSpc>
              <a:spcBef>
                <a:spcPts val="0"/>
              </a:spcBef>
              <a:spcAft>
                <a:spcPts val="800"/>
              </a:spcAft>
            </a:pPr>
            <a:r>
              <a:rPr sz="2000" b="0" i="0">
                <a:solidFill>
                  <a:srgbClr val="4A5260"/>
                </a:solidFill>
                <a:latin typeface="Arial"/>
              </a:rPr>
              <a:t>Each layer adds exactly one concern — ~2,400 lines total.</a:t>
            </a:r>
          </a:p>
        </p:txBody>
      </p:sp>
      <p:sp>
        <p:nvSpPr>
          <p:cNvPr id="6" name="Rectangle 5"/>
          <p:cNvSpPr/>
          <p:nvPr/>
        </p:nvSpPr>
        <p:spPr>
          <a:xfrm>
            <a:off x="822960" y="2423160"/>
            <a:ext cx="10515600" cy="676656"/>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2423160"/>
            <a:ext cx="146304" cy="676656"/>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2423160"/>
            <a:ext cx="3017520" cy="676656"/>
          </a:xfrm>
          <a:prstGeom prst="rect">
            <a:avLst/>
          </a:prstGeom>
          <a:noFill/>
        </p:spPr>
        <p:txBody>
          <a:bodyPr wrap="square" anchor="ctr" lIns="0" rIns="0" tIns="0" bIns="0">
            <a:spAutoFit/>
          </a:bodyPr>
          <a:lstStyle/>
          <a:p>
            <a:pPr algn="l">
              <a:lnSpc>
                <a:spcPct val="100000"/>
              </a:lnSpc>
              <a:spcBef>
                <a:spcPts val="0"/>
              </a:spcBef>
              <a:spcAft>
                <a:spcPts val="800"/>
              </a:spcAft>
            </a:pPr>
            <a:r>
              <a:rPr sz="2000" b="1" i="0">
                <a:solidFill>
                  <a:srgbClr val="003262"/>
                </a:solidFill>
                <a:latin typeface="Arial"/>
              </a:rPr>
              <a:t>1.  KISS Agent</a:t>
            </a:r>
          </a:p>
        </p:txBody>
      </p:sp>
      <p:sp>
        <p:nvSpPr>
          <p:cNvPr id="9" name="TextBox 8"/>
          <p:cNvSpPr txBox="1"/>
          <p:nvPr/>
        </p:nvSpPr>
        <p:spPr>
          <a:xfrm>
            <a:off x="4297680" y="2423160"/>
            <a:ext cx="6766560" cy="676656"/>
          </a:xfrm>
          <a:prstGeom prst="rect">
            <a:avLst/>
          </a:prstGeom>
          <a:noFill/>
        </p:spPr>
        <p:txBody>
          <a:bodyPr wrap="square" anchor="ctr" lIns="0" rIns="0" tIns="0" bIns="0">
            <a:spAutoFit/>
          </a:bodyPr>
          <a:lstStyle/>
          <a:p>
            <a:pPr algn="l">
              <a:lnSpc>
                <a:spcPct val="100000"/>
              </a:lnSpc>
              <a:spcBef>
                <a:spcPts val="0"/>
              </a:spcBef>
              <a:spcAft>
                <a:spcPts val="800"/>
              </a:spcAft>
            </a:pPr>
            <a:r>
              <a:rPr sz="1700" b="0" i="0">
                <a:solidFill>
                  <a:srgbClr val="4A5260"/>
                </a:solidFill>
                <a:latin typeface="Arial"/>
              </a:rPr>
              <a:t>Budget-tracked ReAct loop</a:t>
            </a:r>
          </a:p>
        </p:txBody>
      </p:sp>
      <p:sp>
        <p:nvSpPr>
          <p:cNvPr id="10" name="Rectangle 9"/>
          <p:cNvSpPr/>
          <p:nvPr/>
        </p:nvSpPr>
        <p:spPr>
          <a:xfrm>
            <a:off x="822960" y="3218688"/>
            <a:ext cx="10515600" cy="676656"/>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22960" y="3218688"/>
            <a:ext cx="146304" cy="676656"/>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3000" y="3218688"/>
            <a:ext cx="3017520" cy="676656"/>
          </a:xfrm>
          <a:prstGeom prst="rect">
            <a:avLst/>
          </a:prstGeom>
          <a:noFill/>
        </p:spPr>
        <p:txBody>
          <a:bodyPr wrap="square" anchor="ctr" lIns="0" rIns="0" tIns="0" bIns="0">
            <a:spAutoFit/>
          </a:bodyPr>
          <a:lstStyle/>
          <a:p>
            <a:pPr algn="l">
              <a:lnSpc>
                <a:spcPct val="100000"/>
              </a:lnSpc>
              <a:spcBef>
                <a:spcPts val="0"/>
              </a:spcBef>
              <a:spcAft>
                <a:spcPts val="800"/>
              </a:spcAft>
            </a:pPr>
            <a:r>
              <a:rPr sz="2000" b="1" i="0">
                <a:solidFill>
                  <a:srgbClr val="003262"/>
                </a:solidFill>
                <a:latin typeface="Arial"/>
              </a:rPr>
              <a:t>2.  Relentless Agent</a:t>
            </a:r>
          </a:p>
        </p:txBody>
      </p:sp>
      <p:sp>
        <p:nvSpPr>
          <p:cNvPr id="13" name="TextBox 12"/>
          <p:cNvSpPr txBox="1"/>
          <p:nvPr/>
        </p:nvSpPr>
        <p:spPr>
          <a:xfrm>
            <a:off x="4297680" y="3218688"/>
            <a:ext cx="6766560" cy="676656"/>
          </a:xfrm>
          <a:prstGeom prst="rect">
            <a:avLst/>
          </a:prstGeom>
          <a:noFill/>
        </p:spPr>
        <p:txBody>
          <a:bodyPr wrap="square" anchor="ctr" lIns="0" rIns="0" tIns="0" bIns="0">
            <a:spAutoFit/>
          </a:bodyPr>
          <a:lstStyle/>
          <a:p>
            <a:pPr algn="l">
              <a:lnSpc>
                <a:spcPct val="100000"/>
              </a:lnSpc>
              <a:spcBef>
                <a:spcPts val="0"/>
              </a:spcBef>
              <a:spcAft>
                <a:spcPts val="800"/>
              </a:spcAft>
            </a:pPr>
            <a:r>
              <a:rPr sz="1700" b="0" i="0">
                <a:solidFill>
                  <a:srgbClr val="4A5260"/>
                </a:solidFill>
                <a:latin typeface="Arial"/>
              </a:rPr>
              <a:t>Automatic continuation across sub-sessions via summarization</a:t>
            </a:r>
          </a:p>
        </p:txBody>
      </p:sp>
      <p:sp>
        <p:nvSpPr>
          <p:cNvPr id="14" name="Rectangle 13"/>
          <p:cNvSpPr/>
          <p:nvPr/>
        </p:nvSpPr>
        <p:spPr>
          <a:xfrm>
            <a:off x="822960" y="4014216"/>
            <a:ext cx="10515600" cy="676656"/>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4014216"/>
            <a:ext cx="146304" cy="676656"/>
          </a:xfrm>
          <a:prstGeom prst="rect">
            <a:avLst/>
          </a:prstGeom>
          <a:solidFill>
            <a:srgbClr val="5591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3000" y="4014216"/>
            <a:ext cx="3017520" cy="676656"/>
          </a:xfrm>
          <a:prstGeom prst="rect">
            <a:avLst/>
          </a:prstGeom>
          <a:noFill/>
        </p:spPr>
        <p:txBody>
          <a:bodyPr wrap="square" anchor="ctr" lIns="0" rIns="0" tIns="0" bIns="0">
            <a:spAutoFit/>
          </a:bodyPr>
          <a:lstStyle/>
          <a:p>
            <a:pPr algn="l">
              <a:lnSpc>
                <a:spcPct val="100000"/>
              </a:lnSpc>
              <a:spcBef>
                <a:spcPts val="0"/>
              </a:spcBef>
              <a:spcAft>
                <a:spcPts val="800"/>
              </a:spcAft>
            </a:pPr>
            <a:r>
              <a:rPr sz="2000" b="1" i="0">
                <a:solidFill>
                  <a:srgbClr val="003262"/>
                </a:solidFill>
                <a:latin typeface="Arial"/>
              </a:rPr>
              <a:t>3.  Sorcar Agent</a:t>
            </a:r>
          </a:p>
        </p:txBody>
      </p:sp>
      <p:sp>
        <p:nvSpPr>
          <p:cNvPr id="17" name="TextBox 16"/>
          <p:cNvSpPr txBox="1"/>
          <p:nvPr/>
        </p:nvSpPr>
        <p:spPr>
          <a:xfrm>
            <a:off x="4297680" y="4014216"/>
            <a:ext cx="6766560" cy="676656"/>
          </a:xfrm>
          <a:prstGeom prst="rect">
            <a:avLst/>
          </a:prstGeom>
          <a:noFill/>
        </p:spPr>
        <p:txBody>
          <a:bodyPr wrap="square" anchor="ctr" lIns="0" rIns="0" tIns="0" bIns="0">
            <a:spAutoFit/>
          </a:bodyPr>
          <a:lstStyle/>
          <a:p>
            <a:pPr algn="l">
              <a:lnSpc>
                <a:spcPct val="100000"/>
              </a:lnSpc>
              <a:spcBef>
                <a:spcPts val="0"/>
              </a:spcBef>
              <a:spcAft>
                <a:spcPts val="800"/>
              </a:spcAft>
            </a:pPr>
            <a:r>
              <a:rPr sz="1700" b="0" i="0">
                <a:solidFill>
                  <a:srgbClr val="4A5260"/>
                </a:solidFill>
                <a:latin typeface="Arial"/>
              </a:rPr>
              <a:t>Coding tools, browser automation, parallel sub-agents</a:t>
            </a:r>
          </a:p>
        </p:txBody>
      </p:sp>
      <p:sp>
        <p:nvSpPr>
          <p:cNvPr id="18" name="Rectangle 17"/>
          <p:cNvSpPr/>
          <p:nvPr/>
        </p:nvSpPr>
        <p:spPr>
          <a:xfrm>
            <a:off x="822960" y="4809744"/>
            <a:ext cx="10515600" cy="676656"/>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2960" y="4809744"/>
            <a:ext cx="146304" cy="676656"/>
          </a:xfrm>
          <a:prstGeom prst="rect">
            <a:avLst/>
          </a:prstGeom>
          <a:solidFill>
            <a:srgbClr val="2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43000" y="4809744"/>
            <a:ext cx="3017520" cy="676656"/>
          </a:xfrm>
          <a:prstGeom prst="rect">
            <a:avLst/>
          </a:prstGeom>
          <a:noFill/>
        </p:spPr>
        <p:txBody>
          <a:bodyPr wrap="square" anchor="ctr" lIns="0" rIns="0" tIns="0" bIns="0">
            <a:spAutoFit/>
          </a:bodyPr>
          <a:lstStyle/>
          <a:p>
            <a:pPr algn="l">
              <a:lnSpc>
                <a:spcPct val="100000"/>
              </a:lnSpc>
              <a:spcBef>
                <a:spcPts val="0"/>
              </a:spcBef>
              <a:spcAft>
                <a:spcPts val="800"/>
              </a:spcAft>
            </a:pPr>
            <a:r>
              <a:rPr sz="2000" b="1" i="0">
                <a:solidFill>
                  <a:srgbClr val="003262"/>
                </a:solidFill>
                <a:latin typeface="Arial"/>
              </a:rPr>
              <a:t>4.  Chat Sorcar Agent</a:t>
            </a:r>
          </a:p>
        </p:txBody>
      </p:sp>
      <p:sp>
        <p:nvSpPr>
          <p:cNvPr id="21" name="TextBox 20"/>
          <p:cNvSpPr txBox="1"/>
          <p:nvPr/>
        </p:nvSpPr>
        <p:spPr>
          <a:xfrm>
            <a:off x="4297680" y="4809744"/>
            <a:ext cx="6766560" cy="676656"/>
          </a:xfrm>
          <a:prstGeom prst="rect">
            <a:avLst/>
          </a:prstGeom>
          <a:noFill/>
        </p:spPr>
        <p:txBody>
          <a:bodyPr wrap="square" anchor="ctr" lIns="0" rIns="0" tIns="0" bIns="0">
            <a:spAutoFit/>
          </a:bodyPr>
          <a:lstStyle/>
          <a:p>
            <a:pPr algn="l">
              <a:lnSpc>
                <a:spcPct val="100000"/>
              </a:lnSpc>
              <a:spcBef>
                <a:spcPts val="0"/>
              </a:spcBef>
              <a:spcAft>
                <a:spcPts val="800"/>
              </a:spcAft>
            </a:pPr>
            <a:r>
              <a:rPr sz="1700" b="0" i="0">
                <a:solidFill>
                  <a:srgbClr val="4A5260"/>
                </a:solidFill>
                <a:latin typeface="Arial"/>
              </a:rPr>
              <a:t>Persistent multi-turn chat</a:t>
            </a:r>
          </a:p>
        </p:txBody>
      </p:sp>
      <p:sp>
        <p:nvSpPr>
          <p:cNvPr id="22" name="Rectangle 21"/>
          <p:cNvSpPr/>
          <p:nvPr/>
        </p:nvSpPr>
        <p:spPr>
          <a:xfrm>
            <a:off x="822960" y="5605272"/>
            <a:ext cx="10515600" cy="676656"/>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2960" y="5605272"/>
            <a:ext cx="146304" cy="676656"/>
          </a:xfrm>
          <a:prstGeom prst="rect">
            <a:avLst/>
          </a:prstGeom>
          <a:solidFill>
            <a:srgbClr val="8A6D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43000" y="5605272"/>
            <a:ext cx="3017520" cy="676656"/>
          </a:xfrm>
          <a:prstGeom prst="rect">
            <a:avLst/>
          </a:prstGeom>
          <a:noFill/>
        </p:spPr>
        <p:txBody>
          <a:bodyPr wrap="square" anchor="ctr" lIns="0" rIns="0" tIns="0" bIns="0">
            <a:spAutoFit/>
          </a:bodyPr>
          <a:lstStyle/>
          <a:p>
            <a:pPr algn="l">
              <a:lnSpc>
                <a:spcPct val="100000"/>
              </a:lnSpc>
              <a:spcBef>
                <a:spcPts val="0"/>
              </a:spcBef>
              <a:spcAft>
                <a:spcPts val="800"/>
              </a:spcAft>
            </a:pPr>
            <a:r>
              <a:rPr sz="2000" b="1" i="0">
                <a:solidFill>
                  <a:srgbClr val="003262"/>
                </a:solidFill>
                <a:latin typeface="Arial"/>
              </a:rPr>
              <a:t>5.  Worktree Sorcar Agent</a:t>
            </a:r>
          </a:p>
        </p:txBody>
      </p:sp>
      <p:sp>
        <p:nvSpPr>
          <p:cNvPr id="25" name="TextBox 24"/>
          <p:cNvSpPr txBox="1"/>
          <p:nvPr/>
        </p:nvSpPr>
        <p:spPr>
          <a:xfrm>
            <a:off x="4297680" y="5605272"/>
            <a:ext cx="6766560" cy="676656"/>
          </a:xfrm>
          <a:prstGeom prst="rect">
            <a:avLst/>
          </a:prstGeom>
          <a:noFill/>
        </p:spPr>
        <p:txBody>
          <a:bodyPr wrap="square" anchor="ctr" lIns="0" rIns="0" tIns="0" bIns="0">
            <a:spAutoFit/>
          </a:bodyPr>
          <a:lstStyle/>
          <a:p>
            <a:pPr algn="l">
              <a:lnSpc>
                <a:spcPct val="100000"/>
              </a:lnSpc>
              <a:spcBef>
                <a:spcPts val="0"/>
              </a:spcBef>
              <a:spcAft>
                <a:spcPts val="800"/>
              </a:spcAft>
            </a:pPr>
            <a:r>
              <a:rPr sz="1700" b="0" i="0">
                <a:solidFill>
                  <a:srgbClr val="4A5260"/>
                </a:solidFill>
                <a:latin typeface="Arial"/>
              </a:rPr>
              <a:t>Git worktree isolation per task</a:t>
            </a:r>
          </a:p>
        </p:txBody>
      </p:sp>
      <p:sp>
        <p:nvSpPr>
          <p:cNvPr id="26" name="Rectangle 25"/>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6547104"/>
            <a:ext cx="8229600" cy="274320"/>
          </a:xfrm>
          <a:prstGeom prst="rect">
            <a:avLst/>
          </a:prstGeom>
          <a:noFill/>
        </p:spPr>
        <p:txBody>
          <a:bodyPr wrap="square" anchor="t" lIns="0" rIns="0" tIns="0" bIns="0">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28" name="TextBox 27"/>
          <p:cNvSpPr txBox="1"/>
          <p:nvPr/>
        </p:nvSpPr>
        <p:spPr>
          <a:xfrm>
            <a:off x="10058400" y="6547104"/>
            <a:ext cx="1307592" cy="274320"/>
          </a:xfrm>
          <a:prstGeom prst="rect">
            <a:avLst/>
          </a:prstGeom>
          <a:noFill/>
        </p:spPr>
        <p:txBody>
          <a:bodyPr wrap="square" anchor="t" lIns="0" rIns="0" tIns="0" bIns="0">
            <a:spAutoFit/>
          </a:bodyPr>
          <a:lstStyle/>
          <a:p>
            <a:pPr algn="r">
              <a:lnSpc>
                <a:spcPct val="100000"/>
              </a:lnSpc>
              <a:spcBef>
                <a:spcPts val="0"/>
              </a:spcBef>
              <a:spcAft>
                <a:spcPts val="800"/>
              </a:spcAft>
            </a:pPr>
            <a:r>
              <a:rPr sz="1100" b="1" i="0">
                <a:solidFill>
                  <a:srgbClr val="C88A00"/>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C88A00"/>
                </a:solidFill>
                <a:latin typeface="Arial"/>
              </a:rPr>
              <a:t>M  E  T  H  O  D  O  L  O  G  Y</a:t>
            </a:r>
          </a:p>
        </p:txBody>
      </p:sp>
      <p:sp>
        <p:nvSpPr>
          <p:cNvPr id="4" name="TextBox 3"/>
          <p:cNvSpPr txBox="1"/>
          <p:nvPr/>
        </p:nvSpPr>
        <p:spPr>
          <a:xfrm>
            <a:off x="822960" y="868680"/>
            <a:ext cx="10515600" cy="1280160"/>
          </a:xfrm>
          <a:prstGeom prst="rect">
            <a:avLst/>
          </a:prstGeom>
          <a:noFill/>
        </p:spPr>
        <p:txBody>
          <a:bodyPr wrap="square" anchor="t" lIns="0" rIns="0" tIns="0" bIns="0">
            <a:spAutoFit/>
          </a:bodyPr>
          <a:lstStyle/>
          <a:p>
            <a:pPr algn="l">
              <a:lnSpc>
                <a:spcPct val="100000"/>
              </a:lnSpc>
              <a:spcBef>
                <a:spcPts val="0"/>
              </a:spcBef>
              <a:spcAft>
                <a:spcPts val="800"/>
              </a:spcAft>
            </a:pPr>
            <a:r>
              <a:rPr sz="3400" b="1" i="0">
                <a:solidFill>
                  <a:srgbClr val="003262"/>
                </a:solidFill>
                <a:latin typeface="Arial"/>
              </a:rPr>
              <a:t>Mining the system's own usage log</a:t>
            </a:r>
          </a:p>
        </p:txBody>
      </p:sp>
      <p:sp>
        <p:nvSpPr>
          <p:cNvPr id="5" name="TextBox 4"/>
          <p:cNvSpPr txBox="1"/>
          <p:nvPr/>
        </p:nvSpPr>
        <p:spPr>
          <a:xfrm>
            <a:off x="822960" y="1920240"/>
            <a:ext cx="10607040" cy="4206240"/>
          </a:xfrm>
          <a:prstGeom prst="rect">
            <a:avLst/>
          </a:prstGeom>
          <a:noFill/>
        </p:spPr>
        <p:txBody>
          <a:bodyPr wrap="square" anchor="t" lIns="0" rIns="0" tIns="0" bIns="0">
            <a:spAutoFit/>
          </a:bodyPr>
          <a:lstStyle/>
          <a:p>
            <a:pPr algn="l">
              <a:lnSpc>
                <a:spcPct val="106000"/>
              </a:lnSpc>
              <a:spcAft>
                <a:spcPts val="1800"/>
              </a:spcAft>
            </a:pPr>
            <a:r>
              <a:rPr sz="2100" b="1">
                <a:solidFill>
                  <a:srgbClr val="FDB515"/>
                </a:solidFill>
                <a:latin typeface="Arial"/>
              </a:rPr>
              <a:t>—  </a:t>
            </a:r>
            <a:r>
              <a:rPr sz="2100" b="1">
                <a:solidFill>
                  <a:srgbClr val="003262"/>
                </a:solidFill>
                <a:latin typeface="Arial"/>
              </a:rPr>
              <a:t>Single source of truth:  </a:t>
            </a:r>
            <a:r>
              <a:rPr sz="2100">
                <a:solidFill>
                  <a:srgbClr val="1A1F2B"/>
                </a:solidFill>
                <a:latin typeface="Arial"/>
              </a:rPr>
              <a:t>every task flows through the Chat Sorcar Agent into ~/.kiss/sorcar.db — a complete, unfiltered record.</a:t>
            </a:r>
          </a:p>
          <a:p>
            <a:pPr algn="l">
              <a:lnSpc>
                <a:spcPct val="106000"/>
              </a:lnSpc>
              <a:spcAft>
                <a:spcPts val="1800"/>
              </a:spcAft>
            </a:pPr>
            <a:r>
              <a:rPr sz="2100" b="1">
                <a:solidFill>
                  <a:srgbClr val="FDB515"/>
                </a:solidFill>
                <a:latin typeface="Arial"/>
              </a:rPr>
              <a:t>—  </a:t>
            </a:r>
            <a:r>
              <a:rPr sz="2100" b="1">
                <a:solidFill>
                  <a:srgbClr val="003262"/>
                </a:solidFill>
                <a:latin typeface="Arial"/>
              </a:rPr>
              <a:t>Small schema:  </a:t>
            </a:r>
            <a:r>
              <a:rPr sz="2100">
                <a:solidFill>
                  <a:srgbClr val="1A1F2B"/>
                </a:solidFill>
                <a:latin typeface="Arial"/>
              </a:rPr>
              <a:t>task_history, events, frequent_tasks, model_usage, file_usage tables capture prompts, trajectories, cost, and files.</a:t>
            </a:r>
          </a:p>
          <a:p>
            <a:pPr algn="l">
              <a:lnSpc>
                <a:spcPct val="106000"/>
              </a:lnSpc>
              <a:spcAft>
                <a:spcPts val="1800"/>
              </a:spcAft>
            </a:pPr>
            <a:r>
              <a:rPr sz="2100" b="1">
                <a:solidFill>
                  <a:srgbClr val="FDB515"/>
                </a:solidFill>
                <a:latin typeface="Arial"/>
              </a:rPr>
              <a:t>—  </a:t>
            </a:r>
            <a:r>
              <a:rPr sz="2100" b="1">
                <a:solidFill>
                  <a:srgbClr val="003262"/>
                </a:solidFill>
                <a:latin typeface="Arial"/>
              </a:rPr>
              <a:t>Three extraction methods:  </a:t>
            </a:r>
            <a:r>
              <a:rPr sz="2100">
                <a:solidFill>
                  <a:srgbClr val="1A1F2B"/>
                </a:solidFill>
                <a:latin typeface="Arial"/>
              </a:rPr>
              <a:t>cluster by frequency, full-text LIKE queries over descriptions, and manual reading of representatives.</a:t>
            </a:r>
          </a:p>
          <a:p>
            <a:pPr algn="l">
              <a:lnSpc>
                <a:spcPct val="106000"/>
              </a:lnSpc>
              <a:spcAft>
                <a:spcPts val="1800"/>
              </a:spcAft>
            </a:pPr>
            <a:r>
              <a:rPr sz="2100" b="1">
                <a:solidFill>
                  <a:srgbClr val="FDB515"/>
                </a:solidFill>
                <a:latin typeface="Arial"/>
              </a:rPr>
              <a:t>—  </a:t>
            </a:r>
            <a:r>
              <a:rPr sz="2100" b="1">
                <a:solidFill>
                  <a:srgbClr val="003262"/>
                </a:solidFill>
                <a:latin typeface="Arial"/>
              </a:rPr>
              <a:t>Scale:  </a:t>
            </a:r>
            <a:r>
              <a:rPr sz="2100">
                <a:solidFill>
                  <a:srgbClr val="1A1F2B"/>
                </a:solidFill>
                <a:latin typeface="Arial"/>
              </a:rPr>
              <a:t>3,099 tasks across 44 days group into 877 sessions — ~3.5 tasks per session, confirming an iterative workflow.</a:t>
            </a:r>
          </a:p>
        </p:txBody>
      </p:sp>
      <p:sp>
        <p:nvSpPr>
          <p:cNvPr id="6" name="Rectangle 5"/>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547104"/>
            <a:ext cx="8229600" cy="274320"/>
          </a:xfrm>
          <a:prstGeom prst="rect">
            <a:avLst/>
          </a:prstGeom>
          <a:noFill/>
        </p:spPr>
        <p:txBody>
          <a:bodyPr wrap="square" anchor="t" lIns="0" rIns="0" tIns="0" bIns="0">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8" name="TextBox 7"/>
          <p:cNvSpPr txBox="1"/>
          <p:nvPr/>
        </p:nvSpPr>
        <p:spPr>
          <a:xfrm>
            <a:off x="10058400" y="6547104"/>
            <a:ext cx="1307592" cy="274320"/>
          </a:xfrm>
          <a:prstGeom prst="rect">
            <a:avLst/>
          </a:prstGeom>
          <a:noFill/>
        </p:spPr>
        <p:txBody>
          <a:bodyPr wrap="square" anchor="t" lIns="0" rIns="0" tIns="0" bIns="0">
            <a:spAutoFit/>
          </a:bodyPr>
          <a:lstStyle/>
          <a:p>
            <a:pPr algn="r">
              <a:lnSpc>
                <a:spcPct val="100000"/>
              </a:lnSpc>
              <a:spcBef>
                <a:spcPts val="0"/>
              </a:spcBef>
              <a:spcAft>
                <a:spcPts val="800"/>
              </a:spcAft>
            </a:pPr>
            <a:r>
              <a:rPr sz="1100" b="1" i="0">
                <a:solidFill>
                  <a:srgbClr val="C88A00"/>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C88A00"/>
                </a:solidFill>
                <a:latin typeface="Arial"/>
              </a:rPr>
              <a:t>W  H  A  T     T  H  E     D  E  V  E  L  O  P  E  R     D  I  D</a:t>
            </a:r>
          </a:p>
        </p:txBody>
      </p:sp>
      <p:sp>
        <p:nvSpPr>
          <p:cNvPr id="4" name="TextBox 3"/>
          <p:cNvSpPr txBox="1"/>
          <p:nvPr/>
        </p:nvSpPr>
        <p:spPr>
          <a:xfrm>
            <a:off x="822960" y="868680"/>
            <a:ext cx="10515600" cy="1280160"/>
          </a:xfrm>
          <a:prstGeom prst="rect">
            <a:avLst/>
          </a:prstGeom>
          <a:noFill/>
        </p:spPr>
        <p:txBody>
          <a:bodyPr wrap="square" anchor="t" lIns="0" rIns="0" tIns="0" bIns="0">
            <a:spAutoFit/>
          </a:bodyPr>
          <a:lstStyle/>
          <a:p>
            <a:pPr algn="l">
              <a:lnSpc>
                <a:spcPct val="100000"/>
              </a:lnSpc>
              <a:spcBef>
                <a:spcPts val="0"/>
              </a:spcBef>
              <a:spcAft>
                <a:spcPts val="800"/>
              </a:spcAft>
            </a:pPr>
            <a:r>
              <a:rPr sz="3400" b="1" i="0">
                <a:solidFill>
                  <a:srgbClr val="003262"/>
                </a:solidFill>
                <a:latin typeface="Arial"/>
              </a:rPr>
              <a:t>Task distribution (3,099 tasks)</a:t>
            </a:r>
          </a:p>
        </p:txBody>
      </p:sp>
      <p:sp>
        <p:nvSpPr>
          <p:cNvPr id="5" name="Rectangle 4"/>
          <p:cNvSpPr/>
          <p:nvPr/>
        </p:nvSpPr>
        <p:spPr>
          <a:xfrm>
            <a:off x="822960" y="1874519"/>
            <a:ext cx="10515600" cy="475488"/>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874519"/>
            <a:ext cx="6858000" cy="475488"/>
          </a:xfrm>
          <a:prstGeom prst="rect">
            <a:avLst/>
          </a:prstGeom>
          <a:noFill/>
        </p:spPr>
        <p:txBody>
          <a:bodyPr wrap="square" anchor="ctr" lIns="0" rIns="0" tIns="0" bIns="0">
            <a:spAutoFit/>
          </a:bodyPr>
          <a:lstStyle/>
          <a:p>
            <a:pPr algn="l">
              <a:lnSpc>
                <a:spcPct val="100000"/>
              </a:lnSpc>
              <a:spcBef>
                <a:spcPts val="0"/>
              </a:spcBef>
              <a:spcAft>
                <a:spcPts val="800"/>
              </a:spcAft>
            </a:pPr>
            <a:r>
              <a:rPr sz="1700" b="1" i="0">
                <a:solidFill>
                  <a:srgbClr val="FFFFFF"/>
                </a:solidFill>
                <a:latin typeface="Arial"/>
              </a:rPr>
              <a:t>Category</a:t>
            </a:r>
          </a:p>
        </p:txBody>
      </p:sp>
      <p:sp>
        <p:nvSpPr>
          <p:cNvPr id="7" name="TextBox 6"/>
          <p:cNvSpPr txBox="1"/>
          <p:nvPr/>
        </p:nvSpPr>
        <p:spPr>
          <a:xfrm>
            <a:off x="8138160" y="1874519"/>
            <a:ext cx="1463040" cy="475488"/>
          </a:xfrm>
          <a:prstGeom prst="rect">
            <a:avLst/>
          </a:prstGeom>
          <a:noFill/>
        </p:spPr>
        <p:txBody>
          <a:bodyPr wrap="square" anchor="ctr" lIns="0" rIns="0" tIns="0" bIns="0">
            <a:spAutoFit/>
          </a:bodyPr>
          <a:lstStyle/>
          <a:p>
            <a:pPr algn="r">
              <a:lnSpc>
                <a:spcPct val="100000"/>
              </a:lnSpc>
              <a:spcBef>
                <a:spcPts val="0"/>
              </a:spcBef>
              <a:spcAft>
                <a:spcPts val="800"/>
              </a:spcAft>
            </a:pPr>
            <a:r>
              <a:rPr sz="1700" b="1" i="0">
                <a:solidFill>
                  <a:srgbClr val="FFFFFF"/>
                </a:solidFill>
                <a:latin typeface="Arial"/>
              </a:rPr>
              <a:t>Count</a:t>
            </a:r>
          </a:p>
        </p:txBody>
      </p:sp>
      <p:sp>
        <p:nvSpPr>
          <p:cNvPr id="8" name="TextBox 7"/>
          <p:cNvSpPr txBox="1"/>
          <p:nvPr/>
        </p:nvSpPr>
        <p:spPr>
          <a:xfrm>
            <a:off x="9601200" y="1874519"/>
            <a:ext cx="1463040" cy="475488"/>
          </a:xfrm>
          <a:prstGeom prst="rect">
            <a:avLst/>
          </a:prstGeom>
          <a:noFill/>
        </p:spPr>
        <p:txBody>
          <a:bodyPr wrap="square" anchor="ctr" lIns="0" rIns="0" tIns="0" bIns="0">
            <a:spAutoFit/>
          </a:bodyPr>
          <a:lstStyle/>
          <a:p>
            <a:pPr algn="r">
              <a:lnSpc>
                <a:spcPct val="100000"/>
              </a:lnSpc>
              <a:spcBef>
                <a:spcPts val="0"/>
              </a:spcBef>
              <a:spcAft>
                <a:spcPts val="800"/>
              </a:spcAft>
            </a:pPr>
            <a:r>
              <a:rPr sz="1700" b="1" i="0">
                <a:solidFill>
                  <a:srgbClr val="FDB515"/>
                </a:solidFill>
                <a:latin typeface="Arial"/>
              </a:rPr>
              <a:t>Share</a:t>
            </a:r>
          </a:p>
        </p:txBody>
      </p:sp>
      <p:sp>
        <p:nvSpPr>
          <p:cNvPr id="9" name="Rectangle 8"/>
          <p:cNvSpPr/>
          <p:nvPr/>
        </p:nvSpPr>
        <p:spPr>
          <a:xfrm>
            <a:off x="822960" y="2350007"/>
            <a:ext cx="1051560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2350007"/>
            <a:ext cx="6949440" cy="402336"/>
          </a:xfrm>
          <a:prstGeom prst="rect">
            <a:avLst/>
          </a:prstGeom>
          <a:noFill/>
        </p:spPr>
        <p:txBody>
          <a:bodyPr wrap="square" anchor="ctr" lIns="0" rIns="0" tIns="0" bIns="0">
            <a:spAutoFit/>
          </a:bodyPr>
          <a:lstStyle/>
          <a:p>
            <a:pPr algn="l">
              <a:lnSpc>
                <a:spcPct val="100000"/>
              </a:lnSpc>
              <a:spcBef>
                <a:spcPts val="0"/>
              </a:spcBef>
              <a:spcAft>
                <a:spcPts val="800"/>
              </a:spcAft>
            </a:pPr>
            <a:r>
              <a:rPr sz="1500" b="0" i="0">
                <a:solidFill>
                  <a:srgbClr val="1A1F2B"/>
                </a:solidFill>
                <a:latin typeface="Arial"/>
              </a:rPr>
              <a:t>Bug finding, reproducing &amp; fixing</a:t>
            </a:r>
          </a:p>
        </p:txBody>
      </p:sp>
      <p:sp>
        <p:nvSpPr>
          <p:cNvPr id="11" name="TextBox 10"/>
          <p:cNvSpPr txBox="1"/>
          <p:nvPr/>
        </p:nvSpPr>
        <p:spPr>
          <a:xfrm>
            <a:off x="8138160" y="2350007"/>
            <a:ext cx="1463040" cy="402336"/>
          </a:xfrm>
          <a:prstGeom prst="rect">
            <a:avLst/>
          </a:prstGeom>
          <a:noFill/>
        </p:spPr>
        <p:txBody>
          <a:bodyPr wrap="square" anchor="ctr" lIns="0" rIns="0" tIns="0" bIns="0">
            <a:spAutoFit/>
          </a:bodyPr>
          <a:lstStyle/>
          <a:p>
            <a:pPr algn="r">
              <a:lnSpc>
                <a:spcPct val="100000"/>
              </a:lnSpc>
              <a:spcBef>
                <a:spcPts val="0"/>
              </a:spcBef>
              <a:spcAft>
                <a:spcPts val="800"/>
              </a:spcAft>
            </a:pPr>
            <a:r>
              <a:rPr sz="1500" b="0" i="0">
                <a:solidFill>
                  <a:srgbClr val="4A5260"/>
                </a:solidFill>
                <a:latin typeface="Arial"/>
              </a:rPr>
              <a:t>~620</a:t>
            </a:r>
          </a:p>
        </p:txBody>
      </p:sp>
      <p:sp>
        <p:nvSpPr>
          <p:cNvPr id="12" name="TextBox 11"/>
          <p:cNvSpPr txBox="1"/>
          <p:nvPr/>
        </p:nvSpPr>
        <p:spPr>
          <a:xfrm>
            <a:off x="9601200" y="2350007"/>
            <a:ext cx="1463040" cy="402336"/>
          </a:xfrm>
          <a:prstGeom prst="rect">
            <a:avLst/>
          </a:prstGeom>
          <a:noFill/>
        </p:spPr>
        <p:txBody>
          <a:bodyPr wrap="square" anchor="ctr" lIns="0" rIns="0" tIns="0" bIns="0">
            <a:spAutoFit/>
          </a:bodyPr>
          <a:lstStyle/>
          <a:p>
            <a:pPr algn="r">
              <a:lnSpc>
                <a:spcPct val="100000"/>
              </a:lnSpc>
              <a:spcBef>
                <a:spcPts val="0"/>
              </a:spcBef>
              <a:spcAft>
                <a:spcPts val="800"/>
              </a:spcAft>
            </a:pPr>
            <a:r>
              <a:rPr sz="1500" b="1" i="0">
                <a:solidFill>
                  <a:srgbClr val="C88A00"/>
                </a:solidFill>
                <a:latin typeface="Arial"/>
              </a:rPr>
              <a:t>20%</a:t>
            </a:r>
          </a:p>
        </p:txBody>
      </p:sp>
      <p:sp>
        <p:nvSpPr>
          <p:cNvPr id="13" name="Rectangle 12"/>
          <p:cNvSpPr/>
          <p:nvPr/>
        </p:nvSpPr>
        <p:spPr>
          <a:xfrm>
            <a:off x="822960" y="2752343"/>
            <a:ext cx="10515600" cy="402336"/>
          </a:xfrm>
          <a:prstGeom prst="rect">
            <a:avLst/>
          </a:prstGeom>
          <a:solidFill>
            <a:srgbClr val="EFE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2752343"/>
            <a:ext cx="6949440" cy="402336"/>
          </a:xfrm>
          <a:prstGeom prst="rect">
            <a:avLst/>
          </a:prstGeom>
          <a:noFill/>
        </p:spPr>
        <p:txBody>
          <a:bodyPr wrap="square" anchor="ctr" lIns="0" rIns="0" tIns="0" bIns="0">
            <a:spAutoFit/>
          </a:bodyPr>
          <a:lstStyle/>
          <a:p>
            <a:pPr algn="l">
              <a:lnSpc>
                <a:spcPct val="100000"/>
              </a:lnSpc>
              <a:spcBef>
                <a:spcPts val="0"/>
              </a:spcBef>
              <a:spcAft>
                <a:spcPts val="800"/>
              </a:spcAft>
            </a:pPr>
            <a:r>
              <a:rPr sz="1500" b="0" i="0">
                <a:solidFill>
                  <a:srgbClr val="1A1F2B"/>
                </a:solidFill>
                <a:latin typeface="Arial"/>
              </a:rPr>
              <a:t>Feature implementation</a:t>
            </a:r>
          </a:p>
        </p:txBody>
      </p:sp>
      <p:sp>
        <p:nvSpPr>
          <p:cNvPr id="15" name="TextBox 14"/>
          <p:cNvSpPr txBox="1"/>
          <p:nvPr/>
        </p:nvSpPr>
        <p:spPr>
          <a:xfrm>
            <a:off x="8138160" y="2752343"/>
            <a:ext cx="1463040" cy="402336"/>
          </a:xfrm>
          <a:prstGeom prst="rect">
            <a:avLst/>
          </a:prstGeom>
          <a:noFill/>
        </p:spPr>
        <p:txBody>
          <a:bodyPr wrap="square" anchor="ctr" lIns="0" rIns="0" tIns="0" bIns="0">
            <a:spAutoFit/>
          </a:bodyPr>
          <a:lstStyle/>
          <a:p>
            <a:pPr algn="r">
              <a:lnSpc>
                <a:spcPct val="100000"/>
              </a:lnSpc>
              <a:spcBef>
                <a:spcPts val="0"/>
              </a:spcBef>
              <a:spcAft>
                <a:spcPts val="800"/>
              </a:spcAft>
            </a:pPr>
            <a:r>
              <a:rPr sz="1500" b="0" i="0">
                <a:solidFill>
                  <a:srgbClr val="4A5260"/>
                </a:solidFill>
                <a:latin typeface="Arial"/>
              </a:rPr>
              <a:t>~520</a:t>
            </a:r>
          </a:p>
        </p:txBody>
      </p:sp>
      <p:sp>
        <p:nvSpPr>
          <p:cNvPr id="16" name="TextBox 15"/>
          <p:cNvSpPr txBox="1"/>
          <p:nvPr/>
        </p:nvSpPr>
        <p:spPr>
          <a:xfrm>
            <a:off x="9601200" y="2752343"/>
            <a:ext cx="1463040" cy="402336"/>
          </a:xfrm>
          <a:prstGeom prst="rect">
            <a:avLst/>
          </a:prstGeom>
          <a:noFill/>
        </p:spPr>
        <p:txBody>
          <a:bodyPr wrap="square" anchor="ctr" lIns="0" rIns="0" tIns="0" bIns="0">
            <a:spAutoFit/>
          </a:bodyPr>
          <a:lstStyle/>
          <a:p>
            <a:pPr algn="r">
              <a:lnSpc>
                <a:spcPct val="100000"/>
              </a:lnSpc>
              <a:spcBef>
                <a:spcPts val="0"/>
              </a:spcBef>
              <a:spcAft>
                <a:spcPts val="800"/>
              </a:spcAft>
            </a:pPr>
            <a:r>
              <a:rPr sz="1500" b="1" i="0">
                <a:solidFill>
                  <a:srgbClr val="C88A00"/>
                </a:solidFill>
                <a:latin typeface="Arial"/>
              </a:rPr>
              <a:t>17%</a:t>
            </a:r>
          </a:p>
        </p:txBody>
      </p:sp>
      <p:sp>
        <p:nvSpPr>
          <p:cNvPr id="17" name="Rectangle 16"/>
          <p:cNvSpPr/>
          <p:nvPr/>
        </p:nvSpPr>
        <p:spPr>
          <a:xfrm>
            <a:off x="822960" y="3154679"/>
            <a:ext cx="1051560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3154679"/>
            <a:ext cx="6949440" cy="402336"/>
          </a:xfrm>
          <a:prstGeom prst="rect">
            <a:avLst/>
          </a:prstGeom>
          <a:noFill/>
        </p:spPr>
        <p:txBody>
          <a:bodyPr wrap="square" anchor="ctr" lIns="0" rIns="0" tIns="0" bIns="0">
            <a:spAutoFit/>
          </a:bodyPr>
          <a:lstStyle/>
          <a:p>
            <a:pPr algn="l">
              <a:lnSpc>
                <a:spcPct val="100000"/>
              </a:lnSpc>
              <a:spcBef>
                <a:spcPts val="0"/>
              </a:spcBef>
              <a:spcAft>
                <a:spcPts val="800"/>
              </a:spcAft>
            </a:pPr>
            <a:r>
              <a:rPr sz="1500" b="0" i="0">
                <a:solidFill>
                  <a:srgbClr val="1A1F2B"/>
                </a:solidFill>
                <a:latin typeface="Arial"/>
              </a:rPr>
              <a:t>UI / UX refinement</a:t>
            </a:r>
          </a:p>
        </p:txBody>
      </p:sp>
      <p:sp>
        <p:nvSpPr>
          <p:cNvPr id="19" name="TextBox 18"/>
          <p:cNvSpPr txBox="1"/>
          <p:nvPr/>
        </p:nvSpPr>
        <p:spPr>
          <a:xfrm>
            <a:off x="8138160" y="3154679"/>
            <a:ext cx="1463040" cy="402336"/>
          </a:xfrm>
          <a:prstGeom prst="rect">
            <a:avLst/>
          </a:prstGeom>
          <a:noFill/>
        </p:spPr>
        <p:txBody>
          <a:bodyPr wrap="square" anchor="ctr" lIns="0" rIns="0" tIns="0" bIns="0">
            <a:spAutoFit/>
          </a:bodyPr>
          <a:lstStyle/>
          <a:p>
            <a:pPr algn="r">
              <a:lnSpc>
                <a:spcPct val="100000"/>
              </a:lnSpc>
              <a:spcBef>
                <a:spcPts val="0"/>
              </a:spcBef>
              <a:spcAft>
                <a:spcPts val="800"/>
              </a:spcAft>
            </a:pPr>
            <a:r>
              <a:rPr sz="1500" b="0" i="0">
                <a:solidFill>
                  <a:srgbClr val="4A5260"/>
                </a:solidFill>
                <a:latin typeface="Arial"/>
              </a:rPr>
              <a:t>~360</a:t>
            </a:r>
          </a:p>
        </p:txBody>
      </p:sp>
      <p:sp>
        <p:nvSpPr>
          <p:cNvPr id="20" name="TextBox 19"/>
          <p:cNvSpPr txBox="1"/>
          <p:nvPr/>
        </p:nvSpPr>
        <p:spPr>
          <a:xfrm>
            <a:off x="9601200" y="3154679"/>
            <a:ext cx="1463040" cy="402336"/>
          </a:xfrm>
          <a:prstGeom prst="rect">
            <a:avLst/>
          </a:prstGeom>
          <a:noFill/>
        </p:spPr>
        <p:txBody>
          <a:bodyPr wrap="square" anchor="ctr" lIns="0" rIns="0" tIns="0" bIns="0">
            <a:spAutoFit/>
          </a:bodyPr>
          <a:lstStyle/>
          <a:p>
            <a:pPr algn="r">
              <a:lnSpc>
                <a:spcPct val="100000"/>
              </a:lnSpc>
              <a:spcBef>
                <a:spcPts val="0"/>
              </a:spcBef>
              <a:spcAft>
                <a:spcPts val="800"/>
              </a:spcAft>
            </a:pPr>
            <a:r>
              <a:rPr sz="1500" b="1" i="0">
                <a:solidFill>
                  <a:srgbClr val="C88A00"/>
                </a:solidFill>
                <a:latin typeface="Arial"/>
              </a:rPr>
              <a:t>12%</a:t>
            </a:r>
          </a:p>
        </p:txBody>
      </p:sp>
      <p:sp>
        <p:nvSpPr>
          <p:cNvPr id="21" name="Rectangle 20"/>
          <p:cNvSpPr/>
          <p:nvPr/>
        </p:nvSpPr>
        <p:spPr>
          <a:xfrm>
            <a:off x="822960" y="3557015"/>
            <a:ext cx="10515600" cy="402336"/>
          </a:xfrm>
          <a:prstGeom prst="rect">
            <a:avLst/>
          </a:prstGeom>
          <a:solidFill>
            <a:srgbClr val="EFE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3557015"/>
            <a:ext cx="6949440" cy="402336"/>
          </a:xfrm>
          <a:prstGeom prst="rect">
            <a:avLst/>
          </a:prstGeom>
          <a:noFill/>
        </p:spPr>
        <p:txBody>
          <a:bodyPr wrap="square" anchor="ctr" lIns="0" rIns="0" tIns="0" bIns="0">
            <a:spAutoFit/>
          </a:bodyPr>
          <a:lstStyle/>
          <a:p>
            <a:pPr algn="l">
              <a:lnSpc>
                <a:spcPct val="100000"/>
              </a:lnSpc>
              <a:spcBef>
                <a:spcPts val="0"/>
              </a:spcBef>
              <a:spcAft>
                <a:spcPts val="800"/>
              </a:spcAft>
            </a:pPr>
            <a:r>
              <a:rPr sz="1500" b="0" i="0">
                <a:solidFill>
                  <a:srgbClr val="1A1F2B"/>
                </a:solidFill>
                <a:latin typeface="Arial"/>
              </a:rPr>
              <a:t>Paper writing &amp; building</a:t>
            </a:r>
          </a:p>
        </p:txBody>
      </p:sp>
      <p:sp>
        <p:nvSpPr>
          <p:cNvPr id="23" name="TextBox 22"/>
          <p:cNvSpPr txBox="1"/>
          <p:nvPr/>
        </p:nvSpPr>
        <p:spPr>
          <a:xfrm>
            <a:off x="8138160" y="3557015"/>
            <a:ext cx="1463040" cy="402336"/>
          </a:xfrm>
          <a:prstGeom prst="rect">
            <a:avLst/>
          </a:prstGeom>
          <a:noFill/>
        </p:spPr>
        <p:txBody>
          <a:bodyPr wrap="square" anchor="ctr" lIns="0" rIns="0" tIns="0" bIns="0">
            <a:spAutoFit/>
          </a:bodyPr>
          <a:lstStyle/>
          <a:p>
            <a:pPr algn="r">
              <a:lnSpc>
                <a:spcPct val="100000"/>
              </a:lnSpc>
              <a:spcBef>
                <a:spcPts val="0"/>
              </a:spcBef>
              <a:spcAft>
                <a:spcPts val="800"/>
              </a:spcAft>
            </a:pPr>
            <a:r>
              <a:rPr sz="1500" b="0" i="0">
                <a:solidFill>
                  <a:srgbClr val="4A5260"/>
                </a:solidFill>
                <a:latin typeface="Arial"/>
              </a:rPr>
              <a:t>~310</a:t>
            </a:r>
          </a:p>
        </p:txBody>
      </p:sp>
      <p:sp>
        <p:nvSpPr>
          <p:cNvPr id="24" name="TextBox 23"/>
          <p:cNvSpPr txBox="1"/>
          <p:nvPr/>
        </p:nvSpPr>
        <p:spPr>
          <a:xfrm>
            <a:off x="9601200" y="3557015"/>
            <a:ext cx="1463040" cy="402336"/>
          </a:xfrm>
          <a:prstGeom prst="rect">
            <a:avLst/>
          </a:prstGeom>
          <a:noFill/>
        </p:spPr>
        <p:txBody>
          <a:bodyPr wrap="square" anchor="ctr" lIns="0" rIns="0" tIns="0" bIns="0">
            <a:spAutoFit/>
          </a:bodyPr>
          <a:lstStyle/>
          <a:p>
            <a:pPr algn="r">
              <a:lnSpc>
                <a:spcPct val="100000"/>
              </a:lnSpc>
              <a:spcBef>
                <a:spcPts val="0"/>
              </a:spcBef>
              <a:spcAft>
                <a:spcPts val="800"/>
              </a:spcAft>
            </a:pPr>
            <a:r>
              <a:rPr sz="1500" b="1" i="0">
                <a:solidFill>
                  <a:srgbClr val="C88A00"/>
                </a:solidFill>
                <a:latin typeface="Arial"/>
              </a:rPr>
              <a:t>10%</a:t>
            </a:r>
          </a:p>
        </p:txBody>
      </p:sp>
      <p:sp>
        <p:nvSpPr>
          <p:cNvPr id="25" name="Rectangle 24"/>
          <p:cNvSpPr/>
          <p:nvPr/>
        </p:nvSpPr>
        <p:spPr>
          <a:xfrm>
            <a:off x="822960" y="3959351"/>
            <a:ext cx="1051560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51560" y="3959351"/>
            <a:ext cx="6949440" cy="402336"/>
          </a:xfrm>
          <a:prstGeom prst="rect">
            <a:avLst/>
          </a:prstGeom>
          <a:noFill/>
        </p:spPr>
        <p:txBody>
          <a:bodyPr wrap="square" anchor="ctr" lIns="0" rIns="0" tIns="0" bIns="0">
            <a:spAutoFit/>
          </a:bodyPr>
          <a:lstStyle/>
          <a:p>
            <a:pPr algn="l">
              <a:lnSpc>
                <a:spcPct val="100000"/>
              </a:lnSpc>
              <a:spcBef>
                <a:spcPts val="0"/>
              </a:spcBef>
              <a:spcAft>
                <a:spcPts val="800"/>
              </a:spcAft>
            </a:pPr>
            <a:r>
              <a:rPr sz="1500" b="0" i="0">
                <a:solidFill>
                  <a:srgbClr val="1A1F2B"/>
                </a:solidFill>
                <a:latin typeface="Arial"/>
              </a:rPr>
              <a:t>Code quality / refactoring</a:t>
            </a:r>
          </a:p>
        </p:txBody>
      </p:sp>
      <p:sp>
        <p:nvSpPr>
          <p:cNvPr id="27" name="TextBox 26"/>
          <p:cNvSpPr txBox="1"/>
          <p:nvPr/>
        </p:nvSpPr>
        <p:spPr>
          <a:xfrm>
            <a:off x="8138160" y="3959351"/>
            <a:ext cx="1463040" cy="402336"/>
          </a:xfrm>
          <a:prstGeom prst="rect">
            <a:avLst/>
          </a:prstGeom>
          <a:noFill/>
        </p:spPr>
        <p:txBody>
          <a:bodyPr wrap="square" anchor="ctr" lIns="0" rIns="0" tIns="0" bIns="0">
            <a:spAutoFit/>
          </a:bodyPr>
          <a:lstStyle/>
          <a:p>
            <a:pPr algn="r">
              <a:lnSpc>
                <a:spcPct val="100000"/>
              </a:lnSpc>
              <a:spcBef>
                <a:spcPts val="0"/>
              </a:spcBef>
              <a:spcAft>
                <a:spcPts val="800"/>
              </a:spcAft>
            </a:pPr>
            <a:r>
              <a:rPr sz="1500" b="0" i="0">
                <a:solidFill>
                  <a:srgbClr val="4A5260"/>
                </a:solidFill>
                <a:latin typeface="Arial"/>
              </a:rPr>
              <a:t>~250</a:t>
            </a:r>
          </a:p>
        </p:txBody>
      </p:sp>
      <p:sp>
        <p:nvSpPr>
          <p:cNvPr id="28" name="TextBox 27"/>
          <p:cNvSpPr txBox="1"/>
          <p:nvPr/>
        </p:nvSpPr>
        <p:spPr>
          <a:xfrm>
            <a:off x="9601200" y="3959351"/>
            <a:ext cx="1463040" cy="402336"/>
          </a:xfrm>
          <a:prstGeom prst="rect">
            <a:avLst/>
          </a:prstGeom>
          <a:noFill/>
        </p:spPr>
        <p:txBody>
          <a:bodyPr wrap="square" anchor="ctr" lIns="0" rIns="0" tIns="0" bIns="0">
            <a:spAutoFit/>
          </a:bodyPr>
          <a:lstStyle/>
          <a:p>
            <a:pPr algn="r">
              <a:lnSpc>
                <a:spcPct val="100000"/>
              </a:lnSpc>
              <a:spcBef>
                <a:spcPts val="0"/>
              </a:spcBef>
              <a:spcAft>
                <a:spcPts val="800"/>
              </a:spcAft>
            </a:pPr>
            <a:r>
              <a:rPr sz="1500" b="1" i="0">
                <a:solidFill>
                  <a:srgbClr val="C88A00"/>
                </a:solidFill>
                <a:latin typeface="Arial"/>
              </a:rPr>
              <a:t>8%</a:t>
            </a:r>
          </a:p>
        </p:txBody>
      </p:sp>
      <p:sp>
        <p:nvSpPr>
          <p:cNvPr id="29" name="Rectangle 28"/>
          <p:cNvSpPr/>
          <p:nvPr/>
        </p:nvSpPr>
        <p:spPr>
          <a:xfrm>
            <a:off x="822960" y="4361687"/>
            <a:ext cx="10515600" cy="402336"/>
          </a:xfrm>
          <a:prstGeom prst="rect">
            <a:avLst/>
          </a:prstGeom>
          <a:solidFill>
            <a:srgbClr val="EFE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51560" y="4361687"/>
            <a:ext cx="6949440" cy="402336"/>
          </a:xfrm>
          <a:prstGeom prst="rect">
            <a:avLst/>
          </a:prstGeom>
          <a:noFill/>
        </p:spPr>
        <p:txBody>
          <a:bodyPr wrap="square" anchor="ctr" lIns="0" rIns="0" tIns="0" bIns="0">
            <a:spAutoFit/>
          </a:bodyPr>
          <a:lstStyle/>
          <a:p>
            <a:pPr algn="l">
              <a:lnSpc>
                <a:spcPct val="100000"/>
              </a:lnSpc>
              <a:spcBef>
                <a:spcPts val="0"/>
              </a:spcBef>
              <a:spcAft>
                <a:spcPts val="800"/>
              </a:spcAft>
            </a:pPr>
            <a:r>
              <a:rPr sz="1500" b="0" i="0">
                <a:solidFill>
                  <a:srgbClr val="1A1F2B"/>
                </a:solidFill>
                <a:latin typeface="Arial"/>
              </a:rPr>
              <a:t>Testing &amp; CI</a:t>
            </a:r>
          </a:p>
        </p:txBody>
      </p:sp>
      <p:sp>
        <p:nvSpPr>
          <p:cNvPr id="31" name="TextBox 30"/>
          <p:cNvSpPr txBox="1"/>
          <p:nvPr/>
        </p:nvSpPr>
        <p:spPr>
          <a:xfrm>
            <a:off x="8138160" y="4361687"/>
            <a:ext cx="1463040" cy="402336"/>
          </a:xfrm>
          <a:prstGeom prst="rect">
            <a:avLst/>
          </a:prstGeom>
          <a:noFill/>
        </p:spPr>
        <p:txBody>
          <a:bodyPr wrap="square" anchor="ctr" lIns="0" rIns="0" tIns="0" bIns="0">
            <a:spAutoFit/>
          </a:bodyPr>
          <a:lstStyle/>
          <a:p>
            <a:pPr algn="r">
              <a:lnSpc>
                <a:spcPct val="100000"/>
              </a:lnSpc>
              <a:spcBef>
                <a:spcPts val="0"/>
              </a:spcBef>
              <a:spcAft>
                <a:spcPts val="800"/>
              </a:spcAft>
            </a:pPr>
            <a:r>
              <a:rPr sz="1500" b="0" i="0">
                <a:solidFill>
                  <a:srgbClr val="4A5260"/>
                </a:solidFill>
                <a:latin typeface="Arial"/>
              </a:rPr>
              <a:t>~210</a:t>
            </a:r>
          </a:p>
        </p:txBody>
      </p:sp>
      <p:sp>
        <p:nvSpPr>
          <p:cNvPr id="32" name="TextBox 31"/>
          <p:cNvSpPr txBox="1"/>
          <p:nvPr/>
        </p:nvSpPr>
        <p:spPr>
          <a:xfrm>
            <a:off x="9601200" y="4361687"/>
            <a:ext cx="1463040" cy="402336"/>
          </a:xfrm>
          <a:prstGeom prst="rect">
            <a:avLst/>
          </a:prstGeom>
          <a:noFill/>
        </p:spPr>
        <p:txBody>
          <a:bodyPr wrap="square" anchor="ctr" lIns="0" rIns="0" tIns="0" bIns="0">
            <a:spAutoFit/>
          </a:bodyPr>
          <a:lstStyle/>
          <a:p>
            <a:pPr algn="r">
              <a:lnSpc>
                <a:spcPct val="100000"/>
              </a:lnSpc>
              <a:spcBef>
                <a:spcPts val="0"/>
              </a:spcBef>
              <a:spcAft>
                <a:spcPts val="800"/>
              </a:spcAft>
            </a:pPr>
            <a:r>
              <a:rPr sz="1500" b="1" i="0">
                <a:solidFill>
                  <a:srgbClr val="C88A00"/>
                </a:solidFill>
                <a:latin typeface="Arial"/>
              </a:rPr>
              <a:t>7%</a:t>
            </a:r>
          </a:p>
        </p:txBody>
      </p:sp>
      <p:sp>
        <p:nvSpPr>
          <p:cNvPr id="33" name="Rectangle 32"/>
          <p:cNvSpPr/>
          <p:nvPr/>
        </p:nvSpPr>
        <p:spPr>
          <a:xfrm>
            <a:off x="822960" y="4764023"/>
            <a:ext cx="1051560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1560" y="4764023"/>
            <a:ext cx="6949440" cy="402336"/>
          </a:xfrm>
          <a:prstGeom prst="rect">
            <a:avLst/>
          </a:prstGeom>
          <a:noFill/>
        </p:spPr>
        <p:txBody>
          <a:bodyPr wrap="square" anchor="ctr" lIns="0" rIns="0" tIns="0" bIns="0">
            <a:spAutoFit/>
          </a:bodyPr>
          <a:lstStyle/>
          <a:p>
            <a:pPr algn="l">
              <a:lnSpc>
                <a:spcPct val="100000"/>
              </a:lnSpc>
              <a:spcBef>
                <a:spcPts val="0"/>
              </a:spcBef>
              <a:spcAft>
                <a:spcPts val="800"/>
              </a:spcAft>
            </a:pPr>
            <a:r>
              <a:rPr sz="1500" b="0" i="0">
                <a:solidFill>
                  <a:srgbClr val="1A1F2B"/>
                </a:solidFill>
                <a:latin typeface="Arial"/>
              </a:rPr>
              <a:t>General assistance (weather, travel, stocks…)</a:t>
            </a:r>
          </a:p>
        </p:txBody>
      </p:sp>
      <p:sp>
        <p:nvSpPr>
          <p:cNvPr id="35" name="TextBox 34"/>
          <p:cNvSpPr txBox="1"/>
          <p:nvPr/>
        </p:nvSpPr>
        <p:spPr>
          <a:xfrm>
            <a:off x="8138160" y="4764023"/>
            <a:ext cx="1463040" cy="402336"/>
          </a:xfrm>
          <a:prstGeom prst="rect">
            <a:avLst/>
          </a:prstGeom>
          <a:noFill/>
        </p:spPr>
        <p:txBody>
          <a:bodyPr wrap="square" anchor="ctr" lIns="0" rIns="0" tIns="0" bIns="0">
            <a:spAutoFit/>
          </a:bodyPr>
          <a:lstStyle/>
          <a:p>
            <a:pPr algn="r">
              <a:lnSpc>
                <a:spcPct val="100000"/>
              </a:lnSpc>
              <a:spcBef>
                <a:spcPts val="0"/>
              </a:spcBef>
              <a:spcAft>
                <a:spcPts val="800"/>
              </a:spcAft>
            </a:pPr>
            <a:r>
              <a:rPr sz="1500" b="0" i="0">
                <a:solidFill>
                  <a:srgbClr val="4A5260"/>
                </a:solidFill>
                <a:latin typeface="Arial"/>
              </a:rPr>
              <a:t>~210</a:t>
            </a:r>
          </a:p>
        </p:txBody>
      </p:sp>
      <p:sp>
        <p:nvSpPr>
          <p:cNvPr id="36" name="TextBox 35"/>
          <p:cNvSpPr txBox="1"/>
          <p:nvPr/>
        </p:nvSpPr>
        <p:spPr>
          <a:xfrm>
            <a:off x="9601200" y="4764023"/>
            <a:ext cx="1463040" cy="402336"/>
          </a:xfrm>
          <a:prstGeom prst="rect">
            <a:avLst/>
          </a:prstGeom>
          <a:noFill/>
        </p:spPr>
        <p:txBody>
          <a:bodyPr wrap="square" anchor="ctr" lIns="0" rIns="0" tIns="0" bIns="0">
            <a:spAutoFit/>
          </a:bodyPr>
          <a:lstStyle/>
          <a:p>
            <a:pPr algn="r">
              <a:lnSpc>
                <a:spcPct val="100000"/>
              </a:lnSpc>
              <a:spcBef>
                <a:spcPts val="0"/>
              </a:spcBef>
              <a:spcAft>
                <a:spcPts val="800"/>
              </a:spcAft>
            </a:pPr>
            <a:r>
              <a:rPr sz="1500" b="1" i="0">
                <a:solidFill>
                  <a:srgbClr val="C88A00"/>
                </a:solidFill>
                <a:latin typeface="Arial"/>
              </a:rPr>
              <a:t>7%</a:t>
            </a:r>
          </a:p>
        </p:txBody>
      </p:sp>
      <p:sp>
        <p:nvSpPr>
          <p:cNvPr id="37" name="Rectangle 36"/>
          <p:cNvSpPr/>
          <p:nvPr/>
        </p:nvSpPr>
        <p:spPr>
          <a:xfrm>
            <a:off x="822960" y="5166359"/>
            <a:ext cx="10515600" cy="402336"/>
          </a:xfrm>
          <a:prstGeom prst="rect">
            <a:avLst/>
          </a:prstGeom>
          <a:solidFill>
            <a:srgbClr val="EFE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1560" y="5166359"/>
            <a:ext cx="6949440" cy="402336"/>
          </a:xfrm>
          <a:prstGeom prst="rect">
            <a:avLst/>
          </a:prstGeom>
          <a:noFill/>
        </p:spPr>
        <p:txBody>
          <a:bodyPr wrap="square" anchor="ctr" lIns="0" rIns="0" tIns="0" bIns="0">
            <a:spAutoFit/>
          </a:bodyPr>
          <a:lstStyle/>
          <a:p>
            <a:pPr algn="l">
              <a:lnSpc>
                <a:spcPct val="100000"/>
              </a:lnSpc>
              <a:spcBef>
                <a:spcPts val="0"/>
              </a:spcBef>
              <a:spcAft>
                <a:spcPts val="800"/>
              </a:spcAft>
            </a:pPr>
            <a:r>
              <a:rPr sz="1500" b="0" i="0">
                <a:solidFill>
                  <a:srgbClr val="1A1F2B"/>
                </a:solidFill>
                <a:latin typeface="Arial"/>
              </a:rPr>
              <a:t>Git operations</a:t>
            </a:r>
          </a:p>
        </p:txBody>
      </p:sp>
      <p:sp>
        <p:nvSpPr>
          <p:cNvPr id="39" name="TextBox 38"/>
          <p:cNvSpPr txBox="1"/>
          <p:nvPr/>
        </p:nvSpPr>
        <p:spPr>
          <a:xfrm>
            <a:off x="8138160" y="5166359"/>
            <a:ext cx="1463040" cy="402336"/>
          </a:xfrm>
          <a:prstGeom prst="rect">
            <a:avLst/>
          </a:prstGeom>
          <a:noFill/>
        </p:spPr>
        <p:txBody>
          <a:bodyPr wrap="square" anchor="ctr" lIns="0" rIns="0" tIns="0" bIns="0">
            <a:spAutoFit/>
          </a:bodyPr>
          <a:lstStyle/>
          <a:p>
            <a:pPr algn="r">
              <a:lnSpc>
                <a:spcPct val="100000"/>
              </a:lnSpc>
              <a:spcBef>
                <a:spcPts val="0"/>
              </a:spcBef>
              <a:spcAft>
                <a:spcPts val="800"/>
              </a:spcAft>
            </a:pPr>
            <a:r>
              <a:rPr sz="1500" b="0" i="0">
                <a:solidFill>
                  <a:srgbClr val="4A5260"/>
                </a:solidFill>
                <a:latin typeface="Arial"/>
              </a:rPr>
              <a:t>~155</a:t>
            </a:r>
          </a:p>
        </p:txBody>
      </p:sp>
      <p:sp>
        <p:nvSpPr>
          <p:cNvPr id="40" name="TextBox 39"/>
          <p:cNvSpPr txBox="1"/>
          <p:nvPr/>
        </p:nvSpPr>
        <p:spPr>
          <a:xfrm>
            <a:off x="9601200" y="5166359"/>
            <a:ext cx="1463040" cy="402336"/>
          </a:xfrm>
          <a:prstGeom prst="rect">
            <a:avLst/>
          </a:prstGeom>
          <a:noFill/>
        </p:spPr>
        <p:txBody>
          <a:bodyPr wrap="square" anchor="ctr" lIns="0" rIns="0" tIns="0" bIns="0">
            <a:spAutoFit/>
          </a:bodyPr>
          <a:lstStyle/>
          <a:p>
            <a:pPr algn="r">
              <a:lnSpc>
                <a:spcPct val="100000"/>
              </a:lnSpc>
              <a:spcBef>
                <a:spcPts val="0"/>
              </a:spcBef>
              <a:spcAft>
                <a:spcPts val="800"/>
              </a:spcAft>
            </a:pPr>
            <a:r>
              <a:rPr sz="1500" b="1" i="0">
                <a:solidFill>
                  <a:srgbClr val="C88A00"/>
                </a:solidFill>
                <a:latin typeface="Arial"/>
              </a:rPr>
              <a:t>5%</a:t>
            </a:r>
          </a:p>
        </p:txBody>
      </p:sp>
      <p:sp>
        <p:nvSpPr>
          <p:cNvPr id="41" name="Rectangle 40"/>
          <p:cNvSpPr/>
          <p:nvPr/>
        </p:nvSpPr>
        <p:spPr>
          <a:xfrm>
            <a:off x="822960" y="5568695"/>
            <a:ext cx="1051560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5568695"/>
            <a:ext cx="6949440" cy="402336"/>
          </a:xfrm>
          <a:prstGeom prst="rect">
            <a:avLst/>
          </a:prstGeom>
          <a:noFill/>
        </p:spPr>
        <p:txBody>
          <a:bodyPr wrap="square" anchor="ctr" lIns="0" rIns="0" tIns="0" bIns="0">
            <a:spAutoFit/>
          </a:bodyPr>
          <a:lstStyle/>
          <a:p>
            <a:pPr algn="l">
              <a:lnSpc>
                <a:spcPct val="100000"/>
              </a:lnSpc>
              <a:spcBef>
                <a:spcPts val="0"/>
              </a:spcBef>
              <a:spcAft>
                <a:spcPts val="800"/>
              </a:spcAft>
            </a:pPr>
            <a:r>
              <a:rPr sz="1500" b="0" i="0">
                <a:solidFill>
                  <a:srgbClr val="1A1F2B"/>
                </a:solidFill>
                <a:latin typeface="Arial"/>
              </a:rPr>
              <a:t>Greetings &amp; identity</a:t>
            </a:r>
          </a:p>
        </p:txBody>
      </p:sp>
      <p:sp>
        <p:nvSpPr>
          <p:cNvPr id="43" name="TextBox 42"/>
          <p:cNvSpPr txBox="1"/>
          <p:nvPr/>
        </p:nvSpPr>
        <p:spPr>
          <a:xfrm>
            <a:off x="8138160" y="5568695"/>
            <a:ext cx="1463040" cy="402336"/>
          </a:xfrm>
          <a:prstGeom prst="rect">
            <a:avLst/>
          </a:prstGeom>
          <a:noFill/>
        </p:spPr>
        <p:txBody>
          <a:bodyPr wrap="square" anchor="ctr" lIns="0" rIns="0" tIns="0" bIns="0">
            <a:spAutoFit/>
          </a:bodyPr>
          <a:lstStyle/>
          <a:p>
            <a:pPr algn="r">
              <a:lnSpc>
                <a:spcPct val="100000"/>
              </a:lnSpc>
              <a:spcBef>
                <a:spcPts val="0"/>
              </a:spcBef>
              <a:spcAft>
                <a:spcPts val="800"/>
              </a:spcAft>
            </a:pPr>
            <a:r>
              <a:rPr sz="1500" b="0" i="0">
                <a:solidFill>
                  <a:srgbClr val="4A5260"/>
                </a:solidFill>
                <a:latin typeface="Arial"/>
              </a:rPr>
              <a:t>~150</a:t>
            </a:r>
          </a:p>
        </p:txBody>
      </p:sp>
      <p:sp>
        <p:nvSpPr>
          <p:cNvPr id="44" name="TextBox 43"/>
          <p:cNvSpPr txBox="1"/>
          <p:nvPr/>
        </p:nvSpPr>
        <p:spPr>
          <a:xfrm>
            <a:off x="9601200" y="5568695"/>
            <a:ext cx="1463040" cy="402336"/>
          </a:xfrm>
          <a:prstGeom prst="rect">
            <a:avLst/>
          </a:prstGeom>
          <a:noFill/>
        </p:spPr>
        <p:txBody>
          <a:bodyPr wrap="square" anchor="ctr" lIns="0" rIns="0" tIns="0" bIns="0">
            <a:spAutoFit/>
          </a:bodyPr>
          <a:lstStyle/>
          <a:p>
            <a:pPr algn="r">
              <a:lnSpc>
                <a:spcPct val="100000"/>
              </a:lnSpc>
              <a:spcBef>
                <a:spcPts val="0"/>
              </a:spcBef>
              <a:spcAft>
                <a:spcPts val="800"/>
              </a:spcAft>
            </a:pPr>
            <a:r>
              <a:rPr sz="1500" b="1" i="0">
                <a:solidFill>
                  <a:srgbClr val="C88A00"/>
                </a:solidFill>
                <a:latin typeface="Arial"/>
              </a:rPr>
              <a:t>5%</a:t>
            </a:r>
          </a:p>
        </p:txBody>
      </p:sp>
      <p:sp>
        <p:nvSpPr>
          <p:cNvPr id="45" name="Rectangle 44"/>
          <p:cNvSpPr/>
          <p:nvPr/>
        </p:nvSpPr>
        <p:spPr>
          <a:xfrm>
            <a:off x="822960" y="5971031"/>
            <a:ext cx="10515600" cy="402336"/>
          </a:xfrm>
          <a:prstGeom prst="rect">
            <a:avLst/>
          </a:prstGeom>
          <a:solidFill>
            <a:srgbClr val="EFE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51560" y="5971031"/>
            <a:ext cx="6949440" cy="402336"/>
          </a:xfrm>
          <a:prstGeom prst="rect">
            <a:avLst/>
          </a:prstGeom>
          <a:noFill/>
        </p:spPr>
        <p:txBody>
          <a:bodyPr wrap="square" anchor="ctr" lIns="0" rIns="0" tIns="0" bIns="0">
            <a:spAutoFit/>
          </a:bodyPr>
          <a:lstStyle/>
          <a:p>
            <a:pPr algn="l">
              <a:lnSpc>
                <a:spcPct val="100000"/>
              </a:lnSpc>
              <a:spcBef>
                <a:spcPts val="0"/>
              </a:spcBef>
              <a:spcAft>
                <a:spcPts val="800"/>
              </a:spcAft>
            </a:pPr>
            <a:r>
              <a:rPr sz="1500" b="0" i="0">
                <a:solidFill>
                  <a:srgbClr val="1A1F2B"/>
                </a:solidFill>
                <a:latin typeface="Arial"/>
              </a:rPr>
              <a:t>Communication / smart-home / other</a:t>
            </a:r>
          </a:p>
        </p:txBody>
      </p:sp>
      <p:sp>
        <p:nvSpPr>
          <p:cNvPr id="47" name="TextBox 46"/>
          <p:cNvSpPr txBox="1"/>
          <p:nvPr/>
        </p:nvSpPr>
        <p:spPr>
          <a:xfrm>
            <a:off x="8138160" y="5971031"/>
            <a:ext cx="1463040" cy="402336"/>
          </a:xfrm>
          <a:prstGeom prst="rect">
            <a:avLst/>
          </a:prstGeom>
          <a:noFill/>
        </p:spPr>
        <p:txBody>
          <a:bodyPr wrap="square" anchor="ctr" lIns="0" rIns="0" tIns="0" bIns="0">
            <a:spAutoFit/>
          </a:bodyPr>
          <a:lstStyle/>
          <a:p>
            <a:pPr algn="r">
              <a:lnSpc>
                <a:spcPct val="100000"/>
              </a:lnSpc>
              <a:spcBef>
                <a:spcPts val="0"/>
              </a:spcBef>
              <a:spcAft>
                <a:spcPts val="800"/>
              </a:spcAft>
            </a:pPr>
            <a:r>
              <a:rPr sz="1500" b="0" i="0">
                <a:solidFill>
                  <a:srgbClr val="4A5260"/>
                </a:solidFill>
                <a:latin typeface="Arial"/>
              </a:rPr>
              <a:t>~290</a:t>
            </a:r>
          </a:p>
        </p:txBody>
      </p:sp>
      <p:sp>
        <p:nvSpPr>
          <p:cNvPr id="48" name="TextBox 47"/>
          <p:cNvSpPr txBox="1"/>
          <p:nvPr/>
        </p:nvSpPr>
        <p:spPr>
          <a:xfrm>
            <a:off x="9601200" y="5971031"/>
            <a:ext cx="1463040" cy="402336"/>
          </a:xfrm>
          <a:prstGeom prst="rect">
            <a:avLst/>
          </a:prstGeom>
          <a:noFill/>
        </p:spPr>
        <p:txBody>
          <a:bodyPr wrap="square" anchor="ctr" lIns="0" rIns="0" tIns="0" bIns="0">
            <a:spAutoFit/>
          </a:bodyPr>
          <a:lstStyle/>
          <a:p>
            <a:pPr algn="r">
              <a:lnSpc>
                <a:spcPct val="100000"/>
              </a:lnSpc>
              <a:spcBef>
                <a:spcPts val="0"/>
              </a:spcBef>
              <a:spcAft>
                <a:spcPts val="800"/>
              </a:spcAft>
            </a:pPr>
            <a:r>
              <a:rPr sz="1500" b="1" i="0">
                <a:solidFill>
                  <a:srgbClr val="C88A00"/>
                </a:solidFill>
                <a:latin typeface="Arial"/>
              </a:rPr>
              <a:t>10%</a:t>
            </a:r>
          </a:p>
        </p:txBody>
      </p:sp>
      <p:sp>
        <p:nvSpPr>
          <p:cNvPr id="49" name="Rectangle 48"/>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22960" y="6547104"/>
            <a:ext cx="8229600" cy="274320"/>
          </a:xfrm>
          <a:prstGeom prst="rect">
            <a:avLst/>
          </a:prstGeom>
          <a:noFill/>
        </p:spPr>
        <p:txBody>
          <a:bodyPr wrap="square" anchor="t" lIns="0" rIns="0" tIns="0" bIns="0">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51" name="TextBox 50"/>
          <p:cNvSpPr txBox="1"/>
          <p:nvPr/>
        </p:nvSpPr>
        <p:spPr>
          <a:xfrm>
            <a:off x="10058400" y="6547104"/>
            <a:ext cx="1307592" cy="274320"/>
          </a:xfrm>
          <a:prstGeom prst="rect">
            <a:avLst/>
          </a:prstGeom>
          <a:noFill/>
        </p:spPr>
        <p:txBody>
          <a:bodyPr wrap="square" anchor="t" lIns="0" rIns="0" tIns="0" bIns="0">
            <a:spAutoFit/>
          </a:bodyPr>
          <a:lstStyle/>
          <a:p>
            <a:pPr algn="r">
              <a:lnSpc>
                <a:spcPct val="100000"/>
              </a:lnSpc>
              <a:spcBef>
                <a:spcPts val="0"/>
              </a:spcBef>
              <a:spcAft>
                <a:spcPts val="800"/>
              </a:spcAft>
            </a:pPr>
            <a:r>
              <a:rPr sz="1100" b="1" i="0">
                <a:solidFill>
                  <a:srgbClr val="C88A00"/>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C88A00"/>
                </a:solidFill>
                <a:latin typeface="Arial"/>
              </a:rPr>
              <a:t>F  I  N  D  I  N  G  S</a:t>
            </a:r>
          </a:p>
        </p:txBody>
      </p:sp>
      <p:sp>
        <p:nvSpPr>
          <p:cNvPr id="4" name="TextBox 3"/>
          <p:cNvSpPr txBox="1"/>
          <p:nvPr/>
        </p:nvSpPr>
        <p:spPr>
          <a:xfrm>
            <a:off x="822960" y="868680"/>
            <a:ext cx="10515600" cy="1280160"/>
          </a:xfrm>
          <a:prstGeom prst="rect">
            <a:avLst/>
          </a:prstGeom>
          <a:noFill/>
        </p:spPr>
        <p:txBody>
          <a:bodyPr wrap="square" anchor="t" lIns="0" rIns="0" tIns="0" bIns="0">
            <a:spAutoFit/>
          </a:bodyPr>
          <a:lstStyle/>
          <a:p>
            <a:pPr algn="l">
              <a:lnSpc>
                <a:spcPct val="100000"/>
              </a:lnSpc>
              <a:spcBef>
                <a:spcPts val="0"/>
              </a:spcBef>
              <a:spcAft>
                <a:spcPts val="800"/>
              </a:spcAft>
            </a:pPr>
            <a:r>
              <a:rPr sz="3400" b="1" i="0">
                <a:solidFill>
                  <a:srgbClr val="003262"/>
                </a:solidFill>
                <a:latin typeface="Arial"/>
              </a:rPr>
              <a:t>Seven recurring usage patterns</a:t>
            </a:r>
          </a:p>
        </p:txBody>
      </p:sp>
      <p:sp>
        <p:nvSpPr>
          <p:cNvPr id="5" name="Rectangle 4"/>
          <p:cNvSpPr/>
          <p:nvPr/>
        </p:nvSpPr>
        <p:spPr>
          <a:xfrm>
            <a:off x="822960" y="201168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2011680"/>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011680"/>
            <a:ext cx="640080" cy="868680"/>
          </a:xfrm>
          <a:prstGeom prst="rect">
            <a:avLst/>
          </a:prstGeom>
          <a:noFill/>
        </p:spPr>
        <p:txBody>
          <a:bodyPr wrap="square" anchor="ctr" lIns="0" rIns="0" tIns="0" bIns="0">
            <a:spAutoFit/>
          </a:bodyPr>
          <a:lstStyle/>
          <a:p>
            <a:pPr algn="ctr">
              <a:lnSpc>
                <a:spcPct val="100000"/>
              </a:lnSpc>
              <a:spcBef>
                <a:spcPts val="0"/>
              </a:spcBef>
              <a:spcAft>
                <a:spcPts val="800"/>
              </a:spcAft>
            </a:pPr>
            <a:r>
              <a:rPr sz="3000" b="1" i="0">
                <a:solidFill>
                  <a:srgbClr val="FDB515"/>
                </a:solidFill>
                <a:latin typeface="Arial"/>
              </a:rPr>
              <a:t>1</a:t>
            </a:r>
          </a:p>
        </p:txBody>
      </p:sp>
      <p:sp>
        <p:nvSpPr>
          <p:cNvPr id="8" name="TextBox 7"/>
          <p:cNvSpPr txBox="1"/>
          <p:nvPr/>
        </p:nvSpPr>
        <p:spPr>
          <a:xfrm>
            <a:off x="1691640" y="2011680"/>
            <a:ext cx="4069080" cy="868680"/>
          </a:xfrm>
          <a:prstGeom prst="rect">
            <a:avLst/>
          </a:prstGeom>
          <a:noFill/>
        </p:spPr>
        <p:txBody>
          <a:bodyPr wrap="square" anchor="ctr" lIns="0" rIns="0" tIns="0" bIns="0">
            <a:spAutoFit/>
          </a:bodyPr>
          <a:lstStyle/>
          <a:p>
            <a:pPr algn="l">
              <a:lnSpc>
                <a:spcPct val="100000"/>
              </a:lnSpc>
              <a:spcBef>
                <a:spcPts val="0"/>
              </a:spcBef>
              <a:spcAft>
                <a:spcPts val="800"/>
              </a:spcAft>
            </a:pPr>
            <a:r>
              <a:rPr sz="2000" b="1" i="0">
                <a:solidFill>
                  <a:srgbClr val="003262"/>
                </a:solidFill>
                <a:latin typeface="Arial"/>
              </a:rPr>
              <a:t>Test-first bug fixing</a:t>
            </a:r>
          </a:p>
        </p:txBody>
      </p:sp>
      <p:sp>
        <p:nvSpPr>
          <p:cNvPr id="9" name="Rectangle 8"/>
          <p:cNvSpPr/>
          <p:nvPr/>
        </p:nvSpPr>
        <p:spPr>
          <a:xfrm>
            <a:off x="6172200" y="201168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72200" y="2011680"/>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2011680"/>
            <a:ext cx="640080" cy="868680"/>
          </a:xfrm>
          <a:prstGeom prst="rect">
            <a:avLst/>
          </a:prstGeom>
          <a:noFill/>
        </p:spPr>
        <p:txBody>
          <a:bodyPr wrap="square" anchor="ctr" lIns="0" rIns="0" tIns="0" bIns="0">
            <a:spAutoFit/>
          </a:bodyPr>
          <a:lstStyle/>
          <a:p>
            <a:pPr algn="ctr">
              <a:lnSpc>
                <a:spcPct val="100000"/>
              </a:lnSpc>
              <a:spcBef>
                <a:spcPts val="0"/>
              </a:spcBef>
              <a:spcAft>
                <a:spcPts val="800"/>
              </a:spcAft>
            </a:pPr>
            <a:r>
              <a:rPr sz="3000" b="1" i="0">
                <a:solidFill>
                  <a:srgbClr val="FDB515"/>
                </a:solidFill>
                <a:latin typeface="Arial"/>
              </a:rPr>
              <a:t>2</a:t>
            </a:r>
          </a:p>
        </p:txBody>
      </p:sp>
      <p:sp>
        <p:nvSpPr>
          <p:cNvPr id="12" name="TextBox 11"/>
          <p:cNvSpPr txBox="1"/>
          <p:nvPr/>
        </p:nvSpPr>
        <p:spPr>
          <a:xfrm>
            <a:off x="7040880" y="2011680"/>
            <a:ext cx="4069080" cy="868680"/>
          </a:xfrm>
          <a:prstGeom prst="rect">
            <a:avLst/>
          </a:prstGeom>
          <a:noFill/>
        </p:spPr>
        <p:txBody>
          <a:bodyPr wrap="square" anchor="ctr" lIns="0" rIns="0" tIns="0" bIns="0">
            <a:spAutoFit/>
          </a:bodyPr>
          <a:lstStyle/>
          <a:p>
            <a:pPr algn="l">
              <a:lnSpc>
                <a:spcPct val="100000"/>
              </a:lnSpc>
              <a:spcBef>
                <a:spcPts val="0"/>
              </a:spcBef>
              <a:spcAft>
                <a:spcPts val="800"/>
              </a:spcAft>
            </a:pPr>
            <a:r>
              <a:rPr sz="2000" b="1" i="0">
                <a:solidFill>
                  <a:srgbClr val="003262"/>
                </a:solidFill>
                <a:latin typeface="Arial"/>
              </a:rPr>
              <a:t>Iterative feature construction</a:t>
            </a:r>
          </a:p>
        </p:txBody>
      </p:sp>
      <p:sp>
        <p:nvSpPr>
          <p:cNvPr id="13" name="Rectangle 12"/>
          <p:cNvSpPr/>
          <p:nvPr/>
        </p:nvSpPr>
        <p:spPr>
          <a:xfrm>
            <a:off x="822960" y="306324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22960" y="3063240"/>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3063240"/>
            <a:ext cx="640080" cy="868680"/>
          </a:xfrm>
          <a:prstGeom prst="rect">
            <a:avLst/>
          </a:prstGeom>
          <a:noFill/>
        </p:spPr>
        <p:txBody>
          <a:bodyPr wrap="square" anchor="ctr" lIns="0" rIns="0" tIns="0" bIns="0">
            <a:spAutoFit/>
          </a:bodyPr>
          <a:lstStyle/>
          <a:p>
            <a:pPr algn="ctr">
              <a:lnSpc>
                <a:spcPct val="100000"/>
              </a:lnSpc>
              <a:spcBef>
                <a:spcPts val="0"/>
              </a:spcBef>
              <a:spcAft>
                <a:spcPts val="800"/>
              </a:spcAft>
            </a:pPr>
            <a:r>
              <a:rPr sz="3000" b="1" i="0">
                <a:solidFill>
                  <a:srgbClr val="FDB515"/>
                </a:solidFill>
                <a:latin typeface="Arial"/>
              </a:rPr>
              <a:t>3</a:t>
            </a:r>
          </a:p>
        </p:txBody>
      </p:sp>
      <p:sp>
        <p:nvSpPr>
          <p:cNvPr id="16" name="TextBox 15"/>
          <p:cNvSpPr txBox="1"/>
          <p:nvPr/>
        </p:nvSpPr>
        <p:spPr>
          <a:xfrm>
            <a:off x="1691640" y="3063240"/>
            <a:ext cx="4069080" cy="868680"/>
          </a:xfrm>
          <a:prstGeom prst="rect">
            <a:avLst/>
          </a:prstGeom>
          <a:noFill/>
        </p:spPr>
        <p:txBody>
          <a:bodyPr wrap="square" anchor="ctr" lIns="0" rIns="0" tIns="0" bIns="0">
            <a:spAutoFit/>
          </a:bodyPr>
          <a:lstStyle/>
          <a:p>
            <a:pPr algn="l">
              <a:lnSpc>
                <a:spcPct val="100000"/>
              </a:lnSpc>
              <a:spcBef>
                <a:spcPts val="0"/>
              </a:spcBef>
              <a:spcAft>
                <a:spcPts val="800"/>
              </a:spcAft>
            </a:pPr>
            <a:r>
              <a:rPr sz="2000" b="1" i="0">
                <a:solidFill>
                  <a:srgbClr val="003262"/>
                </a:solidFill>
                <a:latin typeface="Arial"/>
              </a:rPr>
              <a:t>Periodic code hygiene</a:t>
            </a:r>
          </a:p>
        </p:txBody>
      </p:sp>
      <p:sp>
        <p:nvSpPr>
          <p:cNvPr id="17" name="Rectangle 16"/>
          <p:cNvSpPr/>
          <p:nvPr/>
        </p:nvSpPr>
        <p:spPr>
          <a:xfrm>
            <a:off x="6172200" y="306324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72200" y="3063240"/>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72200" y="3063240"/>
            <a:ext cx="640080" cy="868680"/>
          </a:xfrm>
          <a:prstGeom prst="rect">
            <a:avLst/>
          </a:prstGeom>
          <a:noFill/>
        </p:spPr>
        <p:txBody>
          <a:bodyPr wrap="square" anchor="ctr" lIns="0" rIns="0" tIns="0" bIns="0">
            <a:spAutoFit/>
          </a:bodyPr>
          <a:lstStyle/>
          <a:p>
            <a:pPr algn="ctr">
              <a:lnSpc>
                <a:spcPct val="100000"/>
              </a:lnSpc>
              <a:spcBef>
                <a:spcPts val="0"/>
              </a:spcBef>
              <a:spcAft>
                <a:spcPts val="800"/>
              </a:spcAft>
            </a:pPr>
            <a:r>
              <a:rPr sz="3000" b="1" i="0">
                <a:solidFill>
                  <a:srgbClr val="FDB515"/>
                </a:solidFill>
                <a:latin typeface="Arial"/>
              </a:rPr>
              <a:t>4</a:t>
            </a:r>
          </a:p>
        </p:txBody>
      </p:sp>
      <p:sp>
        <p:nvSpPr>
          <p:cNvPr id="20" name="TextBox 19"/>
          <p:cNvSpPr txBox="1"/>
          <p:nvPr/>
        </p:nvSpPr>
        <p:spPr>
          <a:xfrm>
            <a:off x="7040880" y="3063240"/>
            <a:ext cx="4069080" cy="868680"/>
          </a:xfrm>
          <a:prstGeom prst="rect">
            <a:avLst/>
          </a:prstGeom>
          <a:noFill/>
        </p:spPr>
        <p:txBody>
          <a:bodyPr wrap="square" anchor="ctr" lIns="0" rIns="0" tIns="0" bIns="0">
            <a:spAutoFit/>
          </a:bodyPr>
          <a:lstStyle/>
          <a:p>
            <a:pPr algn="l">
              <a:lnSpc>
                <a:spcPct val="100000"/>
              </a:lnSpc>
              <a:spcBef>
                <a:spcPts val="0"/>
              </a:spcBef>
              <a:spcAft>
                <a:spcPts val="800"/>
              </a:spcAft>
            </a:pPr>
            <a:r>
              <a:rPr sz="2000" b="1" i="0">
                <a:solidFill>
                  <a:srgbClr val="003262"/>
                </a:solidFill>
                <a:latin typeface="Arial"/>
              </a:rPr>
              <a:t>Paper–code co-evolution</a:t>
            </a:r>
          </a:p>
        </p:txBody>
      </p:sp>
      <p:sp>
        <p:nvSpPr>
          <p:cNvPr id="21" name="Rectangle 20"/>
          <p:cNvSpPr/>
          <p:nvPr/>
        </p:nvSpPr>
        <p:spPr>
          <a:xfrm>
            <a:off x="822960" y="411480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 y="4114800"/>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4114800"/>
            <a:ext cx="640080" cy="868680"/>
          </a:xfrm>
          <a:prstGeom prst="rect">
            <a:avLst/>
          </a:prstGeom>
          <a:noFill/>
        </p:spPr>
        <p:txBody>
          <a:bodyPr wrap="square" anchor="ctr" lIns="0" rIns="0" tIns="0" bIns="0">
            <a:spAutoFit/>
          </a:bodyPr>
          <a:lstStyle/>
          <a:p>
            <a:pPr algn="ctr">
              <a:lnSpc>
                <a:spcPct val="100000"/>
              </a:lnSpc>
              <a:spcBef>
                <a:spcPts val="0"/>
              </a:spcBef>
              <a:spcAft>
                <a:spcPts val="800"/>
              </a:spcAft>
            </a:pPr>
            <a:r>
              <a:rPr sz="3000" b="1" i="0">
                <a:solidFill>
                  <a:srgbClr val="FDB515"/>
                </a:solidFill>
                <a:latin typeface="Arial"/>
              </a:rPr>
              <a:t>5</a:t>
            </a:r>
          </a:p>
        </p:txBody>
      </p:sp>
      <p:sp>
        <p:nvSpPr>
          <p:cNvPr id="24" name="TextBox 23"/>
          <p:cNvSpPr txBox="1"/>
          <p:nvPr/>
        </p:nvSpPr>
        <p:spPr>
          <a:xfrm>
            <a:off x="1691640" y="4114800"/>
            <a:ext cx="4069080" cy="868680"/>
          </a:xfrm>
          <a:prstGeom prst="rect">
            <a:avLst/>
          </a:prstGeom>
          <a:noFill/>
        </p:spPr>
        <p:txBody>
          <a:bodyPr wrap="square" anchor="ctr" lIns="0" rIns="0" tIns="0" bIns="0">
            <a:spAutoFit/>
          </a:bodyPr>
          <a:lstStyle/>
          <a:p>
            <a:pPr algn="l">
              <a:lnSpc>
                <a:spcPct val="100000"/>
              </a:lnSpc>
              <a:spcBef>
                <a:spcPts val="0"/>
              </a:spcBef>
              <a:spcAft>
                <a:spcPts val="800"/>
              </a:spcAft>
            </a:pPr>
            <a:r>
              <a:rPr sz="2000" b="1" i="0">
                <a:solidFill>
                  <a:srgbClr val="003262"/>
                </a:solidFill>
                <a:latin typeface="Arial"/>
              </a:rPr>
              <a:t>Architecture investigation before change</a:t>
            </a:r>
          </a:p>
        </p:txBody>
      </p:sp>
      <p:sp>
        <p:nvSpPr>
          <p:cNvPr id="25" name="Rectangle 24"/>
          <p:cNvSpPr/>
          <p:nvPr/>
        </p:nvSpPr>
        <p:spPr>
          <a:xfrm>
            <a:off x="6172200" y="411480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72200" y="4114800"/>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72200" y="4114800"/>
            <a:ext cx="640080" cy="868680"/>
          </a:xfrm>
          <a:prstGeom prst="rect">
            <a:avLst/>
          </a:prstGeom>
          <a:noFill/>
        </p:spPr>
        <p:txBody>
          <a:bodyPr wrap="square" anchor="ctr" lIns="0" rIns="0" tIns="0" bIns="0">
            <a:spAutoFit/>
          </a:bodyPr>
          <a:lstStyle/>
          <a:p>
            <a:pPr algn="ctr">
              <a:lnSpc>
                <a:spcPct val="100000"/>
              </a:lnSpc>
              <a:spcBef>
                <a:spcPts val="0"/>
              </a:spcBef>
              <a:spcAft>
                <a:spcPts val="800"/>
              </a:spcAft>
            </a:pPr>
            <a:r>
              <a:rPr sz="3000" b="1" i="0">
                <a:solidFill>
                  <a:srgbClr val="FDB515"/>
                </a:solidFill>
                <a:latin typeface="Arial"/>
              </a:rPr>
              <a:t>6</a:t>
            </a:r>
          </a:p>
        </p:txBody>
      </p:sp>
      <p:sp>
        <p:nvSpPr>
          <p:cNvPr id="28" name="TextBox 27"/>
          <p:cNvSpPr txBox="1"/>
          <p:nvPr/>
        </p:nvSpPr>
        <p:spPr>
          <a:xfrm>
            <a:off x="7040880" y="4114800"/>
            <a:ext cx="4069080" cy="868680"/>
          </a:xfrm>
          <a:prstGeom prst="rect">
            <a:avLst/>
          </a:prstGeom>
          <a:noFill/>
        </p:spPr>
        <p:txBody>
          <a:bodyPr wrap="square" anchor="ctr" lIns="0" rIns="0" tIns="0" bIns="0">
            <a:spAutoFit/>
          </a:bodyPr>
          <a:lstStyle/>
          <a:p>
            <a:pPr algn="l">
              <a:lnSpc>
                <a:spcPct val="100000"/>
              </a:lnSpc>
              <a:spcBef>
                <a:spcPts val="0"/>
              </a:spcBef>
              <a:spcAft>
                <a:spcPts val="800"/>
              </a:spcAft>
            </a:pPr>
            <a:r>
              <a:rPr sz="2000" b="1" i="0">
                <a:solidFill>
                  <a:srgbClr val="003262"/>
                </a:solidFill>
                <a:latin typeface="Arial"/>
              </a:rPr>
              <a:t>System-prompt engineering</a:t>
            </a:r>
          </a:p>
        </p:txBody>
      </p:sp>
      <p:sp>
        <p:nvSpPr>
          <p:cNvPr id="29" name="Rectangle 28"/>
          <p:cNvSpPr/>
          <p:nvPr/>
        </p:nvSpPr>
        <p:spPr>
          <a:xfrm>
            <a:off x="822960" y="516636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22960" y="5166360"/>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5166360"/>
            <a:ext cx="640080" cy="868680"/>
          </a:xfrm>
          <a:prstGeom prst="rect">
            <a:avLst/>
          </a:prstGeom>
          <a:noFill/>
        </p:spPr>
        <p:txBody>
          <a:bodyPr wrap="square" anchor="ctr" lIns="0" rIns="0" tIns="0" bIns="0">
            <a:spAutoFit/>
          </a:bodyPr>
          <a:lstStyle/>
          <a:p>
            <a:pPr algn="ctr">
              <a:lnSpc>
                <a:spcPct val="100000"/>
              </a:lnSpc>
              <a:spcBef>
                <a:spcPts val="0"/>
              </a:spcBef>
              <a:spcAft>
                <a:spcPts val="800"/>
              </a:spcAft>
            </a:pPr>
            <a:r>
              <a:rPr sz="3000" b="1" i="0">
                <a:solidFill>
                  <a:srgbClr val="FDB515"/>
                </a:solidFill>
                <a:latin typeface="Arial"/>
              </a:rPr>
              <a:t>7</a:t>
            </a:r>
          </a:p>
        </p:txBody>
      </p:sp>
      <p:sp>
        <p:nvSpPr>
          <p:cNvPr id="32" name="TextBox 31"/>
          <p:cNvSpPr txBox="1"/>
          <p:nvPr/>
        </p:nvSpPr>
        <p:spPr>
          <a:xfrm>
            <a:off x="1691640" y="5166360"/>
            <a:ext cx="4069080" cy="868680"/>
          </a:xfrm>
          <a:prstGeom prst="rect">
            <a:avLst/>
          </a:prstGeom>
          <a:noFill/>
        </p:spPr>
        <p:txBody>
          <a:bodyPr wrap="square" anchor="ctr" lIns="0" rIns="0" tIns="0" bIns="0">
            <a:spAutoFit/>
          </a:bodyPr>
          <a:lstStyle/>
          <a:p>
            <a:pPr algn="l">
              <a:lnSpc>
                <a:spcPct val="100000"/>
              </a:lnSpc>
              <a:spcBef>
                <a:spcPts val="0"/>
              </a:spcBef>
              <a:spcAft>
                <a:spcPts val="800"/>
              </a:spcAft>
            </a:pPr>
            <a:r>
              <a:rPr sz="2000" b="1" i="0">
                <a:solidFill>
                  <a:srgbClr val="003262"/>
                </a:solidFill>
                <a:latin typeface="Arial"/>
              </a:rPr>
              <a:t>Multi-channel general assistance</a:t>
            </a:r>
          </a:p>
        </p:txBody>
      </p:sp>
      <p:sp>
        <p:nvSpPr>
          <p:cNvPr id="33" name="Rectangle 32"/>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60" y="6547104"/>
            <a:ext cx="8229600" cy="274320"/>
          </a:xfrm>
          <a:prstGeom prst="rect">
            <a:avLst/>
          </a:prstGeom>
          <a:noFill/>
        </p:spPr>
        <p:txBody>
          <a:bodyPr wrap="square" anchor="t" lIns="0" rIns="0" tIns="0" bIns="0">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35" name="TextBox 34"/>
          <p:cNvSpPr txBox="1"/>
          <p:nvPr/>
        </p:nvSpPr>
        <p:spPr>
          <a:xfrm>
            <a:off x="10058400" y="6547104"/>
            <a:ext cx="1307592" cy="274320"/>
          </a:xfrm>
          <a:prstGeom prst="rect">
            <a:avLst/>
          </a:prstGeom>
          <a:noFill/>
        </p:spPr>
        <p:txBody>
          <a:bodyPr wrap="square" anchor="t" lIns="0" rIns="0" tIns="0" bIns="0">
            <a:spAutoFit/>
          </a:bodyPr>
          <a:lstStyle/>
          <a:p>
            <a:pPr algn="r">
              <a:lnSpc>
                <a:spcPct val="100000"/>
              </a:lnSpc>
              <a:spcBef>
                <a:spcPts val="0"/>
              </a:spcBef>
              <a:spcAft>
                <a:spcPts val="800"/>
              </a:spcAft>
            </a:pPr>
            <a:r>
              <a:rPr sz="1100" b="1" i="0">
                <a:solidFill>
                  <a:srgbClr val="C88A00"/>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C88A00"/>
                </a:solidFill>
                <a:latin typeface="Arial"/>
              </a:rPr>
              <a:t>P  A  T  T  E  R  N     1</a:t>
            </a:r>
          </a:p>
        </p:txBody>
      </p:sp>
      <p:sp>
        <p:nvSpPr>
          <p:cNvPr id="4" name="TextBox 3"/>
          <p:cNvSpPr txBox="1"/>
          <p:nvPr/>
        </p:nvSpPr>
        <p:spPr>
          <a:xfrm>
            <a:off x="822960" y="868680"/>
            <a:ext cx="10515600" cy="1280160"/>
          </a:xfrm>
          <a:prstGeom prst="rect">
            <a:avLst/>
          </a:prstGeom>
          <a:noFill/>
        </p:spPr>
        <p:txBody>
          <a:bodyPr wrap="square" anchor="t" lIns="0" rIns="0" tIns="0" bIns="0">
            <a:spAutoFit/>
          </a:bodyPr>
          <a:lstStyle/>
          <a:p>
            <a:pPr algn="l">
              <a:lnSpc>
                <a:spcPct val="100000"/>
              </a:lnSpc>
              <a:spcBef>
                <a:spcPts val="0"/>
              </a:spcBef>
              <a:spcAft>
                <a:spcPts val="800"/>
              </a:spcAft>
            </a:pPr>
            <a:r>
              <a:rPr sz="3400" b="1" i="0">
                <a:solidFill>
                  <a:srgbClr val="003262"/>
                </a:solidFill>
                <a:latin typeface="Arial"/>
              </a:rPr>
              <a:t>Test-first bug fixing</a:t>
            </a:r>
          </a:p>
        </p:txBody>
      </p:sp>
      <p:sp>
        <p:nvSpPr>
          <p:cNvPr id="5" name="TextBox 4"/>
          <p:cNvSpPr txBox="1"/>
          <p:nvPr/>
        </p:nvSpPr>
        <p:spPr>
          <a:xfrm>
            <a:off x="822960" y="1783080"/>
            <a:ext cx="10607040" cy="822960"/>
          </a:xfrm>
          <a:prstGeom prst="rect">
            <a:avLst/>
          </a:prstGeom>
          <a:noFill/>
        </p:spPr>
        <p:txBody>
          <a:bodyPr wrap="square" anchor="t" lIns="0" rIns="0" tIns="0" bIns="0">
            <a:spAutoFit/>
          </a:bodyPr>
          <a:lstStyle/>
          <a:p>
            <a:pPr algn="l">
              <a:lnSpc>
                <a:spcPct val="112000"/>
              </a:lnSpc>
              <a:spcBef>
                <a:spcPts val="0"/>
              </a:spcBef>
              <a:spcAft>
                <a:spcPts val="800"/>
              </a:spcAft>
            </a:pPr>
            <a:r>
              <a:rPr sz="2100" b="0" i="0">
                <a:solidFill>
                  <a:srgbClr val="4A5260"/>
                </a:solidFill>
                <a:latin typeface="Arial"/>
              </a:rPr>
              <a:t>The most common pattern (~20% of tasks): report a bug, write a test that reproduces it, then fix the root cause and verify.</a:t>
            </a:r>
          </a:p>
        </p:txBody>
      </p:sp>
      <p:sp>
        <p:nvSpPr>
          <p:cNvPr id="6" name="TextBox 5"/>
          <p:cNvSpPr txBox="1"/>
          <p:nvPr/>
        </p:nvSpPr>
        <p:spPr>
          <a:xfrm>
            <a:off x="822960" y="2743200"/>
            <a:ext cx="6126480" cy="3383280"/>
          </a:xfrm>
          <a:prstGeom prst="rect">
            <a:avLst/>
          </a:prstGeom>
          <a:noFill/>
        </p:spPr>
        <p:txBody>
          <a:bodyPr wrap="square" anchor="t" lIns="0" rIns="0" tIns="0" bIns="0">
            <a:spAutoFit/>
          </a:bodyPr>
          <a:lstStyle/>
          <a:p>
            <a:pPr algn="l">
              <a:lnSpc>
                <a:spcPct val="106000"/>
              </a:lnSpc>
              <a:spcAft>
                <a:spcPts val="1400"/>
              </a:spcAft>
            </a:pPr>
            <a:r>
              <a:rPr sz="1900" b="1">
                <a:solidFill>
                  <a:srgbClr val="FDB515"/>
                </a:solidFill>
                <a:latin typeface="Arial"/>
              </a:rPr>
              <a:t>—  </a:t>
            </a:r>
            <a:r>
              <a:rPr sz="1900" b="1">
                <a:solidFill>
                  <a:srgbClr val="003262"/>
                </a:solidFill>
                <a:latin typeface="Arial"/>
              </a:rPr>
              <a:t>Three-step protocol:  </a:t>
            </a:r>
            <a:r>
              <a:rPr sz="1900">
                <a:solidFill>
                  <a:srgbClr val="1A1F2B"/>
                </a:solidFill>
                <a:latin typeface="Arial"/>
              </a:rPr>
              <a:t>report → reproduce with an integration test → fix root cause and confirm the test passes.</a:t>
            </a:r>
          </a:p>
          <a:p>
            <a:pPr algn="l">
              <a:lnSpc>
                <a:spcPct val="106000"/>
              </a:lnSpc>
              <a:spcAft>
                <a:spcPts val="1400"/>
              </a:spcAft>
            </a:pPr>
            <a:r>
              <a:rPr sz="1900" b="1">
                <a:solidFill>
                  <a:srgbClr val="FDB515"/>
                </a:solidFill>
                <a:latin typeface="Arial"/>
              </a:rPr>
              <a:t>—  </a:t>
            </a:r>
            <a:r>
              <a:rPr sz="1900" b="1">
                <a:solidFill>
                  <a:srgbClr val="003262"/>
                </a:solidFill>
                <a:latin typeface="Arial"/>
              </a:rPr>
              <a:t>Evidence, not edits:  </a:t>
            </a:r>
            <a:r>
              <a:rPr sz="1900">
                <a:solidFill>
                  <a:srgbClr val="1A1F2B"/>
                </a:solidFill>
                <a:latin typeface="Arial"/>
              </a:rPr>
              <a:t>a test that fails before and passes after proves the bug was real and the fix addressed it.</a:t>
            </a:r>
          </a:p>
          <a:p>
            <a:pPr algn="l">
              <a:lnSpc>
                <a:spcPct val="106000"/>
              </a:lnSpc>
              <a:spcAft>
                <a:spcPts val="1400"/>
              </a:spcAft>
            </a:pPr>
            <a:r>
              <a:rPr sz="1900" b="1">
                <a:solidFill>
                  <a:srgbClr val="FDB515"/>
                </a:solidFill>
                <a:latin typeface="Arial"/>
              </a:rPr>
              <a:t>—  </a:t>
            </a:r>
            <a:r>
              <a:rPr sz="1900" b="1">
                <a:solidFill>
                  <a:srgbClr val="003262"/>
                </a:solidFill>
                <a:latin typeface="Arial"/>
              </a:rPr>
              <a:t>Concurrency sub-class:  </a:t>
            </a:r>
            <a:r>
              <a:rPr sz="1900">
                <a:solidFill>
                  <a:srgbClr val="1A1F2B"/>
                </a:solidFill>
                <a:latin typeface="Arial"/>
              </a:rPr>
              <a:t>race conditions exposed by running many tabs and a remote server against one repo.</a:t>
            </a:r>
          </a:p>
          <a:p>
            <a:pPr algn="l">
              <a:lnSpc>
                <a:spcPct val="106000"/>
              </a:lnSpc>
              <a:spcAft>
                <a:spcPts val="1400"/>
              </a:spcAft>
            </a:pPr>
            <a:r>
              <a:rPr sz="1900" b="1">
                <a:solidFill>
                  <a:srgbClr val="FDB515"/>
                </a:solidFill>
                <a:latin typeface="Arial"/>
              </a:rPr>
              <a:t>—  </a:t>
            </a:r>
            <a:r>
              <a:rPr sz="1900" b="1">
                <a:solidFill>
                  <a:srgbClr val="003262"/>
                </a:solidFill>
                <a:latin typeface="Arial"/>
              </a:rPr>
              <a:t>Defensive revert:  </a:t>
            </a:r>
            <a:r>
              <a:rPr sz="1900">
                <a:solidFill>
                  <a:srgbClr val="1A1F2B"/>
                </a:solidFill>
                <a:latin typeface="Arial"/>
              </a:rPr>
              <a:t>“get rid of the last commit” recurs 30+ times — undo first, re-attempt fresh.</a:t>
            </a:r>
          </a:p>
        </p:txBody>
      </p:sp>
      <p:sp>
        <p:nvSpPr>
          <p:cNvPr id="7" name="Rectangle 6"/>
          <p:cNvSpPr/>
          <p:nvPr/>
        </p:nvSpPr>
        <p:spPr>
          <a:xfrm>
            <a:off x="7178040" y="2743200"/>
            <a:ext cx="4160520" cy="3200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178040" y="2743200"/>
            <a:ext cx="416052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0" y="3063240"/>
            <a:ext cx="3520440" cy="2651760"/>
          </a:xfrm>
          <a:prstGeom prst="rect">
            <a:avLst/>
          </a:prstGeom>
          <a:noFill/>
        </p:spPr>
        <p:txBody>
          <a:bodyPr wrap="square" anchor="ctr" lIns="0" rIns="0" tIns="0" bIns="0">
            <a:spAutoFit/>
          </a:bodyPr>
          <a:lstStyle/>
          <a:p>
            <a:pPr algn="l">
              <a:lnSpc>
                <a:spcPct val="100000"/>
              </a:lnSpc>
              <a:spcBef>
                <a:spcPts val="0"/>
              </a:spcBef>
              <a:spcAft>
                <a:spcPts val="1200"/>
              </a:spcAft>
            </a:pPr>
            <a:r>
              <a:rPr sz="1300" b="1" i="0">
                <a:solidFill>
                  <a:srgbClr val="FDB515"/>
                </a:solidFill>
                <a:latin typeface="Arial"/>
              </a:rPr>
              <a:t>From the log</a:t>
            </a:r>
          </a:p>
          <a:p>
            <a:pPr algn="l">
              <a:lnSpc>
                <a:spcPct val="112000"/>
              </a:lnSpc>
              <a:spcBef>
                <a:spcPts val="0"/>
              </a:spcBef>
              <a:spcAft>
                <a:spcPts val="800"/>
              </a:spcAft>
            </a:pPr>
            <a:r>
              <a:rPr sz="1900" b="0" i="1">
                <a:solidFill>
                  <a:srgbClr val="FFFFFF"/>
                </a:solidFill>
                <a:latin typeface="Arial"/>
              </a:rPr>
              <a:t>“Can you reproduce the bug by writing an integration test? Then fix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C88A00"/>
                </a:solidFill>
                <a:latin typeface="Arial"/>
              </a:rPr>
              <a:t>P  A  T  T  E  R  N     2</a:t>
            </a:r>
          </a:p>
        </p:txBody>
      </p:sp>
      <p:sp>
        <p:nvSpPr>
          <p:cNvPr id="4" name="TextBox 3"/>
          <p:cNvSpPr txBox="1"/>
          <p:nvPr/>
        </p:nvSpPr>
        <p:spPr>
          <a:xfrm>
            <a:off x="822960" y="868680"/>
            <a:ext cx="10515600" cy="1280160"/>
          </a:xfrm>
          <a:prstGeom prst="rect">
            <a:avLst/>
          </a:prstGeom>
          <a:noFill/>
        </p:spPr>
        <p:txBody>
          <a:bodyPr wrap="square" anchor="t" lIns="0" rIns="0" tIns="0" bIns="0">
            <a:spAutoFit/>
          </a:bodyPr>
          <a:lstStyle/>
          <a:p>
            <a:pPr algn="l">
              <a:lnSpc>
                <a:spcPct val="100000"/>
              </a:lnSpc>
              <a:spcBef>
                <a:spcPts val="0"/>
              </a:spcBef>
              <a:spcAft>
                <a:spcPts val="800"/>
              </a:spcAft>
            </a:pPr>
            <a:r>
              <a:rPr sz="3400" b="1" i="0">
                <a:solidFill>
                  <a:srgbClr val="003262"/>
                </a:solidFill>
                <a:latin typeface="Arial"/>
              </a:rPr>
              <a:t>Iterative feature construction</a:t>
            </a:r>
          </a:p>
        </p:txBody>
      </p:sp>
      <p:sp>
        <p:nvSpPr>
          <p:cNvPr id="5" name="TextBox 4"/>
          <p:cNvSpPr txBox="1"/>
          <p:nvPr/>
        </p:nvSpPr>
        <p:spPr>
          <a:xfrm>
            <a:off x="822960" y="1783080"/>
            <a:ext cx="10607040" cy="822960"/>
          </a:xfrm>
          <a:prstGeom prst="rect">
            <a:avLst/>
          </a:prstGeom>
          <a:noFill/>
        </p:spPr>
        <p:txBody>
          <a:bodyPr wrap="square" anchor="t" lIns="0" rIns="0" tIns="0" bIns="0">
            <a:spAutoFit/>
          </a:bodyPr>
          <a:lstStyle/>
          <a:p>
            <a:pPr algn="l">
              <a:lnSpc>
                <a:spcPct val="112000"/>
              </a:lnSpc>
              <a:spcBef>
                <a:spcPts val="0"/>
              </a:spcBef>
              <a:spcAft>
                <a:spcPts val="800"/>
              </a:spcAft>
            </a:pPr>
            <a:r>
              <a:rPr sz="2100" b="0" i="0">
                <a:solidFill>
                  <a:srgbClr val="4A5260"/>
                </a:solidFill>
                <a:latin typeface="Arial"/>
              </a:rPr>
              <a:t>Features were never built in one task. Describe → observe → refine, often across 5–20 tasks in a single chat session.</a:t>
            </a:r>
          </a:p>
        </p:txBody>
      </p:sp>
      <p:sp>
        <p:nvSpPr>
          <p:cNvPr id="6" name="TextBox 5"/>
          <p:cNvSpPr txBox="1"/>
          <p:nvPr/>
        </p:nvSpPr>
        <p:spPr>
          <a:xfrm>
            <a:off x="822960" y="2743200"/>
            <a:ext cx="6126480" cy="3383280"/>
          </a:xfrm>
          <a:prstGeom prst="rect">
            <a:avLst/>
          </a:prstGeom>
          <a:noFill/>
        </p:spPr>
        <p:txBody>
          <a:bodyPr wrap="square" anchor="t" lIns="0" rIns="0" tIns="0" bIns="0">
            <a:spAutoFit/>
          </a:bodyPr>
          <a:lstStyle/>
          <a:p>
            <a:pPr algn="l">
              <a:lnSpc>
                <a:spcPct val="106000"/>
              </a:lnSpc>
              <a:spcAft>
                <a:spcPts val="1400"/>
              </a:spcAft>
            </a:pPr>
            <a:r>
              <a:rPr sz="1900" b="1">
                <a:solidFill>
                  <a:srgbClr val="FDB515"/>
                </a:solidFill>
                <a:latin typeface="Arial"/>
              </a:rPr>
              <a:t>—  </a:t>
            </a:r>
            <a:r>
              <a:rPr sz="1900" b="1">
                <a:solidFill>
                  <a:srgbClr val="003262"/>
                </a:solidFill>
                <a:latin typeface="Arial"/>
              </a:rPr>
              <a:t>Remote web server:  </a:t>
            </a:r>
            <a:r>
              <a:rPr sz="1900">
                <a:solidFill>
                  <a:srgbClr val="1A1F2B"/>
                </a:solidFill>
                <a:latin typeface="Arial"/>
              </a:rPr>
              <a:t>started with one task, hardened over 60+ tasks — TLS, mobile layout, auth, URL discovery, robustness.</a:t>
            </a:r>
          </a:p>
          <a:p>
            <a:pPr algn="l">
              <a:lnSpc>
                <a:spcPct val="106000"/>
              </a:lnSpc>
              <a:spcAft>
                <a:spcPts val="1400"/>
              </a:spcAft>
            </a:pPr>
            <a:r>
              <a:rPr sz="1900" b="1">
                <a:solidFill>
                  <a:srgbClr val="FDB515"/>
                </a:solidFill>
                <a:latin typeface="Arial"/>
              </a:rPr>
              <a:t>—  </a:t>
            </a:r>
            <a:r>
              <a:rPr sz="1900" b="1">
                <a:solidFill>
                  <a:srgbClr val="003262"/>
                </a:solidFill>
                <a:latin typeface="Arial"/>
              </a:rPr>
              <a:t>Spec emerges from use:  </a:t>
            </a:r>
            <a:r>
              <a:rPr sz="1900">
                <a:solidFill>
                  <a:srgbClr val="1A1F2B"/>
                </a:solidFill>
                <a:latin typeface="Arial"/>
              </a:rPr>
              <a:t>no design document; each refinement was prompted by actually using the feature and hitting a limit.</a:t>
            </a:r>
          </a:p>
          <a:p>
            <a:pPr algn="l">
              <a:lnSpc>
                <a:spcPct val="106000"/>
              </a:lnSpc>
              <a:spcAft>
                <a:spcPts val="1400"/>
              </a:spcAft>
            </a:pPr>
            <a:r>
              <a:rPr sz="1900" b="1">
                <a:solidFill>
                  <a:srgbClr val="FDB515"/>
                </a:solidFill>
                <a:latin typeface="Arial"/>
              </a:rPr>
              <a:t>—  </a:t>
            </a:r>
            <a:r>
              <a:rPr sz="1900" b="1">
                <a:solidFill>
                  <a:srgbClr val="003262"/>
                </a:solidFill>
                <a:latin typeface="Arial"/>
              </a:rPr>
              <a:t>Interleaved with fixing:  </a:t>
            </a:r>
            <a:r>
              <a:rPr sz="1900">
                <a:solidFill>
                  <a:srgbClr val="1A1F2B"/>
                </a:solidFill>
                <a:latin typeface="Arial"/>
              </a:rPr>
              <a:t>~half the follow-ups in a feature session are themselves test-first bug reports.</a:t>
            </a:r>
          </a:p>
          <a:p>
            <a:pPr algn="l">
              <a:lnSpc>
                <a:spcPct val="106000"/>
              </a:lnSpc>
              <a:spcAft>
                <a:spcPts val="1400"/>
              </a:spcAft>
            </a:pPr>
            <a:r>
              <a:rPr sz="1900" b="1">
                <a:solidFill>
                  <a:srgbClr val="FDB515"/>
                </a:solidFill>
                <a:latin typeface="Arial"/>
              </a:rPr>
              <a:t>—  </a:t>
            </a:r>
            <a:r>
              <a:rPr sz="1900" b="1">
                <a:solidFill>
                  <a:srgbClr val="003262"/>
                </a:solidFill>
                <a:latin typeface="Arial"/>
              </a:rPr>
              <a:t>Demo mode:  </a:t>
            </a:r>
            <a:r>
              <a:rPr sz="1900">
                <a:solidFill>
                  <a:srgbClr val="1A1F2B"/>
                </a:solidFill>
                <a:latin typeface="Arial"/>
              </a:rPr>
              <a:t>refined over many days — a feature is never “done” when it first works.</a:t>
            </a:r>
          </a:p>
        </p:txBody>
      </p:sp>
      <p:sp>
        <p:nvSpPr>
          <p:cNvPr id="7" name="Rectangle 6"/>
          <p:cNvSpPr/>
          <p:nvPr/>
        </p:nvSpPr>
        <p:spPr>
          <a:xfrm>
            <a:off x="7178040" y="2743200"/>
            <a:ext cx="4160520" cy="3200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178040" y="2743200"/>
            <a:ext cx="416052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0" y="3063240"/>
            <a:ext cx="3520440" cy="2651760"/>
          </a:xfrm>
          <a:prstGeom prst="rect">
            <a:avLst/>
          </a:prstGeom>
          <a:noFill/>
        </p:spPr>
        <p:txBody>
          <a:bodyPr wrap="square" anchor="ctr" lIns="0" rIns="0" tIns="0" bIns="0">
            <a:spAutoFit/>
          </a:bodyPr>
          <a:lstStyle/>
          <a:p>
            <a:pPr algn="l">
              <a:lnSpc>
                <a:spcPct val="100000"/>
              </a:lnSpc>
              <a:spcBef>
                <a:spcPts val="0"/>
              </a:spcBef>
              <a:spcAft>
                <a:spcPts val="1200"/>
              </a:spcAft>
            </a:pPr>
            <a:r>
              <a:rPr sz="1300" b="1" i="0">
                <a:solidFill>
                  <a:srgbClr val="FDB515"/>
                </a:solidFill>
                <a:latin typeface="Arial"/>
              </a:rPr>
              <a:t>From the log</a:t>
            </a:r>
          </a:p>
          <a:p>
            <a:pPr algn="l">
              <a:lnSpc>
                <a:spcPct val="112000"/>
              </a:lnSpc>
              <a:spcBef>
                <a:spcPts val="0"/>
              </a:spcBef>
              <a:spcAft>
                <a:spcPts val="800"/>
              </a:spcAft>
            </a:pPr>
            <a:r>
              <a:rPr sz="1900" b="0" i="1">
                <a:solidFill>
                  <a:srgbClr val="FFFFFF"/>
                </a:solidFill>
                <a:latin typeface="Arial"/>
              </a:rPr>
              <a:t>“…implement a feature where the user can access KISS Sorcar from any device with a browser.”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C88A00"/>
                </a:solidFill>
                <a:latin typeface="Arial"/>
              </a:rPr>
              <a:t>P  A  T  T  E  R  N     3</a:t>
            </a:r>
          </a:p>
        </p:txBody>
      </p:sp>
      <p:sp>
        <p:nvSpPr>
          <p:cNvPr id="4" name="TextBox 3"/>
          <p:cNvSpPr txBox="1"/>
          <p:nvPr/>
        </p:nvSpPr>
        <p:spPr>
          <a:xfrm>
            <a:off x="822960" y="868680"/>
            <a:ext cx="10515600" cy="1280160"/>
          </a:xfrm>
          <a:prstGeom prst="rect">
            <a:avLst/>
          </a:prstGeom>
          <a:noFill/>
        </p:spPr>
        <p:txBody>
          <a:bodyPr wrap="square" anchor="t" lIns="0" rIns="0" tIns="0" bIns="0">
            <a:spAutoFit/>
          </a:bodyPr>
          <a:lstStyle/>
          <a:p>
            <a:pPr algn="l">
              <a:lnSpc>
                <a:spcPct val="100000"/>
              </a:lnSpc>
              <a:spcBef>
                <a:spcPts val="0"/>
              </a:spcBef>
              <a:spcAft>
                <a:spcPts val="800"/>
              </a:spcAft>
            </a:pPr>
            <a:r>
              <a:rPr sz="3400" b="1" i="0">
                <a:solidFill>
                  <a:srgbClr val="003262"/>
                </a:solidFill>
                <a:latin typeface="Arial"/>
              </a:rPr>
              <a:t>Periodic code hygiene</a:t>
            </a:r>
          </a:p>
        </p:txBody>
      </p:sp>
      <p:sp>
        <p:nvSpPr>
          <p:cNvPr id="5" name="TextBox 4"/>
          <p:cNvSpPr txBox="1"/>
          <p:nvPr/>
        </p:nvSpPr>
        <p:spPr>
          <a:xfrm>
            <a:off x="822960" y="1783080"/>
            <a:ext cx="10607040" cy="822960"/>
          </a:xfrm>
          <a:prstGeom prst="rect">
            <a:avLst/>
          </a:prstGeom>
          <a:noFill/>
        </p:spPr>
        <p:txBody>
          <a:bodyPr wrap="square" anchor="t" lIns="0" rIns="0" tIns="0" bIns="0">
            <a:spAutoFit/>
          </a:bodyPr>
          <a:lstStyle/>
          <a:p>
            <a:pPr algn="l">
              <a:lnSpc>
                <a:spcPct val="112000"/>
              </a:lnSpc>
              <a:spcBef>
                <a:spcPts val="0"/>
              </a:spcBef>
              <a:spcAft>
                <a:spcPts val="800"/>
              </a:spcAft>
            </a:pPr>
            <a:r>
              <a:rPr sz="2100" b="0" i="0">
                <a:solidFill>
                  <a:srgbClr val="4A5260"/>
                </a:solidFill>
                <a:latin typeface="Arial"/>
              </a:rPr>
              <a:t>Every 20–30 tasks, the developer ran a dedicated cleanup sweep — decoupled from feature work.</a:t>
            </a:r>
          </a:p>
        </p:txBody>
      </p:sp>
      <p:sp>
        <p:nvSpPr>
          <p:cNvPr id="6" name="TextBox 5"/>
          <p:cNvSpPr txBox="1"/>
          <p:nvPr/>
        </p:nvSpPr>
        <p:spPr>
          <a:xfrm>
            <a:off x="822960" y="2743200"/>
            <a:ext cx="10607040" cy="3383280"/>
          </a:xfrm>
          <a:prstGeom prst="rect">
            <a:avLst/>
          </a:prstGeom>
          <a:noFill/>
        </p:spPr>
        <p:txBody>
          <a:bodyPr wrap="square" anchor="t" lIns="0" rIns="0" tIns="0" bIns="0">
            <a:spAutoFit/>
          </a:bodyPr>
          <a:lstStyle/>
          <a:p>
            <a:pPr algn="l">
              <a:lnSpc>
                <a:spcPct val="106000"/>
              </a:lnSpc>
              <a:spcAft>
                <a:spcPts val="1800"/>
              </a:spcAft>
            </a:pPr>
            <a:r>
              <a:rPr sz="2100" b="1">
                <a:solidFill>
                  <a:srgbClr val="FDB515"/>
                </a:solidFill>
                <a:latin typeface="Arial"/>
              </a:rPr>
              <a:t>—  </a:t>
            </a:r>
            <a:r>
              <a:rPr sz="2100" b="1">
                <a:solidFill>
                  <a:srgbClr val="003262"/>
                </a:solidFill>
                <a:latin typeface="Arial"/>
              </a:rPr>
              <a:t>“uv run check --full and fix”:  </a:t>
            </a:r>
            <a:r>
              <a:rPr sz="2100">
                <a:solidFill>
                  <a:srgbClr val="1A1F2B"/>
                </a:solidFill>
                <a:latin typeface="Arial"/>
              </a:rPr>
              <a:t>the 2nd most frequent command in the log (50 verbatim occurrences).</a:t>
            </a:r>
          </a:p>
          <a:p>
            <a:pPr algn="l">
              <a:lnSpc>
                <a:spcPct val="106000"/>
              </a:lnSpc>
              <a:spcAft>
                <a:spcPts val="1800"/>
              </a:spcAft>
            </a:pPr>
            <a:r>
              <a:rPr sz="2100" b="1">
                <a:solidFill>
                  <a:srgbClr val="FDB515"/>
                </a:solidFill>
                <a:latin typeface="Arial"/>
              </a:rPr>
              <a:t>—  </a:t>
            </a:r>
            <a:r>
              <a:rPr sz="2100" b="1">
                <a:solidFill>
                  <a:srgbClr val="003262"/>
                </a:solidFill>
                <a:latin typeface="Arial"/>
              </a:rPr>
              <a:t>Directory audits:  </a:t>
            </a:r>
            <a:r>
              <a:rPr sz="2100">
                <a:solidFill>
                  <a:srgbClr val="1A1F2B"/>
                </a:solidFill>
                <a:latin typeface="Arial"/>
              </a:rPr>
              <a:t>“find all bugs, redundancies, and inconsistencies” invokes a collect-then-act discipline.</a:t>
            </a:r>
          </a:p>
          <a:p>
            <a:pPr algn="l">
              <a:lnSpc>
                <a:spcPct val="106000"/>
              </a:lnSpc>
              <a:spcAft>
                <a:spcPts val="1800"/>
              </a:spcAft>
            </a:pPr>
            <a:r>
              <a:rPr sz="2100" b="1">
                <a:solidFill>
                  <a:srgbClr val="FDB515"/>
                </a:solidFill>
                <a:latin typeface="Arial"/>
              </a:rPr>
              <a:t>—  </a:t>
            </a:r>
            <a:r>
              <a:rPr sz="2100" b="1">
                <a:solidFill>
                  <a:srgbClr val="003262"/>
                </a:solidFill>
                <a:latin typeface="Arial"/>
              </a:rPr>
              <a:t>Honest test oracle:  </a:t>
            </a:r>
            <a:r>
              <a:rPr sz="2100">
                <a:solidFill>
                  <a:srgbClr val="1A1F2B"/>
                </a:solidFill>
                <a:latin typeface="Arial"/>
              </a:rPr>
              <a:t>“fix tests only if there is no bug in the code — report the bugs” guards against weakened assertions.</a:t>
            </a:r>
          </a:p>
          <a:p>
            <a:pPr algn="l">
              <a:lnSpc>
                <a:spcPct val="106000"/>
              </a:lnSpc>
              <a:spcAft>
                <a:spcPts val="1800"/>
              </a:spcAft>
            </a:pPr>
            <a:r>
              <a:rPr sz="2100" b="1">
                <a:solidFill>
                  <a:srgbClr val="FDB515"/>
                </a:solidFill>
                <a:latin typeface="Arial"/>
              </a:rPr>
              <a:t>—  </a:t>
            </a:r>
            <a:r>
              <a:rPr sz="2100" b="1">
                <a:solidFill>
                  <a:srgbClr val="003262"/>
                </a:solidFill>
                <a:latin typeface="Arial"/>
              </a:rPr>
              <a:t>Garbage collection:  </a:t>
            </a:r>
            <a:r>
              <a:rPr sz="2100">
                <a:solidFill>
                  <a:srgbClr val="1A1F2B"/>
                </a:solidFill>
                <a:latin typeface="Arial"/>
              </a:rPr>
              <a:t>lets small inconsistencies accumulate, then clears them in one pass.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C88A00"/>
                </a:solidFill>
                <a:latin typeface="Arial"/>
              </a:rPr>
              <a:t>P  A  T  T  E  R  N     4</a:t>
            </a:r>
          </a:p>
        </p:txBody>
      </p:sp>
      <p:sp>
        <p:nvSpPr>
          <p:cNvPr id="4" name="TextBox 3"/>
          <p:cNvSpPr txBox="1"/>
          <p:nvPr/>
        </p:nvSpPr>
        <p:spPr>
          <a:xfrm>
            <a:off x="822960" y="868680"/>
            <a:ext cx="10515600" cy="1280160"/>
          </a:xfrm>
          <a:prstGeom prst="rect">
            <a:avLst/>
          </a:prstGeom>
          <a:noFill/>
        </p:spPr>
        <p:txBody>
          <a:bodyPr wrap="square" anchor="t" lIns="0" rIns="0" tIns="0" bIns="0">
            <a:spAutoFit/>
          </a:bodyPr>
          <a:lstStyle/>
          <a:p>
            <a:pPr algn="l">
              <a:lnSpc>
                <a:spcPct val="100000"/>
              </a:lnSpc>
              <a:spcBef>
                <a:spcPts val="0"/>
              </a:spcBef>
              <a:spcAft>
                <a:spcPts val="800"/>
              </a:spcAft>
            </a:pPr>
            <a:r>
              <a:rPr sz="3400" b="1" i="0">
                <a:solidFill>
                  <a:srgbClr val="003262"/>
                </a:solidFill>
                <a:latin typeface="Arial"/>
              </a:rPr>
              <a:t>Paper–code co-evolution</a:t>
            </a:r>
          </a:p>
        </p:txBody>
      </p:sp>
      <p:sp>
        <p:nvSpPr>
          <p:cNvPr id="5" name="TextBox 4"/>
          <p:cNvSpPr txBox="1"/>
          <p:nvPr/>
        </p:nvSpPr>
        <p:spPr>
          <a:xfrm>
            <a:off x="822960" y="1783080"/>
            <a:ext cx="10607040" cy="822960"/>
          </a:xfrm>
          <a:prstGeom prst="rect">
            <a:avLst/>
          </a:prstGeom>
          <a:noFill/>
        </p:spPr>
        <p:txBody>
          <a:bodyPr wrap="square" anchor="t" lIns="0" rIns="0" tIns="0" bIns="0">
            <a:spAutoFit/>
          </a:bodyPr>
          <a:lstStyle/>
          <a:p>
            <a:pPr algn="l">
              <a:lnSpc>
                <a:spcPct val="112000"/>
              </a:lnSpc>
              <a:spcBef>
                <a:spcPts val="0"/>
              </a:spcBef>
              <a:spcAft>
                <a:spcPts val="800"/>
              </a:spcAft>
            </a:pPr>
            <a:r>
              <a:rPr sz="2100" b="0" i="0">
                <a:solidFill>
                  <a:srgbClr val="4A5260"/>
                </a:solidFill>
                <a:latin typeface="Arial"/>
              </a:rPr>
              <a:t>The system prompt and the paper describing it evolve together — a genuinely bidirectional flow.</a:t>
            </a:r>
          </a:p>
        </p:txBody>
      </p:sp>
      <p:sp>
        <p:nvSpPr>
          <p:cNvPr id="6" name="TextBox 5"/>
          <p:cNvSpPr txBox="1"/>
          <p:nvPr/>
        </p:nvSpPr>
        <p:spPr>
          <a:xfrm>
            <a:off x="822960" y="2743200"/>
            <a:ext cx="10607040" cy="3383280"/>
          </a:xfrm>
          <a:prstGeom prst="rect">
            <a:avLst/>
          </a:prstGeom>
          <a:noFill/>
        </p:spPr>
        <p:txBody>
          <a:bodyPr wrap="square" anchor="t" lIns="0" rIns="0" tIns="0" bIns="0">
            <a:spAutoFit/>
          </a:bodyPr>
          <a:lstStyle/>
          <a:p>
            <a:pPr algn="l">
              <a:lnSpc>
                <a:spcPct val="106000"/>
              </a:lnSpc>
              <a:spcAft>
                <a:spcPts val="1800"/>
              </a:spcAft>
            </a:pPr>
            <a:r>
              <a:rPr sz="2100" b="1">
                <a:solidFill>
                  <a:srgbClr val="FDB515"/>
                </a:solidFill>
                <a:latin typeface="Arial"/>
              </a:rPr>
              <a:t>—  </a:t>
            </a:r>
            <a:r>
              <a:rPr sz="2100" b="1">
                <a:solidFill>
                  <a:srgbClr val="003262"/>
                </a:solidFill>
                <a:latin typeface="Arial"/>
              </a:rPr>
              <a:t>Code → paper:  </a:t>
            </a:r>
            <a:r>
              <a:rPr sz="2100">
                <a:solidFill>
                  <a:srgbClr val="1A1F2B"/>
                </a:solidFill>
                <a:latin typeface="Arial"/>
              </a:rPr>
              <a:t>“SYSTEM.md has changed — update and build the paper.”  “build the paper” appears in 73 tasks.</a:t>
            </a:r>
          </a:p>
          <a:p>
            <a:pPr algn="l">
              <a:lnSpc>
                <a:spcPct val="106000"/>
              </a:lnSpc>
              <a:spcAft>
                <a:spcPts val="1800"/>
              </a:spcAft>
            </a:pPr>
            <a:r>
              <a:rPr sz="2100" b="1">
                <a:solidFill>
                  <a:srgbClr val="FDB515"/>
                </a:solidFill>
                <a:latin typeface="Arial"/>
              </a:rPr>
              <a:t>—  </a:t>
            </a:r>
            <a:r>
              <a:rPr sz="2100" b="1">
                <a:solidFill>
                  <a:srgbClr val="003262"/>
                </a:solidFill>
                <a:latin typeface="Arial"/>
              </a:rPr>
              <a:t>Paper → code:  </a:t>
            </a:r>
            <a:r>
              <a:rPr sz="2100">
                <a:solidFill>
                  <a:srgbClr val="1A1F2B"/>
                </a:solidFill>
                <a:latin typeface="Arial"/>
              </a:rPr>
              <a:t>“I fixed typos in the prompt in the paper — update SYSTEM.md” uses the paper as source of truth.</a:t>
            </a:r>
          </a:p>
          <a:p>
            <a:pPr algn="l">
              <a:lnSpc>
                <a:spcPct val="106000"/>
              </a:lnSpc>
              <a:spcAft>
                <a:spcPts val="1800"/>
              </a:spcAft>
            </a:pPr>
            <a:r>
              <a:rPr sz="2100" b="1">
                <a:solidFill>
                  <a:srgbClr val="FDB515"/>
                </a:solidFill>
                <a:latin typeface="Arial"/>
              </a:rPr>
              <a:t>—  </a:t>
            </a:r>
            <a:r>
              <a:rPr sz="2100" b="1">
                <a:solidFill>
                  <a:srgbClr val="003262"/>
                </a:solidFill>
                <a:latin typeface="Arial"/>
              </a:rPr>
              <a:t>Consistency audits:  </a:t>
            </a:r>
            <a:r>
              <a:rPr sz="2100">
                <a:solidFill>
                  <a:srgbClr val="1A1F2B"/>
                </a:solidFill>
                <a:latin typeface="Arial"/>
              </a:rPr>
              <a:t>the same agent reads both LaTeX and code, so divergence is mechanically detectable.</a:t>
            </a:r>
          </a:p>
          <a:p>
            <a:pPr algn="l">
              <a:lnSpc>
                <a:spcPct val="106000"/>
              </a:lnSpc>
              <a:spcAft>
                <a:spcPts val="1800"/>
              </a:spcAft>
            </a:pPr>
            <a:r>
              <a:rPr sz="2100" b="1">
                <a:solidFill>
                  <a:srgbClr val="FDB515"/>
                </a:solidFill>
                <a:latin typeface="Arial"/>
              </a:rPr>
              <a:t>—  </a:t>
            </a:r>
            <a:r>
              <a:rPr sz="2100" b="1">
                <a:solidFill>
                  <a:srgbClr val="003262"/>
                </a:solidFill>
                <a:latin typeface="Arial"/>
              </a:rPr>
              <a:t>Living documentation:  </a:t>
            </a:r>
            <a:r>
              <a:rPr sz="2100">
                <a:solidFill>
                  <a:srgbClr val="1A1F2B"/>
                </a:solidFill>
                <a:latin typeface="Arial"/>
              </a:rPr>
              <a:t>the artifact describing the system is maintained by the system.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C88A00"/>
                </a:solidFill>
                <a:latin typeface="Arial"/>
              </a:rPr>
              <a:t>P  A  T  T  E  R  N     5</a:t>
            </a:r>
          </a:p>
        </p:txBody>
      </p:sp>
      <p:sp>
        <p:nvSpPr>
          <p:cNvPr id="4" name="TextBox 3"/>
          <p:cNvSpPr txBox="1"/>
          <p:nvPr/>
        </p:nvSpPr>
        <p:spPr>
          <a:xfrm>
            <a:off x="822960" y="868680"/>
            <a:ext cx="10515600" cy="1280160"/>
          </a:xfrm>
          <a:prstGeom prst="rect">
            <a:avLst/>
          </a:prstGeom>
          <a:noFill/>
        </p:spPr>
        <p:txBody>
          <a:bodyPr wrap="square" anchor="t" lIns="0" rIns="0" tIns="0" bIns="0">
            <a:spAutoFit/>
          </a:bodyPr>
          <a:lstStyle/>
          <a:p>
            <a:pPr algn="l">
              <a:lnSpc>
                <a:spcPct val="100000"/>
              </a:lnSpc>
              <a:spcBef>
                <a:spcPts val="0"/>
              </a:spcBef>
              <a:spcAft>
                <a:spcPts val="800"/>
              </a:spcAft>
            </a:pPr>
            <a:r>
              <a:rPr sz="3400" b="1" i="0">
                <a:solidFill>
                  <a:srgbClr val="003262"/>
                </a:solidFill>
                <a:latin typeface="Arial"/>
              </a:rPr>
              <a:t>Architecture investigation before change</a:t>
            </a:r>
          </a:p>
        </p:txBody>
      </p:sp>
      <p:sp>
        <p:nvSpPr>
          <p:cNvPr id="5" name="TextBox 4"/>
          <p:cNvSpPr txBox="1"/>
          <p:nvPr/>
        </p:nvSpPr>
        <p:spPr>
          <a:xfrm>
            <a:off x="822960" y="1783080"/>
            <a:ext cx="10607040" cy="822960"/>
          </a:xfrm>
          <a:prstGeom prst="rect">
            <a:avLst/>
          </a:prstGeom>
          <a:noFill/>
        </p:spPr>
        <p:txBody>
          <a:bodyPr wrap="square" anchor="t" lIns="0" rIns="0" tIns="0" bIns="0">
            <a:spAutoFit/>
          </a:bodyPr>
          <a:lstStyle/>
          <a:p>
            <a:pPr algn="l">
              <a:lnSpc>
                <a:spcPct val="112000"/>
              </a:lnSpc>
              <a:spcBef>
                <a:spcPts val="0"/>
              </a:spcBef>
              <a:spcAft>
                <a:spcPts val="800"/>
              </a:spcAft>
            </a:pPr>
            <a:r>
              <a:rPr sz="2100" b="0" i="0">
                <a:solidFill>
                  <a:srgbClr val="4A5260"/>
                </a:solidFill>
                <a:latin typeface="Arial"/>
              </a:rPr>
              <a:t>Before non-trivial changes, the developer asks the agent to explain the current design — “understand before you change.”</a:t>
            </a:r>
          </a:p>
        </p:txBody>
      </p:sp>
      <p:sp>
        <p:nvSpPr>
          <p:cNvPr id="6" name="TextBox 5"/>
          <p:cNvSpPr txBox="1"/>
          <p:nvPr/>
        </p:nvSpPr>
        <p:spPr>
          <a:xfrm>
            <a:off x="822960" y="2743200"/>
            <a:ext cx="10607040" cy="3383280"/>
          </a:xfrm>
          <a:prstGeom prst="rect">
            <a:avLst/>
          </a:prstGeom>
          <a:noFill/>
        </p:spPr>
        <p:txBody>
          <a:bodyPr wrap="square" anchor="t" lIns="0" rIns="0" tIns="0" bIns="0">
            <a:spAutoFit/>
          </a:bodyPr>
          <a:lstStyle/>
          <a:p>
            <a:pPr algn="l">
              <a:lnSpc>
                <a:spcPct val="106000"/>
              </a:lnSpc>
              <a:spcAft>
                <a:spcPts val="1800"/>
              </a:spcAft>
            </a:pPr>
            <a:r>
              <a:rPr sz="2100" b="1">
                <a:solidFill>
                  <a:srgbClr val="FDB515"/>
                </a:solidFill>
                <a:latin typeface="Arial"/>
              </a:rPr>
              <a:t>—  </a:t>
            </a:r>
            <a:r>
              <a:rPr sz="2100" b="1">
                <a:solidFill>
                  <a:srgbClr val="003262"/>
                </a:solidFill>
                <a:latin typeface="Arial"/>
              </a:rPr>
              <a:t>Explain first:  </a:t>
            </a:r>
            <a:r>
              <a:rPr sz="2100">
                <a:solidFill>
                  <a:srgbClr val="1A1F2B"/>
                </a:solidFill>
                <a:latin typeface="Arial"/>
              </a:rPr>
              <a:t>“show me the step-by-step workflow of web_server.py”; “what happens when two tasks run at once?”</a:t>
            </a:r>
          </a:p>
          <a:p>
            <a:pPr algn="l">
              <a:lnSpc>
                <a:spcPct val="106000"/>
              </a:lnSpc>
              <a:spcAft>
                <a:spcPts val="1800"/>
              </a:spcAft>
            </a:pPr>
            <a:r>
              <a:rPr sz="2100" b="1">
                <a:solidFill>
                  <a:srgbClr val="FDB515"/>
                </a:solidFill>
                <a:latin typeface="Arial"/>
              </a:rPr>
              <a:t>—  </a:t>
            </a:r>
            <a:r>
              <a:rPr sz="2100" b="1">
                <a:solidFill>
                  <a:srgbClr val="003262"/>
                </a:solidFill>
                <a:latin typeface="Arial"/>
              </a:rPr>
              <a:t>No translation loss:  </a:t>
            </a:r>
            <a:r>
              <a:rPr sz="2100">
                <a:solidFill>
                  <a:srgbClr val="1A1F2B"/>
                </a:solidFill>
                <a:latin typeface="Arial"/>
              </a:rPr>
              <a:t>the same agent produces both the explanation and the subsequent edits over the same source.</a:t>
            </a:r>
          </a:p>
          <a:p>
            <a:pPr algn="l">
              <a:lnSpc>
                <a:spcPct val="106000"/>
              </a:lnSpc>
              <a:spcAft>
                <a:spcPts val="1800"/>
              </a:spcAft>
            </a:pPr>
            <a:r>
              <a:rPr sz="2100" b="1">
                <a:solidFill>
                  <a:srgbClr val="FDB515"/>
                </a:solidFill>
                <a:latin typeface="Arial"/>
              </a:rPr>
              <a:t>—  </a:t>
            </a:r>
            <a:r>
              <a:rPr sz="2100" b="1">
                <a:solidFill>
                  <a:srgbClr val="003262"/>
                </a:solidFill>
                <a:latin typeface="Arial"/>
              </a:rPr>
              <a:t>Visual variant:  </a:t>
            </a:r>
            <a:r>
              <a:rPr sz="2100">
                <a:solidFill>
                  <a:srgbClr val="1A1F2B"/>
                </a:solidFill>
                <a:latin typeface="Arial"/>
              </a:rPr>
              <a:t>“create a graph diagram of how the server-side files are related” before reorganizing them.</a:t>
            </a:r>
          </a:p>
          <a:p>
            <a:pPr algn="l">
              <a:lnSpc>
                <a:spcPct val="106000"/>
              </a:lnSpc>
              <a:spcAft>
                <a:spcPts val="1800"/>
              </a:spcAft>
            </a:pPr>
            <a:r>
              <a:rPr sz="2100" b="1">
                <a:solidFill>
                  <a:srgbClr val="FDB515"/>
                </a:solidFill>
                <a:latin typeface="Arial"/>
              </a:rPr>
              <a:t>—  </a:t>
            </a:r>
            <a:r>
              <a:rPr sz="2100" b="1">
                <a:solidFill>
                  <a:srgbClr val="003262"/>
                </a:solidFill>
                <a:latin typeface="Arial"/>
              </a:rPr>
              <a:t>Front-loaded comprehension:  </a:t>
            </a:r>
            <a:r>
              <a:rPr sz="2100">
                <a:solidFill>
                  <a:srgbClr val="1A1F2B"/>
                </a:solidFill>
                <a:latin typeface="Arial"/>
              </a:rPr>
              <a:t>turns a vague aspiration into a precise, local edit request.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C88A00"/>
                </a:solidFill>
                <a:latin typeface="Arial"/>
              </a:rPr>
              <a:t>P  A  T  T  E  R  N     6</a:t>
            </a:r>
          </a:p>
        </p:txBody>
      </p:sp>
      <p:sp>
        <p:nvSpPr>
          <p:cNvPr id="4" name="TextBox 3"/>
          <p:cNvSpPr txBox="1"/>
          <p:nvPr/>
        </p:nvSpPr>
        <p:spPr>
          <a:xfrm>
            <a:off x="822960" y="868680"/>
            <a:ext cx="10515600" cy="1280160"/>
          </a:xfrm>
          <a:prstGeom prst="rect">
            <a:avLst/>
          </a:prstGeom>
          <a:noFill/>
        </p:spPr>
        <p:txBody>
          <a:bodyPr wrap="square" anchor="t" lIns="0" rIns="0" tIns="0" bIns="0">
            <a:spAutoFit/>
          </a:bodyPr>
          <a:lstStyle/>
          <a:p>
            <a:pPr algn="l">
              <a:lnSpc>
                <a:spcPct val="100000"/>
              </a:lnSpc>
              <a:spcBef>
                <a:spcPts val="0"/>
              </a:spcBef>
              <a:spcAft>
                <a:spcPts val="800"/>
              </a:spcAft>
            </a:pPr>
            <a:r>
              <a:rPr sz="3400" b="1" i="0">
                <a:solidFill>
                  <a:srgbClr val="003262"/>
                </a:solidFill>
                <a:latin typeface="Arial"/>
              </a:rPr>
              <a:t>System-prompt engineering</a:t>
            </a:r>
          </a:p>
        </p:txBody>
      </p:sp>
      <p:sp>
        <p:nvSpPr>
          <p:cNvPr id="5" name="TextBox 4"/>
          <p:cNvSpPr txBox="1"/>
          <p:nvPr/>
        </p:nvSpPr>
        <p:spPr>
          <a:xfrm>
            <a:off x="822960" y="1783080"/>
            <a:ext cx="10607040" cy="822960"/>
          </a:xfrm>
          <a:prstGeom prst="rect">
            <a:avLst/>
          </a:prstGeom>
          <a:noFill/>
        </p:spPr>
        <p:txBody>
          <a:bodyPr wrap="square" anchor="t" lIns="0" rIns="0" tIns="0" bIns="0">
            <a:spAutoFit/>
          </a:bodyPr>
          <a:lstStyle/>
          <a:p>
            <a:pPr algn="l">
              <a:lnSpc>
                <a:spcPct val="112000"/>
              </a:lnSpc>
              <a:spcBef>
                <a:spcPts val="0"/>
              </a:spcBef>
              <a:spcAft>
                <a:spcPts val="800"/>
              </a:spcAft>
            </a:pPr>
            <a:r>
              <a:rPr sz="2100" b="0" i="0">
                <a:solidFill>
                  <a:srgbClr val="4A5260"/>
                </a:solidFill>
                <a:latin typeface="Arial"/>
              </a:rPr>
              <a:t>~100 tasks refined the system prompt itself — treated as production code, tested against observed behavior.</a:t>
            </a:r>
          </a:p>
        </p:txBody>
      </p:sp>
      <p:sp>
        <p:nvSpPr>
          <p:cNvPr id="6" name="TextBox 5"/>
          <p:cNvSpPr txBox="1"/>
          <p:nvPr/>
        </p:nvSpPr>
        <p:spPr>
          <a:xfrm>
            <a:off x="822960" y="2743200"/>
            <a:ext cx="10607040" cy="3383280"/>
          </a:xfrm>
          <a:prstGeom prst="rect">
            <a:avLst/>
          </a:prstGeom>
          <a:noFill/>
        </p:spPr>
        <p:txBody>
          <a:bodyPr wrap="square" anchor="t" lIns="0" rIns="0" tIns="0" bIns="0">
            <a:spAutoFit/>
          </a:bodyPr>
          <a:lstStyle/>
          <a:p>
            <a:pPr algn="l">
              <a:lnSpc>
                <a:spcPct val="106000"/>
              </a:lnSpc>
              <a:spcAft>
                <a:spcPts val="1800"/>
              </a:spcAft>
            </a:pPr>
            <a:r>
              <a:rPr sz="2100" b="1">
                <a:solidFill>
                  <a:srgbClr val="FDB515"/>
                </a:solidFill>
                <a:latin typeface="Arial"/>
              </a:rPr>
              <a:t>—  </a:t>
            </a:r>
            <a:r>
              <a:rPr sz="2100" b="1">
                <a:solidFill>
                  <a:srgbClr val="003262"/>
                </a:solidFill>
                <a:latin typeface="Arial"/>
              </a:rPr>
              <a:t>Log as test data:  </a:t>
            </a:r>
            <a:r>
              <a:rPr sz="2100">
                <a:solidFill>
                  <a:srgbClr val="1A1F2B"/>
                </a:solidFill>
                <a:latin typeface="Arial"/>
              </a:rPr>
              <a:t>“look at yesterday's tasks; which instructions are not being followed? Fix them.”</a:t>
            </a:r>
          </a:p>
          <a:p>
            <a:pPr algn="l">
              <a:lnSpc>
                <a:spcPct val="106000"/>
              </a:lnSpc>
              <a:spcAft>
                <a:spcPts val="1800"/>
              </a:spcAft>
            </a:pPr>
            <a:r>
              <a:rPr sz="2100" b="1">
                <a:solidFill>
                  <a:srgbClr val="FDB515"/>
                </a:solidFill>
                <a:latin typeface="Arial"/>
              </a:rPr>
              <a:t>—  </a:t>
            </a:r>
            <a:r>
              <a:rPr sz="2100" b="1">
                <a:solidFill>
                  <a:srgbClr val="003262"/>
                </a:solidFill>
                <a:latin typeface="Arial"/>
              </a:rPr>
              <a:t>Mutation testing for a spec:  </a:t>
            </a:r>
            <a:r>
              <a:rPr sz="2100">
                <a:solidFill>
                  <a:srgbClr val="1A1F2B"/>
                </a:solidFill>
                <a:latin typeface="Arial"/>
              </a:rPr>
              <a:t>write a real-LLM test to confirm an observed deviation, then patch the prompt.</a:t>
            </a:r>
          </a:p>
          <a:p>
            <a:pPr algn="l">
              <a:lnSpc>
                <a:spcPct val="106000"/>
              </a:lnSpc>
              <a:spcAft>
                <a:spcPts val="1800"/>
              </a:spcAft>
            </a:pPr>
            <a:r>
              <a:rPr sz="2100" b="1">
                <a:solidFill>
                  <a:srgbClr val="FDB515"/>
                </a:solidFill>
                <a:latin typeface="Arial"/>
              </a:rPr>
              <a:t>—  </a:t>
            </a:r>
            <a:r>
              <a:rPr sz="2100" b="1">
                <a:solidFill>
                  <a:srgbClr val="003262"/>
                </a:solidFill>
                <a:latin typeface="Arial"/>
              </a:rPr>
              <a:t>Reactive rules:  </a:t>
            </a:r>
            <a:r>
              <a:rPr sz="2100">
                <a:solidFill>
                  <a:srgbClr val="1A1F2B"/>
                </a:solidFill>
                <a:latin typeface="Arial"/>
              </a:rPr>
              <a:t>the tmp/ rule, the curl/wget ban, and the “visit ≥10 websites” rule were all added after the log exposed evasions.</a:t>
            </a:r>
          </a:p>
          <a:p>
            <a:pPr algn="l">
              <a:lnSpc>
                <a:spcPct val="106000"/>
              </a:lnSpc>
              <a:spcAft>
                <a:spcPts val="1800"/>
              </a:spcAft>
            </a:pPr>
            <a:r>
              <a:rPr sz="2100" b="1">
                <a:solidFill>
                  <a:srgbClr val="FDB515"/>
                </a:solidFill>
                <a:latin typeface="Arial"/>
              </a:rPr>
              <a:t>—  </a:t>
            </a:r>
            <a:r>
              <a:rPr sz="2100" b="1">
                <a:solidFill>
                  <a:srgbClr val="003262"/>
                </a:solidFill>
                <a:latin typeface="Arial"/>
              </a:rPr>
              <a:t>Calmer voice:  </a:t>
            </a:r>
            <a:r>
              <a:rPr sz="2100">
                <a:solidFill>
                  <a:srgbClr val="1A1F2B"/>
                </a:solidFill>
                <a:latin typeface="Arial"/>
              </a:rPr>
              <a:t>evolved from “BE RELENTLESS” to “be rigorous, check facts, produce high-quality 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C88A00"/>
                </a:solidFill>
                <a:latin typeface="Arial"/>
              </a:rPr>
              <a:t>P  A  T  T  E  R  N     7</a:t>
            </a:r>
          </a:p>
        </p:txBody>
      </p:sp>
      <p:sp>
        <p:nvSpPr>
          <p:cNvPr id="4" name="TextBox 3"/>
          <p:cNvSpPr txBox="1"/>
          <p:nvPr/>
        </p:nvSpPr>
        <p:spPr>
          <a:xfrm>
            <a:off x="822960" y="868680"/>
            <a:ext cx="10515600" cy="1280160"/>
          </a:xfrm>
          <a:prstGeom prst="rect">
            <a:avLst/>
          </a:prstGeom>
          <a:noFill/>
        </p:spPr>
        <p:txBody>
          <a:bodyPr wrap="square" anchor="t" lIns="0" rIns="0" tIns="0" bIns="0">
            <a:spAutoFit/>
          </a:bodyPr>
          <a:lstStyle/>
          <a:p>
            <a:pPr algn="l">
              <a:lnSpc>
                <a:spcPct val="100000"/>
              </a:lnSpc>
              <a:spcBef>
                <a:spcPts val="0"/>
              </a:spcBef>
              <a:spcAft>
                <a:spcPts val="800"/>
              </a:spcAft>
            </a:pPr>
            <a:r>
              <a:rPr sz="3400" b="1" i="0">
                <a:solidFill>
                  <a:srgbClr val="003262"/>
                </a:solidFill>
                <a:latin typeface="Arial"/>
              </a:rPr>
              <a:t>Multi-channel general assistance</a:t>
            </a:r>
          </a:p>
        </p:txBody>
      </p:sp>
      <p:sp>
        <p:nvSpPr>
          <p:cNvPr id="5" name="TextBox 4"/>
          <p:cNvSpPr txBox="1"/>
          <p:nvPr/>
        </p:nvSpPr>
        <p:spPr>
          <a:xfrm>
            <a:off x="822960" y="1783080"/>
            <a:ext cx="10607040" cy="822960"/>
          </a:xfrm>
          <a:prstGeom prst="rect">
            <a:avLst/>
          </a:prstGeom>
          <a:noFill/>
        </p:spPr>
        <p:txBody>
          <a:bodyPr wrap="square" anchor="t" lIns="0" rIns="0" tIns="0" bIns="0">
            <a:spAutoFit/>
          </a:bodyPr>
          <a:lstStyle/>
          <a:p>
            <a:pPr algn="l">
              <a:lnSpc>
                <a:spcPct val="112000"/>
              </a:lnSpc>
              <a:spcBef>
                <a:spcPts val="0"/>
              </a:spcBef>
              <a:spcAft>
                <a:spcPts val="800"/>
              </a:spcAft>
            </a:pPr>
            <a:r>
              <a:rPr sz="2100" b="0" i="0">
                <a:solidFill>
                  <a:srgbClr val="4A5260"/>
                </a:solidFill>
                <a:latin typeface="Arial"/>
              </a:rPr>
              <a:t>The same prompt and architecture serve non-coding tasks — one agent, one prompt, one architecture, scaling across domains.</a:t>
            </a:r>
          </a:p>
        </p:txBody>
      </p:sp>
      <p:sp>
        <p:nvSpPr>
          <p:cNvPr id="6" name="TextBox 5"/>
          <p:cNvSpPr txBox="1"/>
          <p:nvPr/>
        </p:nvSpPr>
        <p:spPr>
          <a:xfrm>
            <a:off x="822960" y="2743200"/>
            <a:ext cx="10607040" cy="3383280"/>
          </a:xfrm>
          <a:prstGeom prst="rect">
            <a:avLst/>
          </a:prstGeom>
          <a:noFill/>
        </p:spPr>
        <p:txBody>
          <a:bodyPr wrap="square" anchor="t" lIns="0" rIns="0" tIns="0" bIns="0">
            <a:spAutoFit/>
          </a:bodyPr>
          <a:lstStyle/>
          <a:p>
            <a:pPr algn="l">
              <a:lnSpc>
                <a:spcPct val="106000"/>
              </a:lnSpc>
              <a:spcAft>
                <a:spcPts val="1800"/>
              </a:spcAft>
            </a:pPr>
            <a:r>
              <a:rPr sz="2100" b="1">
                <a:solidFill>
                  <a:srgbClr val="FDB515"/>
                </a:solidFill>
                <a:latin typeface="Arial"/>
              </a:rPr>
              <a:t>—  </a:t>
            </a:r>
            <a:r>
              <a:rPr sz="2100" b="1">
                <a:solidFill>
                  <a:srgbClr val="003262"/>
                </a:solidFill>
                <a:latin typeface="Arial"/>
              </a:rPr>
              <a:t>Smart home:  </a:t>
            </a:r>
            <a:r>
              <a:rPr sz="2100">
                <a:solidFill>
                  <a:srgbClr val="1A1F2B"/>
                </a:solidFill>
                <a:latin typeface="Arial"/>
              </a:rPr>
              <a:t>Govee lights.   Travel: Yosemite trip planning.</a:t>
            </a:r>
          </a:p>
          <a:p>
            <a:pPr algn="l">
              <a:lnSpc>
                <a:spcPct val="106000"/>
              </a:lnSpc>
              <a:spcAft>
                <a:spcPts val="1800"/>
              </a:spcAft>
            </a:pPr>
            <a:r>
              <a:rPr sz="2100" b="1">
                <a:solidFill>
                  <a:srgbClr val="FDB515"/>
                </a:solidFill>
                <a:latin typeface="Arial"/>
              </a:rPr>
              <a:t>—  </a:t>
            </a:r>
            <a:r>
              <a:rPr sz="2100" b="1">
                <a:solidFill>
                  <a:srgbClr val="003262"/>
                </a:solidFill>
                <a:latin typeface="Arial"/>
              </a:rPr>
              <a:t>Weather, shopping, finance:  </a:t>
            </a:r>
            <a:r>
              <a:rPr sz="2100">
                <a:solidFill>
                  <a:srgbClr val="1A1F2B"/>
                </a:solidFill>
                <a:latin typeface="Arial"/>
              </a:rPr>
              <a:t>current-data queries and ETF analysis.</a:t>
            </a:r>
          </a:p>
          <a:p>
            <a:pPr algn="l">
              <a:lnSpc>
                <a:spcPct val="106000"/>
              </a:lnSpc>
              <a:spcAft>
                <a:spcPts val="1800"/>
              </a:spcAft>
            </a:pPr>
            <a:r>
              <a:rPr sz="2100" b="1">
                <a:solidFill>
                  <a:srgbClr val="FDB515"/>
                </a:solidFill>
                <a:latin typeface="Arial"/>
              </a:rPr>
              <a:t>—  </a:t>
            </a:r>
            <a:r>
              <a:rPr sz="2100" b="1">
                <a:solidFill>
                  <a:srgbClr val="003262"/>
                </a:solidFill>
                <a:latin typeface="Arial"/>
              </a:rPr>
              <a:t>Communication:  </a:t>
            </a:r>
            <a:r>
              <a:rPr sz="2100">
                <a:solidFill>
                  <a:srgbClr val="1A1F2B"/>
                </a:solidFill>
                <a:latin typeface="Arial"/>
              </a:rPr>
              <a:t>Slack, iMessage, Gmail — uniform third-party agent interface, no special routing.</a:t>
            </a:r>
          </a:p>
          <a:p>
            <a:pPr algn="l">
              <a:lnSpc>
                <a:spcPct val="106000"/>
              </a:lnSpc>
              <a:spcAft>
                <a:spcPts val="1800"/>
              </a:spcAft>
            </a:pPr>
            <a:r>
              <a:rPr sz="2100" b="1">
                <a:solidFill>
                  <a:srgbClr val="FDB515"/>
                </a:solidFill>
                <a:latin typeface="Arial"/>
              </a:rPr>
              <a:t>—  </a:t>
            </a:r>
            <a:r>
              <a:rPr sz="2100" b="1">
                <a:solidFill>
                  <a:srgbClr val="003262"/>
                </a:solidFill>
                <a:latin typeface="Arial"/>
              </a:rPr>
              <a:t>Same rigor off-task:  </a:t>
            </a:r>
            <a:r>
              <a:rPr sz="2100">
                <a:solidFill>
                  <a:srgbClr val="1A1F2B"/>
                </a:solidFill>
                <a:latin typeface="Arial"/>
              </a:rPr>
              <a:t>Web Research protocol applies; an unethical hacking request was refused with five legitimate alternatives.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anchor="t" lIns="0" rIns="0" tIns="0" bIns="0">
            <a:spAutoFit/>
          </a:bodyPr>
          <a:lstStyle/>
          <a:p>
            <a:r>
              <a:rPr sz="1300" b="1" i="0">
                <a:solidFill>
                  <a:srgbClr val="C88A00"/>
                </a:solidFill>
                <a:latin typeface="Arial"/>
              </a:rPr>
              <a:t>F  R  O  M      T  H  E      L  O  G</a:t>
            </a:r>
          </a:p>
        </p:txBody>
      </p:sp>
      <p:sp>
        <p:nvSpPr>
          <p:cNvPr id="4" name="TextBox 3"/>
          <p:cNvSpPr txBox="1"/>
          <p:nvPr/>
        </p:nvSpPr>
        <p:spPr>
          <a:xfrm>
            <a:off x="822960" y="868680"/>
            <a:ext cx="10515600" cy="1280160"/>
          </a:xfrm>
          <a:prstGeom prst="rect">
            <a:avLst/>
          </a:prstGeom>
          <a:noFill/>
        </p:spPr>
        <p:txBody>
          <a:bodyPr wrap="square" anchor="t" lIns="0" rIns="0" tIns="0" bIns="0">
            <a:spAutoFit/>
          </a:bodyPr>
          <a:lstStyle/>
          <a:p>
            <a:r>
              <a:rPr sz="3400" b="1" i="0">
                <a:solidFill>
                  <a:srgbClr val="003262"/>
                </a:solidFill>
                <a:latin typeface="Arial"/>
              </a:rPr>
              <a:t>Verbatim user tasks — engineering</a:t>
            </a:r>
          </a:p>
        </p:txBody>
      </p:sp>
      <p:sp>
        <p:nvSpPr>
          <p:cNvPr id="5" name="TextBox 4"/>
          <p:cNvSpPr txBox="1"/>
          <p:nvPr/>
        </p:nvSpPr>
        <p:spPr>
          <a:xfrm>
            <a:off x="822960" y="1783080"/>
            <a:ext cx="10607040" cy="502920"/>
          </a:xfrm>
          <a:prstGeom prst="rect">
            <a:avLst/>
          </a:prstGeom>
          <a:noFill/>
        </p:spPr>
        <p:txBody>
          <a:bodyPr wrap="square" anchor="t" lIns="0" rIns="0" tIns="0" bIns="0">
            <a:spAutoFit/>
          </a:bodyPr>
          <a:lstStyle/>
          <a:p>
            <a:pPr>
              <a:lnSpc>
                <a:spcPct val="112000"/>
              </a:lnSpc>
            </a:pPr>
            <a:r>
              <a:rPr sz="2100" b="0" i="0">
                <a:solidFill>
                  <a:srgbClr val="4A5260"/>
                </a:solidFill>
                <a:latin typeface="Arial"/>
              </a:rPr>
              <a:t>Real, unedited requests recorded in sorcar.db — short natural language, one task at a time.</a:t>
            </a:r>
          </a:p>
        </p:txBody>
      </p:sp>
      <p:sp>
        <p:nvSpPr>
          <p:cNvPr id="6" name="Rectangle 5"/>
          <p:cNvSpPr/>
          <p:nvPr/>
        </p:nvSpPr>
        <p:spPr>
          <a:xfrm>
            <a:off x="822960" y="2377440"/>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2377440"/>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578608"/>
            <a:ext cx="4617720" cy="603503"/>
          </a:xfrm>
          <a:prstGeom prst="rect">
            <a:avLst/>
          </a:prstGeom>
          <a:noFill/>
        </p:spPr>
        <p:txBody>
          <a:bodyPr wrap="square" anchor="ctr" lIns="0" rIns="0" tIns="0" bIns="0">
            <a:spAutoFit/>
          </a:bodyPr>
          <a:lstStyle/>
          <a:p>
            <a:pPr>
              <a:spcAft>
                <a:spcPts val="600"/>
              </a:spcAft>
            </a:pPr>
            <a:r>
              <a:rPr sz="1200" b="1" i="0">
                <a:solidFill>
                  <a:srgbClr val="FDB515"/>
                </a:solidFill>
                <a:latin typeface="Arial"/>
              </a:rPr>
              <a:t>TEST-FIRST BUG FIX</a:t>
            </a:r>
          </a:p>
          <a:p>
            <a:pPr>
              <a:lnSpc>
                <a:spcPct val="110000"/>
              </a:lnSpc>
            </a:pPr>
            <a:r>
              <a:rPr sz="1450" b="0" i="1">
                <a:solidFill>
                  <a:srgbClr val="FFFFFF"/>
                </a:solidFill>
                <a:latin typeface="Arial"/>
              </a:rPr>
              <a:t>“Can you reproduce the bug by writing an integration test? Then fix it.”</a:t>
            </a:r>
          </a:p>
        </p:txBody>
      </p:sp>
      <p:sp>
        <p:nvSpPr>
          <p:cNvPr id="9" name="Rectangle 8"/>
          <p:cNvSpPr/>
          <p:nvPr/>
        </p:nvSpPr>
        <p:spPr>
          <a:xfrm>
            <a:off x="6172200" y="2377440"/>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72200" y="2377440"/>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2578608"/>
            <a:ext cx="4617720" cy="603503"/>
          </a:xfrm>
          <a:prstGeom prst="rect">
            <a:avLst/>
          </a:prstGeom>
          <a:noFill/>
        </p:spPr>
        <p:txBody>
          <a:bodyPr wrap="square" anchor="ctr" lIns="0" rIns="0" tIns="0" bIns="0">
            <a:spAutoFit/>
          </a:bodyPr>
          <a:lstStyle/>
          <a:p>
            <a:pPr>
              <a:spcAft>
                <a:spcPts val="600"/>
              </a:spcAft>
            </a:pPr>
            <a:r>
              <a:rPr sz="1200" b="1" i="0">
                <a:solidFill>
                  <a:srgbClr val="FDB515"/>
                </a:solidFill>
                <a:latin typeface="Arial"/>
              </a:rPr>
              <a:t>BUG REPORT</a:t>
            </a:r>
          </a:p>
          <a:p>
            <a:pPr>
              <a:lnSpc>
                <a:spcPct val="110000"/>
              </a:lnSpc>
            </a:pPr>
            <a:r>
              <a:rPr sz="1450" b="0" i="1">
                <a:solidFill>
                  <a:srgbClr val="FFFFFF"/>
                </a:solidFill>
                <a:latin typeface="Arial"/>
              </a:rPr>
              <a:t>“ask_user_question is not showing its window in the web/mobile app.”</a:t>
            </a:r>
          </a:p>
        </p:txBody>
      </p:sp>
      <p:sp>
        <p:nvSpPr>
          <p:cNvPr id="12" name="Rectangle 11"/>
          <p:cNvSpPr/>
          <p:nvPr/>
        </p:nvSpPr>
        <p:spPr>
          <a:xfrm>
            <a:off x="822960" y="3415284"/>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 y="3415284"/>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616452"/>
            <a:ext cx="4617720" cy="603503"/>
          </a:xfrm>
          <a:prstGeom prst="rect">
            <a:avLst/>
          </a:prstGeom>
          <a:noFill/>
        </p:spPr>
        <p:txBody>
          <a:bodyPr wrap="square" anchor="ctr" lIns="0" rIns="0" tIns="0" bIns="0">
            <a:spAutoFit/>
          </a:bodyPr>
          <a:lstStyle/>
          <a:p>
            <a:pPr>
              <a:spcAft>
                <a:spcPts val="600"/>
              </a:spcAft>
            </a:pPr>
            <a:r>
              <a:rPr sz="1200" b="1" i="0">
                <a:solidFill>
                  <a:srgbClr val="FDB515"/>
                </a:solidFill>
                <a:latin typeface="Arial"/>
              </a:rPr>
              <a:t>CODE HYGIENE</a:t>
            </a:r>
          </a:p>
          <a:p>
            <a:pPr>
              <a:lnSpc>
                <a:spcPct val="110000"/>
              </a:lnSpc>
            </a:pPr>
            <a:r>
              <a:rPr sz="1450" b="0" i="1">
                <a:solidFill>
                  <a:srgbClr val="FFFFFF"/>
                </a:solidFill>
                <a:latin typeface="Arial"/>
              </a:rPr>
              <a:t>“uv run check --full and fix” — the 2nd most frequent command (50×).</a:t>
            </a:r>
          </a:p>
        </p:txBody>
      </p:sp>
      <p:sp>
        <p:nvSpPr>
          <p:cNvPr id="15" name="Rectangle 14"/>
          <p:cNvSpPr/>
          <p:nvPr/>
        </p:nvSpPr>
        <p:spPr>
          <a:xfrm>
            <a:off x="6172200" y="3415284"/>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415284"/>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3616452"/>
            <a:ext cx="4617720" cy="603503"/>
          </a:xfrm>
          <a:prstGeom prst="rect">
            <a:avLst/>
          </a:prstGeom>
          <a:noFill/>
        </p:spPr>
        <p:txBody>
          <a:bodyPr wrap="square" anchor="ctr" lIns="0" rIns="0" tIns="0" bIns="0">
            <a:spAutoFit/>
          </a:bodyPr>
          <a:lstStyle/>
          <a:p>
            <a:pPr>
              <a:spcAft>
                <a:spcPts val="600"/>
              </a:spcAft>
            </a:pPr>
            <a:r>
              <a:rPr sz="1200" b="1" i="0">
                <a:solidFill>
                  <a:srgbClr val="FDB515"/>
                </a:solidFill>
                <a:latin typeface="Arial"/>
              </a:rPr>
              <a:t>DIRECTORY AUDIT</a:t>
            </a:r>
          </a:p>
          <a:p>
            <a:pPr>
              <a:lnSpc>
                <a:spcPct val="110000"/>
              </a:lnSpc>
            </a:pPr>
            <a:r>
              <a:rPr sz="1450" b="0" i="1">
                <a:solidFill>
                  <a:srgbClr val="FFFFFF"/>
                </a:solidFill>
                <a:latin typeface="Arial"/>
              </a:rPr>
              <a:t>“Find all bugs, redundancies, and inconsistencies in agents/vscode/.”</a:t>
            </a:r>
          </a:p>
        </p:txBody>
      </p:sp>
      <p:sp>
        <p:nvSpPr>
          <p:cNvPr id="18" name="Rectangle 17"/>
          <p:cNvSpPr/>
          <p:nvPr/>
        </p:nvSpPr>
        <p:spPr>
          <a:xfrm>
            <a:off x="822960" y="4453128"/>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2960" y="4453128"/>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654296"/>
            <a:ext cx="4617720" cy="603503"/>
          </a:xfrm>
          <a:prstGeom prst="rect">
            <a:avLst/>
          </a:prstGeom>
          <a:noFill/>
        </p:spPr>
        <p:txBody>
          <a:bodyPr wrap="square" anchor="ctr" lIns="0" rIns="0" tIns="0" bIns="0">
            <a:spAutoFit/>
          </a:bodyPr>
          <a:lstStyle/>
          <a:p>
            <a:pPr>
              <a:spcAft>
                <a:spcPts val="600"/>
              </a:spcAft>
            </a:pPr>
            <a:r>
              <a:rPr sz="1200" b="1" i="0">
                <a:solidFill>
                  <a:srgbClr val="FDB515"/>
                </a:solidFill>
                <a:latin typeface="Arial"/>
              </a:rPr>
              <a:t>DEFENSIVE REVERT</a:t>
            </a:r>
          </a:p>
          <a:p>
            <a:pPr>
              <a:lnSpc>
                <a:spcPct val="110000"/>
              </a:lnSpc>
            </a:pPr>
            <a:r>
              <a:rPr sz="1450" b="0" i="1">
                <a:solidFill>
                  <a:srgbClr val="FFFFFF"/>
                </a:solidFill>
                <a:latin typeface="Arial"/>
              </a:rPr>
              <a:t>“Can you get rid of the last commit to main?” — recurs 30+ times.</a:t>
            </a:r>
          </a:p>
        </p:txBody>
      </p:sp>
      <p:sp>
        <p:nvSpPr>
          <p:cNvPr id="21" name="Rectangle 20"/>
          <p:cNvSpPr/>
          <p:nvPr/>
        </p:nvSpPr>
        <p:spPr>
          <a:xfrm>
            <a:off x="6172200" y="4453128"/>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2200" y="4453128"/>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4654296"/>
            <a:ext cx="4617720" cy="603503"/>
          </a:xfrm>
          <a:prstGeom prst="rect">
            <a:avLst/>
          </a:prstGeom>
          <a:noFill/>
        </p:spPr>
        <p:txBody>
          <a:bodyPr wrap="square" anchor="ctr" lIns="0" rIns="0" tIns="0" bIns="0">
            <a:spAutoFit/>
          </a:bodyPr>
          <a:lstStyle/>
          <a:p>
            <a:pPr>
              <a:spcAft>
                <a:spcPts val="600"/>
              </a:spcAft>
            </a:pPr>
            <a:r>
              <a:rPr sz="1200" b="1" i="0">
                <a:solidFill>
                  <a:srgbClr val="FDB515"/>
                </a:solidFill>
                <a:latin typeface="Arial"/>
              </a:rPr>
              <a:t>ITERATIVE FEATURE</a:t>
            </a:r>
          </a:p>
          <a:p>
            <a:pPr>
              <a:lnSpc>
                <a:spcPct val="110000"/>
              </a:lnSpc>
            </a:pPr>
            <a:r>
              <a:rPr sz="1450" b="0" i="1">
                <a:solidFill>
                  <a:srgbClr val="FFFFFF"/>
                </a:solidFill>
                <a:latin typeface="Arial"/>
              </a:rPr>
              <a:t>“Let the user access KISS Sorcar from any device with a browser.”</a:t>
            </a:r>
          </a:p>
        </p:txBody>
      </p:sp>
      <p:sp>
        <p:nvSpPr>
          <p:cNvPr id="24" name="Rectangle 23"/>
          <p:cNvSpPr/>
          <p:nvPr/>
        </p:nvSpPr>
        <p:spPr>
          <a:xfrm>
            <a:off x="822960" y="5490972"/>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60" y="5490972"/>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97280" y="5692140"/>
            <a:ext cx="4617720" cy="603503"/>
          </a:xfrm>
          <a:prstGeom prst="rect">
            <a:avLst/>
          </a:prstGeom>
          <a:noFill/>
        </p:spPr>
        <p:txBody>
          <a:bodyPr wrap="square" anchor="ctr" lIns="0" rIns="0" tIns="0" bIns="0">
            <a:spAutoFit/>
          </a:bodyPr>
          <a:lstStyle/>
          <a:p>
            <a:pPr>
              <a:spcAft>
                <a:spcPts val="600"/>
              </a:spcAft>
            </a:pPr>
            <a:r>
              <a:rPr sz="1200" b="1" i="0">
                <a:solidFill>
                  <a:srgbClr val="FDB515"/>
                </a:solidFill>
                <a:latin typeface="Arial"/>
              </a:rPr>
              <a:t>INVESTIGATE FIRST</a:t>
            </a:r>
          </a:p>
          <a:p>
            <a:pPr>
              <a:lnSpc>
                <a:spcPct val="110000"/>
              </a:lnSpc>
            </a:pPr>
            <a:r>
              <a:rPr sz="1450" b="0" i="1">
                <a:solidFill>
                  <a:srgbClr val="FFFFFF"/>
                </a:solidFill>
                <a:latin typeface="Arial"/>
              </a:rPr>
              <a:t>“Show me the detailed step-by-step workflow of web_server.py.”</a:t>
            </a:r>
          </a:p>
        </p:txBody>
      </p:sp>
      <p:sp>
        <p:nvSpPr>
          <p:cNvPr id="27" name="Rectangle 26"/>
          <p:cNvSpPr/>
          <p:nvPr/>
        </p:nvSpPr>
        <p:spPr>
          <a:xfrm>
            <a:off x="6172200" y="5490972"/>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72200" y="5490972"/>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46520" y="5692140"/>
            <a:ext cx="4617720" cy="603503"/>
          </a:xfrm>
          <a:prstGeom prst="rect">
            <a:avLst/>
          </a:prstGeom>
          <a:noFill/>
        </p:spPr>
        <p:txBody>
          <a:bodyPr wrap="square" anchor="ctr" lIns="0" rIns="0" tIns="0" bIns="0">
            <a:spAutoFit/>
          </a:bodyPr>
          <a:lstStyle/>
          <a:p>
            <a:pPr>
              <a:spcAft>
                <a:spcPts val="600"/>
              </a:spcAft>
            </a:pPr>
            <a:r>
              <a:rPr sz="1200" b="1" i="0">
                <a:solidFill>
                  <a:srgbClr val="FDB515"/>
                </a:solidFill>
                <a:latin typeface="Arial"/>
              </a:rPr>
              <a:t>PROMPT ENGINEERING</a:t>
            </a:r>
          </a:p>
          <a:p>
            <a:pPr>
              <a:lnSpc>
                <a:spcPct val="110000"/>
              </a:lnSpc>
            </a:pPr>
            <a:r>
              <a:rPr sz="1450" b="0" i="1">
                <a:solidFill>
                  <a:srgbClr val="FFFFFF"/>
                </a:solidFill>
                <a:latin typeface="Arial"/>
              </a:rPr>
              <a:t>“Which SYSTEM.md instructions were not followed yesterday? Fix them.”</a:t>
            </a:r>
          </a:p>
        </p:txBody>
      </p:sp>
      <p:sp>
        <p:nvSpPr>
          <p:cNvPr id="30" name="Rectangle 29"/>
          <p:cNvSpPr/>
          <p:nvPr/>
        </p:nvSpPr>
        <p:spPr>
          <a:xfrm>
            <a:off x="0" y="6510528"/>
            <a:ext cx="12188952" cy="27432"/>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6547104"/>
            <a:ext cx="8229600" cy="274320"/>
          </a:xfrm>
          <a:prstGeom prst="rect">
            <a:avLst/>
          </a:prstGeom>
          <a:noFill/>
        </p:spPr>
        <p:txBody>
          <a:bodyPr wrap="square" anchor="t" lIns="0" rIns="0" tIns="0" bIns="0">
            <a:spAutoFit/>
          </a:bodyPr>
          <a:lstStyle/>
          <a:p>
            <a:r>
              <a:rPr sz="1100" b="0" i="0">
                <a:solidFill>
                  <a:srgbClr val="4A5260"/>
                </a:solidFill>
                <a:latin typeface="Arial"/>
              </a:rPr>
              <a:t>KISS Sorcar  ·  K. Sen, UC Berkeley</a:t>
            </a:r>
          </a:p>
        </p:txBody>
      </p:sp>
      <p:sp>
        <p:nvSpPr>
          <p:cNvPr id="32" name="TextBox 31"/>
          <p:cNvSpPr txBox="1"/>
          <p:nvPr/>
        </p:nvSpPr>
        <p:spPr>
          <a:xfrm>
            <a:off x="10058400" y="6547104"/>
            <a:ext cx="1307592" cy="274320"/>
          </a:xfrm>
          <a:prstGeom prst="rect">
            <a:avLst/>
          </a:prstGeom>
          <a:noFill/>
        </p:spPr>
        <p:txBody>
          <a:bodyPr wrap="square" anchor="t" lIns="0" rIns="0" tIns="0" bIns="0">
            <a:spAutoFit/>
          </a:bodyPr>
          <a:lstStyle/>
          <a:p>
            <a:pPr algn="r"/>
            <a:r>
              <a:rPr sz="1100" b="1" i="0">
                <a:solidFill>
                  <a:srgbClr val="C88A00"/>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anchor="t" lIns="0" rIns="0" tIns="0" bIns="0">
            <a:spAutoFit/>
          </a:bodyPr>
          <a:lstStyle/>
          <a:p>
            <a:r>
              <a:rPr sz="1300" b="1" i="0">
                <a:solidFill>
                  <a:srgbClr val="C88A00"/>
                </a:solidFill>
                <a:latin typeface="Arial"/>
              </a:rPr>
              <a:t>F  R  O  M      T  H  E      L  O  G</a:t>
            </a:r>
          </a:p>
        </p:txBody>
      </p:sp>
      <p:sp>
        <p:nvSpPr>
          <p:cNvPr id="4" name="TextBox 3"/>
          <p:cNvSpPr txBox="1"/>
          <p:nvPr/>
        </p:nvSpPr>
        <p:spPr>
          <a:xfrm>
            <a:off x="822960" y="868680"/>
            <a:ext cx="10515600" cy="1280160"/>
          </a:xfrm>
          <a:prstGeom prst="rect">
            <a:avLst/>
          </a:prstGeom>
          <a:noFill/>
        </p:spPr>
        <p:txBody>
          <a:bodyPr wrap="square" anchor="t" lIns="0" rIns="0" tIns="0" bIns="0">
            <a:spAutoFit/>
          </a:bodyPr>
          <a:lstStyle/>
          <a:p>
            <a:r>
              <a:rPr sz="3400" b="1" i="0">
                <a:solidFill>
                  <a:srgbClr val="003262"/>
                </a:solidFill>
                <a:latin typeface="Arial"/>
              </a:rPr>
              <a:t>Verbatim user tasks — general assistance</a:t>
            </a:r>
          </a:p>
        </p:txBody>
      </p:sp>
      <p:sp>
        <p:nvSpPr>
          <p:cNvPr id="5" name="TextBox 4"/>
          <p:cNvSpPr txBox="1"/>
          <p:nvPr/>
        </p:nvSpPr>
        <p:spPr>
          <a:xfrm>
            <a:off x="822960" y="1783080"/>
            <a:ext cx="10607040" cy="502920"/>
          </a:xfrm>
          <a:prstGeom prst="rect">
            <a:avLst/>
          </a:prstGeom>
          <a:noFill/>
        </p:spPr>
        <p:txBody>
          <a:bodyPr wrap="square" anchor="t" lIns="0" rIns="0" tIns="0" bIns="0">
            <a:spAutoFit/>
          </a:bodyPr>
          <a:lstStyle/>
          <a:p>
            <a:pPr>
              <a:lnSpc>
                <a:spcPct val="112000"/>
              </a:lnSpc>
            </a:pPr>
            <a:r>
              <a:rPr sz="2100" b="0" i="0">
                <a:solidFill>
                  <a:srgbClr val="4A5260"/>
                </a:solidFill>
                <a:latin typeface="Arial"/>
              </a:rPr>
              <a:t>The same agent, prompt, and architecture handle everything beyond code.</a:t>
            </a:r>
          </a:p>
        </p:txBody>
      </p:sp>
      <p:sp>
        <p:nvSpPr>
          <p:cNvPr id="6" name="Rectangle 5"/>
          <p:cNvSpPr/>
          <p:nvPr/>
        </p:nvSpPr>
        <p:spPr>
          <a:xfrm>
            <a:off x="822960" y="2377440"/>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2377440"/>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578608"/>
            <a:ext cx="4617720" cy="603503"/>
          </a:xfrm>
          <a:prstGeom prst="rect">
            <a:avLst/>
          </a:prstGeom>
          <a:noFill/>
        </p:spPr>
        <p:txBody>
          <a:bodyPr wrap="square" anchor="ctr" lIns="0" rIns="0" tIns="0" bIns="0">
            <a:spAutoFit/>
          </a:bodyPr>
          <a:lstStyle/>
          <a:p>
            <a:pPr>
              <a:spcAft>
                <a:spcPts val="600"/>
              </a:spcAft>
            </a:pPr>
            <a:r>
              <a:rPr sz="1200" b="1" i="0">
                <a:solidFill>
                  <a:srgbClr val="FDB515"/>
                </a:solidFill>
                <a:latin typeface="Arial"/>
              </a:rPr>
              <a:t>SMART HOME</a:t>
            </a:r>
          </a:p>
          <a:p>
            <a:pPr>
              <a:lnSpc>
                <a:spcPct val="110000"/>
              </a:lnSpc>
            </a:pPr>
            <a:r>
              <a:rPr sz="1450" b="0" i="1">
                <a:solidFill>
                  <a:srgbClr val="FFFFFF"/>
                </a:solidFill>
                <a:latin typeface="Arial"/>
              </a:rPr>
              <a:t>“Turn off the living room and family room lights.” (Govee API)</a:t>
            </a:r>
          </a:p>
        </p:txBody>
      </p:sp>
      <p:sp>
        <p:nvSpPr>
          <p:cNvPr id="9" name="Rectangle 8"/>
          <p:cNvSpPr/>
          <p:nvPr/>
        </p:nvSpPr>
        <p:spPr>
          <a:xfrm>
            <a:off x="6172200" y="2377440"/>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72200" y="2377440"/>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2578608"/>
            <a:ext cx="4617720" cy="603503"/>
          </a:xfrm>
          <a:prstGeom prst="rect">
            <a:avLst/>
          </a:prstGeom>
          <a:noFill/>
        </p:spPr>
        <p:txBody>
          <a:bodyPr wrap="square" anchor="ctr" lIns="0" rIns="0" tIns="0" bIns="0">
            <a:spAutoFit/>
          </a:bodyPr>
          <a:lstStyle/>
          <a:p>
            <a:pPr>
              <a:spcAft>
                <a:spcPts val="600"/>
              </a:spcAft>
            </a:pPr>
            <a:r>
              <a:rPr sz="1200" b="1" i="0">
                <a:solidFill>
                  <a:srgbClr val="FDB515"/>
                </a:solidFill>
                <a:latin typeface="Arial"/>
              </a:rPr>
              <a:t>TRAVEL</a:t>
            </a:r>
          </a:p>
          <a:p>
            <a:pPr>
              <a:lnSpc>
                <a:spcPct val="110000"/>
              </a:lnSpc>
            </a:pPr>
            <a:r>
              <a:rPr sz="1450" b="0" i="1">
                <a:solidFill>
                  <a:srgbClr val="FFFFFF"/>
                </a:solidFill>
                <a:latin typeface="Arial"/>
              </a:rPr>
              <a:t>“Plan me a trip to Yosemite” — with hotel availability checks.</a:t>
            </a:r>
          </a:p>
        </p:txBody>
      </p:sp>
      <p:sp>
        <p:nvSpPr>
          <p:cNvPr id="12" name="Rectangle 11"/>
          <p:cNvSpPr/>
          <p:nvPr/>
        </p:nvSpPr>
        <p:spPr>
          <a:xfrm>
            <a:off x="822960" y="3415284"/>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 y="3415284"/>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616452"/>
            <a:ext cx="4617720" cy="603503"/>
          </a:xfrm>
          <a:prstGeom prst="rect">
            <a:avLst/>
          </a:prstGeom>
          <a:noFill/>
        </p:spPr>
        <p:txBody>
          <a:bodyPr wrap="square" anchor="ctr" lIns="0" rIns="0" tIns="0" bIns="0">
            <a:spAutoFit/>
          </a:bodyPr>
          <a:lstStyle/>
          <a:p>
            <a:pPr>
              <a:spcAft>
                <a:spcPts val="600"/>
              </a:spcAft>
            </a:pPr>
            <a:r>
              <a:rPr sz="1200" b="1" i="0">
                <a:solidFill>
                  <a:srgbClr val="FDB515"/>
                </a:solidFill>
                <a:latin typeface="Arial"/>
              </a:rPr>
              <a:t>WEATHER</a:t>
            </a:r>
          </a:p>
          <a:p>
            <a:pPr>
              <a:lnSpc>
                <a:spcPct val="110000"/>
              </a:lnSpc>
            </a:pPr>
            <a:r>
              <a:rPr sz="1450" b="0" i="1">
                <a:solidFill>
                  <a:srgbClr val="FFFFFF"/>
                </a:solidFill>
                <a:latin typeface="Arial"/>
              </a:rPr>
              <a:t>“How is the weather today?” — answered from live sources, never stale data.</a:t>
            </a:r>
          </a:p>
        </p:txBody>
      </p:sp>
      <p:sp>
        <p:nvSpPr>
          <p:cNvPr id="15" name="Rectangle 14"/>
          <p:cNvSpPr/>
          <p:nvPr/>
        </p:nvSpPr>
        <p:spPr>
          <a:xfrm>
            <a:off x="6172200" y="3415284"/>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415284"/>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3616452"/>
            <a:ext cx="4617720" cy="603503"/>
          </a:xfrm>
          <a:prstGeom prst="rect">
            <a:avLst/>
          </a:prstGeom>
          <a:noFill/>
        </p:spPr>
        <p:txBody>
          <a:bodyPr wrap="square" anchor="ctr" lIns="0" rIns="0" tIns="0" bIns="0">
            <a:spAutoFit/>
          </a:bodyPr>
          <a:lstStyle/>
          <a:p>
            <a:pPr>
              <a:spcAft>
                <a:spcPts val="600"/>
              </a:spcAft>
            </a:pPr>
            <a:r>
              <a:rPr sz="1200" b="1" i="0">
                <a:solidFill>
                  <a:srgbClr val="FDB515"/>
                </a:solidFill>
                <a:latin typeface="Arial"/>
              </a:rPr>
              <a:t>SHOPPING</a:t>
            </a:r>
          </a:p>
          <a:p>
            <a:pPr>
              <a:lnSpc>
                <a:spcPct val="110000"/>
              </a:lnSpc>
            </a:pPr>
            <a:r>
              <a:rPr sz="1450" b="0" i="1">
                <a:solidFill>
                  <a:srgbClr val="FFFFFF"/>
                </a:solidFill>
                <a:latin typeface="Arial"/>
              </a:rPr>
              <a:t>“Where can I find Darjeeling tea in the Bay Area?”</a:t>
            </a:r>
          </a:p>
        </p:txBody>
      </p:sp>
      <p:sp>
        <p:nvSpPr>
          <p:cNvPr id="18" name="Rectangle 17"/>
          <p:cNvSpPr/>
          <p:nvPr/>
        </p:nvSpPr>
        <p:spPr>
          <a:xfrm>
            <a:off x="822960" y="4453128"/>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2960" y="4453128"/>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654296"/>
            <a:ext cx="4617720" cy="603503"/>
          </a:xfrm>
          <a:prstGeom prst="rect">
            <a:avLst/>
          </a:prstGeom>
          <a:noFill/>
        </p:spPr>
        <p:txBody>
          <a:bodyPr wrap="square" anchor="ctr" lIns="0" rIns="0" tIns="0" bIns="0">
            <a:spAutoFit/>
          </a:bodyPr>
          <a:lstStyle/>
          <a:p>
            <a:pPr>
              <a:spcAft>
                <a:spcPts val="600"/>
              </a:spcAft>
            </a:pPr>
            <a:r>
              <a:rPr sz="1200" b="1" i="0">
                <a:solidFill>
                  <a:srgbClr val="FDB515"/>
                </a:solidFill>
                <a:latin typeface="Arial"/>
              </a:rPr>
              <a:t>FINANCE</a:t>
            </a:r>
          </a:p>
          <a:p>
            <a:pPr>
              <a:lnSpc>
                <a:spcPct val="110000"/>
              </a:lnSpc>
            </a:pPr>
            <a:r>
              <a:rPr sz="1450" b="0" i="1">
                <a:solidFill>
                  <a:srgbClr val="FFFFFF"/>
                </a:solidFill>
                <a:latin typeface="Arial"/>
              </a:rPr>
              <a:t>“Will Microsoft stock increase by August 2026?” — plus ETF analysis.</a:t>
            </a:r>
          </a:p>
        </p:txBody>
      </p:sp>
      <p:sp>
        <p:nvSpPr>
          <p:cNvPr id="21" name="Rectangle 20"/>
          <p:cNvSpPr/>
          <p:nvPr/>
        </p:nvSpPr>
        <p:spPr>
          <a:xfrm>
            <a:off x="6172200" y="4453128"/>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2200" y="4453128"/>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4654296"/>
            <a:ext cx="4617720" cy="603503"/>
          </a:xfrm>
          <a:prstGeom prst="rect">
            <a:avLst/>
          </a:prstGeom>
          <a:noFill/>
        </p:spPr>
        <p:txBody>
          <a:bodyPr wrap="square" anchor="ctr" lIns="0" rIns="0" tIns="0" bIns="0">
            <a:spAutoFit/>
          </a:bodyPr>
          <a:lstStyle/>
          <a:p>
            <a:pPr>
              <a:spcAft>
                <a:spcPts val="600"/>
              </a:spcAft>
            </a:pPr>
            <a:r>
              <a:rPr sz="1200" b="1" i="0">
                <a:solidFill>
                  <a:srgbClr val="FDB515"/>
                </a:solidFill>
                <a:latin typeface="Arial"/>
              </a:rPr>
              <a:t>COMMUNICATION</a:t>
            </a:r>
          </a:p>
          <a:p>
            <a:pPr>
              <a:lnSpc>
                <a:spcPct val="110000"/>
              </a:lnSpc>
            </a:pPr>
            <a:r>
              <a:rPr sz="1450" b="0" i="1">
                <a:solidFill>
                  <a:srgbClr val="FFFFFF"/>
                </a:solidFill>
                <a:latin typeface="Arial"/>
              </a:rPr>
              <a:t>Slack, iMessage, and Gmail messages — sent through third-party agents.</a:t>
            </a:r>
          </a:p>
        </p:txBody>
      </p:sp>
      <p:sp>
        <p:nvSpPr>
          <p:cNvPr id="24" name="Rectangle 23"/>
          <p:cNvSpPr/>
          <p:nvPr/>
        </p:nvSpPr>
        <p:spPr>
          <a:xfrm>
            <a:off x="822960" y="5490972"/>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60" y="5490972"/>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97280" y="5692140"/>
            <a:ext cx="4617720" cy="603503"/>
          </a:xfrm>
          <a:prstGeom prst="rect">
            <a:avLst/>
          </a:prstGeom>
          <a:noFill/>
        </p:spPr>
        <p:txBody>
          <a:bodyPr wrap="square" anchor="ctr" lIns="0" rIns="0" tIns="0" bIns="0">
            <a:spAutoFit/>
          </a:bodyPr>
          <a:lstStyle/>
          <a:p>
            <a:pPr>
              <a:spcAft>
                <a:spcPts val="600"/>
              </a:spcAft>
            </a:pPr>
            <a:r>
              <a:rPr sz="1200" b="1" i="0">
                <a:solidFill>
                  <a:srgbClr val="FDB515"/>
                </a:solidFill>
                <a:latin typeface="Arial"/>
              </a:rPr>
              <a:t>SELF-SETUP</a:t>
            </a:r>
          </a:p>
          <a:p>
            <a:pPr>
              <a:lnSpc>
                <a:spcPct val="110000"/>
              </a:lnSpc>
            </a:pPr>
            <a:r>
              <a:rPr sz="1450" b="0" i="1">
                <a:solidFill>
                  <a:srgbClr val="FFFFFF"/>
                </a:solidFill>
                <a:latin typeface="Arial"/>
              </a:rPr>
              <a:t>“Authenticate with govee.com so you can control the lights.”</a:t>
            </a:r>
          </a:p>
        </p:txBody>
      </p:sp>
      <p:sp>
        <p:nvSpPr>
          <p:cNvPr id="27" name="Rectangle 26"/>
          <p:cNvSpPr/>
          <p:nvPr/>
        </p:nvSpPr>
        <p:spPr>
          <a:xfrm>
            <a:off x="6172200" y="5490972"/>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72200" y="5490972"/>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46520" y="5692140"/>
            <a:ext cx="4617720" cy="603503"/>
          </a:xfrm>
          <a:prstGeom prst="rect">
            <a:avLst/>
          </a:prstGeom>
          <a:noFill/>
        </p:spPr>
        <p:txBody>
          <a:bodyPr wrap="square" anchor="ctr" lIns="0" rIns="0" tIns="0" bIns="0">
            <a:spAutoFit/>
          </a:bodyPr>
          <a:lstStyle/>
          <a:p>
            <a:pPr>
              <a:spcAft>
                <a:spcPts val="600"/>
              </a:spcAft>
            </a:pPr>
            <a:r>
              <a:rPr sz="1200" b="1" i="0">
                <a:solidFill>
                  <a:srgbClr val="FDB515"/>
                </a:solidFill>
                <a:latin typeface="Arial"/>
              </a:rPr>
              <a:t>ETHICAL REFUSAL</a:t>
            </a:r>
          </a:p>
          <a:p>
            <a:pPr>
              <a:lnSpc>
                <a:spcPct val="110000"/>
              </a:lnSpc>
            </a:pPr>
            <a:r>
              <a:rPr sz="1450" b="0" i="1">
                <a:solidFill>
                  <a:srgbClr val="FFFFFF"/>
                </a:solidFill>
                <a:latin typeface="Arial"/>
              </a:rPr>
              <a:t>An unethical hacking request — refused, with five legitimate alternatives.</a:t>
            </a:r>
          </a:p>
        </p:txBody>
      </p:sp>
      <p:sp>
        <p:nvSpPr>
          <p:cNvPr id="30" name="Rectangle 29"/>
          <p:cNvSpPr/>
          <p:nvPr/>
        </p:nvSpPr>
        <p:spPr>
          <a:xfrm>
            <a:off x="0" y="6510528"/>
            <a:ext cx="12188952" cy="27432"/>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6547104"/>
            <a:ext cx="8229600" cy="274320"/>
          </a:xfrm>
          <a:prstGeom prst="rect">
            <a:avLst/>
          </a:prstGeom>
          <a:noFill/>
        </p:spPr>
        <p:txBody>
          <a:bodyPr wrap="square" anchor="t" lIns="0" rIns="0" tIns="0" bIns="0">
            <a:spAutoFit/>
          </a:bodyPr>
          <a:lstStyle/>
          <a:p>
            <a:r>
              <a:rPr sz="1100" b="0" i="0">
                <a:solidFill>
                  <a:srgbClr val="4A5260"/>
                </a:solidFill>
                <a:latin typeface="Arial"/>
              </a:rPr>
              <a:t>KISS Sorcar  ·  K. Sen, UC Berkeley</a:t>
            </a:r>
          </a:p>
        </p:txBody>
      </p:sp>
      <p:sp>
        <p:nvSpPr>
          <p:cNvPr id="32" name="TextBox 31"/>
          <p:cNvSpPr txBox="1"/>
          <p:nvPr/>
        </p:nvSpPr>
        <p:spPr>
          <a:xfrm>
            <a:off x="10058400" y="6547104"/>
            <a:ext cx="1307592" cy="274320"/>
          </a:xfrm>
          <a:prstGeom prst="rect">
            <a:avLst/>
          </a:prstGeom>
          <a:noFill/>
        </p:spPr>
        <p:txBody>
          <a:bodyPr wrap="square" anchor="t" lIns="0" rIns="0" tIns="0" bIns="0">
            <a:spAutoFit/>
          </a:bodyPr>
          <a:lstStyle/>
          <a:p>
            <a:pPr algn="r"/>
            <a:r>
              <a:rPr sz="1100" b="1" i="0">
                <a:solidFill>
                  <a:srgbClr val="C88A00"/>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itleAccent"/>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Eyebrow"/>
          <p:cNvSpPr txBox="1"/>
          <p:nvPr/>
        </p:nvSpPr>
        <p:spPr>
          <a:xfrm>
            <a:off x="822960" y="502920"/>
            <a:ext cx="10515600" cy="365760"/>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C88A00"/>
                </a:solidFill>
                <a:latin typeface="Arial"/>
              </a:rPr>
              <a:t>C  A  S  E     S  T  U  D  Y</a:t>
            </a:r>
          </a:p>
        </p:txBody>
      </p:sp>
      <p:sp>
        <p:nvSpPr>
          <p:cNvPr id="4" name="Title"/>
          <p:cNvSpPr txBox="1"/>
          <p:nvPr/>
        </p:nvSpPr>
        <p:spPr>
          <a:xfrm>
            <a:off x="822960" y="868680"/>
            <a:ext cx="10515600" cy="1280160"/>
          </a:xfrm>
          <a:prstGeom prst="rect">
            <a:avLst/>
          </a:prstGeom>
          <a:noFill/>
        </p:spPr>
        <p:txBody>
          <a:bodyPr wrap="square" anchor="t" lIns="0" rIns="0" tIns="0" bIns="0">
            <a:spAutoFit/>
          </a:bodyPr>
          <a:lstStyle/>
          <a:p>
            <a:pPr algn="l">
              <a:lnSpc>
                <a:spcPct val="100000"/>
              </a:lnSpc>
              <a:spcBef>
                <a:spcPts val="0"/>
              </a:spcBef>
              <a:spcAft>
                <a:spcPts val="800"/>
              </a:spcAft>
            </a:pPr>
            <a:r>
              <a:rPr sz="3400" b="1" i="0">
                <a:solidFill>
                  <a:srgbClr val="003262"/>
                </a:solidFill>
                <a:latin typeface="Arial"/>
              </a:rPr>
              <a:t>The explain-then-revise loop</a:t>
            </a:r>
          </a:p>
        </p:txBody>
      </p:sp>
      <p:sp>
        <p:nvSpPr>
          <p:cNvPr id="5" name="Subtitle"/>
          <p:cNvSpPr txBox="1"/>
          <p:nvPr/>
        </p:nvSpPr>
        <p:spPr>
          <a:xfrm>
            <a:off x="822960" y="1783080"/>
            <a:ext cx="10607040" cy="822960"/>
          </a:xfrm>
          <a:prstGeom prst="rect">
            <a:avLst/>
          </a:prstGeom>
          <a:noFill/>
        </p:spPr>
        <p:txBody>
          <a:bodyPr wrap="square" anchor="t" lIns="0" rIns="0" tIns="0" bIns="0">
            <a:spAutoFit/>
          </a:bodyPr>
          <a:lstStyle/>
          <a:p>
            <a:pPr algn="l">
              <a:lnSpc>
                <a:spcPct val="110000"/>
              </a:lnSpc>
              <a:spcBef>
                <a:spcPts val="0"/>
              </a:spcBef>
              <a:spcAft>
                <a:spcPts val="800"/>
              </a:spcAft>
            </a:pPr>
            <a:r>
              <a:rPr sz="2100" b="0" i="0">
                <a:solidFill>
                  <a:srgbClr val="4A5260"/>
                </a:solidFill>
                <a:latin typeface="Arial"/>
              </a:rPr>
              <a:t>Redesigning the git-worktree merge workflow — six consecutive tasks (1 of 3), no file ever opened by hand.</a:t>
            </a:r>
          </a:p>
        </p:txBody>
      </p:sp>
      <p:sp>
        <p:nvSpPr>
          <p:cNvPr id="100" name="CardBg1"/>
          <p:cNvSpPr/>
          <p:nvPr/>
        </p:nvSpPr>
        <p:spPr>
          <a:xfrm>
            <a:off x="815847" y="2600000"/>
            <a:ext cx="5180000" cy="3800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CardAccent1"/>
          <p:cNvSpPr/>
          <p:nvPr/>
        </p:nvSpPr>
        <p:spPr>
          <a:xfrm>
            <a:off x="815847" y="2600000"/>
            <a:ext cx="518000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CardHeader1"/>
          <p:cNvSpPr txBox="1"/>
          <p:nvPr/>
        </p:nvSpPr>
        <p:spPr>
          <a:xfrm>
            <a:off x="1044447" y="2801168"/>
            <a:ext cx="4722800" cy="457200"/>
          </a:xfrm>
          <a:prstGeom prst="rect">
            <a:avLst/>
          </a:prstGeom>
          <a:noFill/>
        </p:spPr>
        <p:txBody>
          <a:bodyPr wrap="square" anchor="t" lIns="0" rIns="0" tIns="0" bIns="0">
            <a:spAutoFit/>
          </a:bodyPr>
          <a:lstStyle/>
          <a:p>
            <a:r>
              <a:rPr sz="2400" b="1">
                <a:solidFill>
                  <a:srgbClr val="FDB515"/>
                </a:solidFill>
                <a:latin typeface="Arial"/>
              </a:rPr>
              <a:t>1  </a:t>
            </a:r>
            <a:r>
              <a:rPr sz="2000" b="1">
                <a:solidFill>
                  <a:srgbClr val="003262"/>
                </a:solidFill>
                <a:latin typeface="Arial"/>
              </a:rPr>
              <a:t>Elicit</a:t>
            </a:r>
          </a:p>
        </p:txBody>
      </p:sp>
      <p:sp>
        <p:nvSpPr>
          <p:cNvPr id="103" name="CardPrompt1"/>
          <p:cNvSpPr txBox="1"/>
          <p:nvPr/>
        </p:nvSpPr>
        <p:spPr>
          <a:xfrm>
            <a:off x="1044447" y="3331520"/>
            <a:ext cx="4722800" cy="2850000"/>
          </a:xfrm>
          <a:prstGeom prst="rect">
            <a:avLst/>
          </a:prstGeom>
          <a:noFill/>
        </p:spPr>
        <p:txBody>
          <a:bodyPr wrap="square" anchor="t" lIns="0" rIns="0" tIns="0" bIns="0"/>
          <a:lstStyle/>
          <a:p>
            <a:pPr algn="l">
              <a:lnSpc>
                <a:spcPct val="110000"/>
              </a:lnSpc>
              <a:spcBef>
                <a:spcPts val="0"/>
              </a:spcBef>
              <a:spcAft>
                <a:spcPts val="800"/>
              </a:spcAft>
            </a:pPr>
            <a:r>
              <a:rPr b="0" sz="1400">
                <a:solidFill>
                  <a:srgbClr val="1A2330"/>
                </a:solidFill>
                <a:latin typeface="Courier New"/>
              </a:rPr>
              <a:t>Can you tell me what happens, step by step, with git in worktree_sorcar_agent.py when a task finishes?</a:t>
            </a:r>
          </a:p>
        </p:txBody>
      </p:sp>
      <p:sp>
        <p:nvSpPr>
          <p:cNvPr id="110" name="CardBg2"/>
          <p:cNvSpPr/>
          <p:nvPr/>
        </p:nvSpPr>
        <p:spPr>
          <a:xfrm>
            <a:off x="6195847" y="2600000"/>
            <a:ext cx="5180000" cy="3800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CardAccent2"/>
          <p:cNvSpPr/>
          <p:nvPr/>
        </p:nvSpPr>
        <p:spPr>
          <a:xfrm>
            <a:off x="6195847" y="2600000"/>
            <a:ext cx="518000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CardHeader2"/>
          <p:cNvSpPr txBox="1"/>
          <p:nvPr/>
        </p:nvSpPr>
        <p:spPr>
          <a:xfrm>
            <a:off x="6424447" y="2801168"/>
            <a:ext cx="4722800" cy="457200"/>
          </a:xfrm>
          <a:prstGeom prst="rect">
            <a:avLst/>
          </a:prstGeom>
          <a:noFill/>
        </p:spPr>
        <p:txBody>
          <a:bodyPr wrap="square" anchor="t" lIns="0" rIns="0" tIns="0" bIns="0">
            <a:spAutoFit/>
          </a:bodyPr>
          <a:lstStyle/>
          <a:p>
            <a:r>
              <a:rPr sz="2400" b="1">
                <a:solidFill>
                  <a:srgbClr val="FDB515"/>
                </a:solidFill>
                <a:latin typeface="Arial"/>
              </a:rPr>
              <a:t>2  </a:t>
            </a:r>
            <a:r>
              <a:rPr sz="2000" b="1">
                <a:solidFill>
                  <a:srgbClr val="003262"/>
                </a:solidFill>
                <a:latin typeface="Arial"/>
              </a:rPr>
              <a:t>Revise</a:t>
            </a:r>
          </a:p>
        </p:txBody>
      </p:sp>
      <p:sp>
        <p:nvSpPr>
          <p:cNvPr id="113" name="CardPrompt2"/>
          <p:cNvSpPr txBox="1"/>
          <p:nvPr/>
        </p:nvSpPr>
        <p:spPr>
          <a:xfrm>
            <a:off x="6424447" y="3331520"/>
            <a:ext cx="4722800" cy="2850000"/>
          </a:xfrm>
          <a:prstGeom prst="rect">
            <a:avLst/>
          </a:prstGeom>
          <a:noFill/>
        </p:spPr>
        <p:txBody>
          <a:bodyPr wrap="square" anchor="t" lIns="0" rIns="0" tIns="0" bIns="0"/>
          <a:lstStyle/>
          <a:p>
            <a:pPr algn="l">
              <a:lnSpc>
                <a:spcPct val="110000"/>
              </a:lnSpc>
              <a:spcBef>
                <a:spcPts val="0"/>
              </a:spcBef>
              <a:spcAft>
                <a:spcPts val="800"/>
              </a:spcAft>
            </a:pPr>
            <a:r>
              <a:rPr b="0" sz="1400">
                <a:solidFill>
                  <a:srgbClr val="1A2330"/>
                </a:solidFill>
                <a:latin typeface="Courier New"/>
              </a:rPr>
              <a:t>Can you change worktree_sorcar_agent.py and the extension so that after the agent finishes its task, it simply asks "Commit and Merge" or "Discard". When "Commit and Merge" is clicked by the user, the agent must commit the changes with a generated commit message, merge the branch with the original branch, and delete the worktree and the branch associated with the worktree. If the user clicks "discard", it must delete the worktree and the branch, and checkout the original branch.</a:t>
            </a:r>
          </a:p>
        </p:txBody>
      </p:sp>
      <p:sp>
        <p:nvSpPr>
          <p:cNvPr id="200" name="FooterRule"/>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FooterText"/>
          <p:cNvSpPr txBox="1"/>
          <p:nvPr/>
        </p:nvSpPr>
        <p:spPr>
          <a:xfrm>
            <a:off x="822960" y="6547104"/>
            <a:ext cx="8229600" cy="274320"/>
          </a:xfrm>
          <a:prstGeom prst="rect">
            <a:avLst/>
          </a:prstGeom>
          <a:noFill/>
        </p:spPr>
        <p:txBody>
          <a:bodyPr wrap="square" anchor="t" lIns="0" rIns="0" tIns="0" bIns="0">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202" name="PageNumber"/>
          <p:cNvSpPr txBox="1"/>
          <p:nvPr/>
        </p:nvSpPr>
        <p:spPr>
          <a:xfrm>
            <a:off x="10058400" y="6547104"/>
            <a:ext cx="1307592" cy="274320"/>
          </a:xfrm>
          <a:prstGeom prst="rect">
            <a:avLst/>
          </a:prstGeom>
          <a:noFill/>
        </p:spPr>
        <p:txBody>
          <a:bodyPr wrap="square" anchor="t" lIns="0" rIns="0" tIns="0" bIns="0">
            <a:spAutoFit/>
          </a:bodyPr>
          <a:lstStyle/>
          <a:p>
            <a:pPr algn="r">
              <a:lnSpc>
                <a:spcPct val="100000"/>
              </a:lnSpc>
              <a:spcBef>
                <a:spcPts val="0"/>
              </a:spcBef>
              <a:spcAft>
                <a:spcPts val="800"/>
              </a:spcAft>
            </a:pPr>
            <a:r>
              <a:rPr sz="1100" b="1" i="0">
                <a:solidFill>
                  <a:srgbClr val="C88A00"/>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C88A00"/>
                </a:solidFill>
                <a:latin typeface="Arial"/>
              </a:rPr>
              <a:t>W  H  Y     I  T     W  O  R  K  S</a:t>
            </a:r>
          </a:p>
        </p:txBody>
      </p:sp>
      <p:sp>
        <p:nvSpPr>
          <p:cNvPr id="4" name="TextBox 3"/>
          <p:cNvSpPr txBox="1"/>
          <p:nvPr/>
        </p:nvSpPr>
        <p:spPr>
          <a:xfrm>
            <a:off x="822960" y="868680"/>
            <a:ext cx="10515600" cy="1280160"/>
          </a:xfrm>
          <a:prstGeom prst="rect">
            <a:avLst/>
          </a:prstGeom>
          <a:noFill/>
        </p:spPr>
        <p:txBody>
          <a:bodyPr wrap="square" anchor="t" lIns="0" rIns="0" tIns="0" bIns="0">
            <a:spAutoFit/>
          </a:bodyPr>
          <a:lstStyle/>
          <a:p>
            <a:pPr algn="l">
              <a:lnSpc>
                <a:spcPct val="100000"/>
              </a:lnSpc>
              <a:spcBef>
                <a:spcPts val="0"/>
              </a:spcBef>
              <a:spcAft>
                <a:spcPts val="800"/>
              </a:spcAft>
            </a:pPr>
            <a:r>
              <a:rPr sz="3400" b="1" i="0">
                <a:solidFill>
                  <a:srgbClr val="003262"/>
                </a:solidFill>
                <a:latin typeface="Arial"/>
              </a:rPr>
              <a:t>Each pattern maps to a principle</a:t>
            </a:r>
          </a:p>
        </p:txBody>
      </p:sp>
      <p:sp>
        <p:nvSpPr>
          <p:cNvPr id="5" name="Rectangle 4"/>
          <p:cNvSpPr/>
          <p:nvPr/>
        </p:nvSpPr>
        <p:spPr>
          <a:xfrm>
            <a:off x="822960" y="2011680"/>
            <a:ext cx="5166360" cy="1143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2011680"/>
            <a:ext cx="128016" cy="11430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 y="2157984"/>
            <a:ext cx="4617720" cy="868680"/>
          </a:xfrm>
          <a:prstGeom prst="rect">
            <a:avLst/>
          </a:prstGeom>
          <a:noFill/>
        </p:spPr>
        <p:txBody>
          <a:bodyPr wrap="square" anchor="ctr" lIns="0" rIns="0" tIns="0" bIns="0">
            <a:spAutoFit/>
          </a:bodyPr>
          <a:lstStyle/>
          <a:p>
            <a:pPr algn="l">
              <a:lnSpc>
                <a:spcPct val="100000"/>
              </a:lnSpc>
              <a:spcBef>
                <a:spcPts val="0"/>
              </a:spcBef>
              <a:spcAft>
                <a:spcPts val="400"/>
              </a:spcAft>
            </a:pPr>
            <a:r>
              <a:rPr sz="2000" b="1" i="0">
                <a:solidFill>
                  <a:srgbClr val="003262"/>
                </a:solidFill>
                <a:latin typeface="Arial"/>
              </a:rPr>
              <a:t>KISS</a:t>
            </a:r>
          </a:p>
          <a:p>
            <a:pPr algn="l">
              <a:lnSpc>
                <a:spcPct val="104000"/>
              </a:lnSpc>
              <a:spcBef>
                <a:spcPts val="0"/>
              </a:spcBef>
              <a:spcAft>
                <a:spcPts val="800"/>
              </a:spcAft>
            </a:pPr>
            <a:r>
              <a:rPr sz="1500" b="0" i="0">
                <a:solidFill>
                  <a:srgbClr val="4A5260"/>
                </a:solidFill>
                <a:latin typeface="Arial"/>
              </a:rPr>
              <a:t>One agent, one prompt, one architecture across all domains.</a:t>
            </a:r>
          </a:p>
        </p:txBody>
      </p:sp>
      <p:sp>
        <p:nvSpPr>
          <p:cNvPr id="8" name="Rectangle 7"/>
          <p:cNvSpPr/>
          <p:nvPr/>
        </p:nvSpPr>
        <p:spPr>
          <a:xfrm>
            <a:off x="6172200" y="2011680"/>
            <a:ext cx="5166360" cy="1143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72200" y="2011680"/>
            <a:ext cx="128016" cy="11430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2157984"/>
            <a:ext cx="4617720" cy="868680"/>
          </a:xfrm>
          <a:prstGeom prst="rect">
            <a:avLst/>
          </a:prstGeom>
          <a:noFill/>
        </p:spPr>
        <p:txBody>
          <a:bodyPr wrap="square" anchor="ctr" lIns="0" rIns="0" tIns="0" bIns="0">
            <a:spAutoFit/>
          </a:bodyPr>
          <a:lstStyle/>
          <a:p>
            <a:pPr algn="l">
              <a:lnSpc>
                <a:spcPct val="100000"/>
              </a:lnSpc>
              <a:spcBef>
                <a:spcPts val="0"/>
              </a:spcBef>
              <a:spcAft>
                <a:spcPts val="400"/>
              </a:spcAft>
            </a:pPr>
            <a:r>
              <a:rPr sz="2000" b="1" i="0">
                <a:solidFill>
                  <a:srgbClr val="003262"/>
                </a:solidFill>
                <a:latin typeface="Arial"/>
              </a:rPr>
              <a:t>Separation of concerns</a:t>
            </a:r>
          </a:p>
          <a:p>
            <a:pPr algn="l">
              <a:lnSpc>
                <a:spcPct val="104000"/>
              </a:lnSpc>
              <a:spcBef>
                <a:spcPts val="0"/>
              </a:spcBef>
              <a:spcAft>
                <a:spcPts val="800"/>
              </a:spcAft>
            </a:pPr>
            <a:r>
              <a:rPr sz="1500" b="0" i="0">
                <a:solidFill>
                  <a:srgbClr val="4A5260"/>
                </a:solidFill>
                <a:latin typeface="Arial"/>
              </a:rPr>
              <a:t>Each layer / module owns exactly one concern.</a:t>
            </a:r>
          </a:p>
        </p:txBody>
      </p:sp>
      <p:sp>
        <p:nvSpPr>
          <p:cNvPr id="11" name="Rectangle 10"/>
          <p:cNvSpPr/>
          <p:nvPr/>
        </p:nvSpPr>
        <p:spPr>
          <a:xfrm>
            <a:off x="822960" y="3319272"/>
            <a:ext cx="5166360" cy="1143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22960" y="3319272"/>
            <a:ext cx="128016" cy="11430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3465576"/>
            <a:ext cx="4617720" cy="868680"/>
          </a:xfrm>
          <a:prstGeom prst="rect">
            <a:avLst/>
          </a:prstGeom>
          <a:noFill/>
        </p:spPr>
        <p:txBody>
          <a:bodyPr wrap="square" anchor="ctr" lIns="0" rIns="0" tIns="0" bIns="0">
            <a:spAutoFit/>
          </a:bodyPr>
          <a:lstStyle/>
          <a:p>
            <a:pPr algn="l">
              <a:lnSpc>
                <a:spcPct val="100000"/>
              </a:lnSpc>
              <a:spcBef>
                <a:spcPts val="0"/>
              </a:spcBef>
              <a:spcAft>
                <a:spcPts val="400"/>
              </a:spcAft>
            </a:pPr>
            <a:r>
              <a:rPr sz="2000" b="1" i="0">
                <a:solidFill>
                  <a:srgbClr val="003262"/>
                </a:solidFill>
                <a:latin typeface="Arial"/>
              </a:rPr>
              <a:t>Test-first development</a:t>
            </a:r>
          </a:p>
          <a:p>
            <a:pPr algn="l">
              <a:lnSpc>
                <a:spcPct val="104000"/>
              </a:lnSpc>
              <a:spcBef>
                <a:spcPts val="0"/>
              </a:spcBef>
              <a:spcAft>
                <a:spcPts val="800"/>
              </a:spcAft>
            </a:pPr>
            <a:r>
              <a:rPr sz="1500" b="0" i="0">
                <a:solidFill>
                  <a:srgbClr val="4A5260"/>
                </a:solidFill>
                <a:latin typeface="Arial"/>
              </a:rPr>
              <a:t>Write a failing test, then make it pass — no mocks.</a:t>
            </a:r>
          </a:p>
        </p:txBody>
      </p:sp>
      <p:sp>
        <p:nvSpPr>
          <p:cNvPr id="14" name="Rectangle 13"/>
          <p:cNvSpPr/>
          <p:nvPr/>
        </p:nvSpPr>
        <p:spPr>
          <a:xfrm>
            <a:off x="6172200" y="3319272"/>
            <a:ext cx="5166360" cy="1143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72200" y="3319272"/>
            <a:ext cx="128016" cy="11430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92240" y="3465576"/>
            <a:ext cx="4617720" cy="868680"/>
          </a:xfrm>
          <a:prstGeom prst="rect">
            <a:avLst/>
          </a:prstGeom>
          <a:noFill/>
        </p:spPr>
        <p:txBody>
          <a:bodyPr wrap="square" anchor="ctr" lIns="0" rIns="0" tIns="0" bIns="0">
            <a:spAutoFit/>
          </a:bodyPr>
          <a:lstStyle/>
          <a:p>
            <a:pPr algn="l">
              <a:lnSpc>
                <a:spcPct val="100000"/>
              </a:lnSpc>
              <a:spcBef>
                <a:spcPts val="0"/>
              </a:spcBef>
              <a:spcAft>
                <a:spcPts val="400"/>
              </a:spcAft>
            </a:pPr>
            <a:r>
              <a:rPr sz="2000" b="1" i="0">
                <a:solidFill>
                  <a:srgbClr val="003262"/>
                </a:solidFill>
                <a:latin typeface="Arial"/>
              </a:rPr>
              <a:t>Defensive programming</a:t>
            </a:r>
          </a:p>
          <a:p>
            <a:pPr algn="l">
              <a:lnSpc>
                <a:spcPct val="104000"/>
              </a:lnSpc>
              <a:spcBef>
                <a:spcPts val="0"/>
              </a:spcBef>
              <a:spcAft>
                <a:spcPts val="800"/>
              </a:spcAft>
            </a:pPr>
            <a:r>
              <a:rPr sz="1500" b="0" i="0">
                <a:solidFill>
                  <a:srgbClr val="4A5260"/>
                </a:solidFill>
                <a:latin typeface="Arial"/>
              </a:rPr>
              <a:t>Validate everything; refuse what is unsafe; revert fast.</a:t>
            </a:r>
          </a:p>
        </p:txBody>
      </p:sp>
      <p:sp>
        <p:nvSpPr>
          <p:cNvPr id="17" name="Rectangle 16"/>
          <p:cNvSpPr/>
          <p:nvPr/>
        </p:nvSpPr>
        <p:spPr>
          <a:xfrm>
            <a:off x="822960" y="4626864"/>
            <a:ext cx="5166360" cy="1143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22960" y="4626864"/>
            <a:ext cx="128016" cy="11430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43000" y="4773168"/>
            <a:ext cx="4617720" cy="868680"/>
          </a:xfrm>
          <a:prstGeom prst="rect">
            <a:avLst/>
          </a:prstGeom>
          <a:noFill/>
        </p:spPr>
        <p:txBody>
          <a:bodyPr wrap="square" anchor="ctr" lIns="0" rIns="0" tIns="0" bIns="0">
            <a:spAutoFit/>
          </a:bodyPr>
          <a:lstStyle/>
          <a:p>
            <a:pPr algn="l">
              <a:lnSpc>
                <a:spcPct val="100000"/>
              </a:lnSpc>
              <a:spcBef>
                <a:spcPts val="0"/>
              </a:spcBef>
              <a:spcAft>
                <a:spcPts val="400"/>
              </a:spcAft>
            </a:pPr>
            <a:r>
              <a:rPr sz="2000" b="1" i="0">
                <a:solidFill>
                  <a:srgbClr val="003262"/>
                </a:solidFill>
                <a:latin typeface="Arial"/>
              </a:rPr>
              <a:t>Pre-flight checks</a:t>
            </a:r>
          </a:p>
          <a:p>
            <a:pPr algn="l">
              <a:lnSpc>
                <a:spcPct val="104000"/>
              </a:lnSpc>
              <a:spcBef>
                <a:spcPts val="0"/>
              </a:spcBef>
              <a:spcAft>
                <a:spcPts val="800"/>
              </a:spcAft>
            </a:pPr>
            <a:r>
              <a:rPr sz="1500" b="0" i="0">
                <a:solidFill>
                  <a:srgbClr val="4A5260"/>
                </a:solidFill>
                <a:latin typeface="Arial"/>
              </a:rPr>
              <a:t>Read before you write; plan before you execute; verify before finishing.</a:t>
            </a:r>
          </a:p>
        </p:txBody>
      </p:sp>
      <p:sp>
        <p:nvSpPr>
          <p:cNvPr id="20" name="Rectangle 19"/>
          <p:cNvSpPr/>
          <p:nvPr/>
        </p:nvSpPr>
        <p:spPr>
          <a:xfrm>
            <a:off x="6172200" y="4626864"/>
            <a:ext cx="5166360" cy="1143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72200" y="4626864"/>
            <a:ext cx="128016" cy="11430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2240" y="4773168"/>
            <a:ext cx="4617720" cy="868680"/>
          </a:xfrm>
          <a:prstGeom prst="rect">
            <a:avLst/>
          </a:prstGeom>
          <a:noFill/>
        </p:spPr>
        <p:txBody>
          <a:bodyPr wrap="square" anchor="ctr" lIns="0" rIns="0" tIns="0" bIns="0">
            <a:spAutoFit/>
          </a:bodyPr>
          <a:lstStyle/>
          <a:p>
            <a:pPr algn="l">
              <a:lnSpc>
                <a:spcPct val="100000"/>
              </a:lnSpc>
              <a:spcBef>
                <a:spcPts val="0"/>
              </a:spcBef>
              <a:spcAft>
                <a:spcPts val="400"/>
              </a:spcAft>
            </a:pPr>
            <a:r>
              <a:rPr sz="2000" b="1" i="0">
                <a:solidFill>
                  <a:srgbClr val="003262"/>
                </a:solidFill>
                <a:latin typeface="Arial"/>
              </a:rPr>
              <a:t>Self-hosting as CI</a:t>
            </a:r>
          </a:p>
          <a:p>
            <a:pPr algn="l">
              <a:lnSpc>
                <a:spcPct val="104000"/>
              </a:lnSpc>
              <a:spcBef>
                <a:spcPts val="0"/>
              </a:spcBef>
              <a:spcAft>
                <a:spcPts val="800"/>
              </a:spcAft>
            </a:pPr>
            <a:r>
              <a:rPr sz="1500" b="0" i="0">
                <a:solidFill>
                  <a:srgbClr val="4A5260"/>
                </a:solidFill>
                <a:latin typeface="Arial"/>
              </a:rPr>
              <a:t>Use the system to build the system; bugs hurt the builder.</a:t>
            </a:r>
          </a:p>
        </p:txBody>
      </p:sp>
      <p:sp>
        <p:nvSpPr>
          <p:cNvPr id="23" name="Rectangle 22"/>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6547104"/>
            <a:ext cx="8229600" cy="274320"/>
          </a:xfrm>
          <a:prstGeom prst="rect">
            <a:avLst/>
          </a:prstGeom>
          <a:noFill/>
        </p:spPr>
        <p:txBody>
          <a:bodyPr wrap="square" anchor="t" lIns="0" rIns="0" tIns="0" bIns="0">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25" name="TextBox 24"/>
          <p:cNvSpPr txBox="1"/>
          <p:nvPr/>
        </p:nvSpPr>
        <p:spPr>
          <a:xfrm>
            <a:off x="10058400" y="6547104"/>
            <a:ext cx="1307592" cy="274320"/>
          </a:xfrm>
          <a:prstGeom prst="rect">
            <a:avLst/>
          </a:prstGeom>
          <a:noFill/>
        </p:spPr>
        <p:txBody>
          <a:bodyPr wrap="square" anchor="t" lIns="0" rIns="0" tIns="0" bIns="0">
            <a:spAutoFit/>
          </a:bodyPr>
          <a:lstStyle/>
          <a:p>
            <a:pPr algn="r">
              <a:lnSpc>
                <a:spcPct val="100000"/>
              </a:lnSpc>
              <a:spcBef>
                <a:spcPts val="0"/>
              </a:spcBef>
              <a:spcAft>
                <a:spcPts val="800"/>
              </a:spcAft>
            </a:pPr>
            <a:r>
              <a:rPr sz="1100" b="1" i="0">
                <a:solidFill>
                  <a:srgbClr val="C88A00"/>
                </a:solidFill>
                <a:latin typeface="Arial"/>
              </a:rPr>
              <a:t>20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C88A00"/>
                </a:solidFill>
                <a:latin typeface="Arial"/>
              </a:rPr>
              <a:t>R  E  A  C  H</a:t>
            </a:r>
          </a:p>
        </p:txBody>
      </p:sp>
      <p:sp>
        <p:nvSpPr>
          <p:cNvPr id="4" name="TextBox 3"/>
          <p:cNvSpPr txBox="1"/>
          <p:nvPr/>
        </p:nvSpPr>
        <p:spPr>
          <a:xfrm>
            <a:off x="822960" y="868680"/>
            <a:ext cx="10515600" cy="1280160"/>
          </a:xfrm>
          <a:prstGeom prst="rect">
            <a:avLst/>
          </a:prstGeom>
          <a:noFill/>
        </p:spPr>
        <p:txBody>
          <a:bodyPr wrap="square" anchor="t" lIns="0" rIns="0" tIns="0" bIns="0">
            <a:spAutoFit/>
          </a:bodyPr>
          <a:lstStyle/>
          <a:p>
            <a:pPr algn="l">
              <a:lnSpc>
                <a:spcPct val="100000"/>
              </a:lnSpc>
              <a:spcBef>
                <a:spcPts val="0"/>
              </a:spcBef>
              <a:spcAft>
                <a:spcPts val="800"/>
              </a:spcAft>
            </a:pPr>
            <a:r>
              <a:rPr sz="3400" b="1" i="0">
                <a:solidFill>
                  <a:srgbClr val="003262"/>
                </a:solidFill>
                <a:latin typeface="Arial"/>
              </a:rPr>
              <a:t>The software ecosystem</a:t>
            </a:r>
          </a:p>
        </p:txBody>
      </p:sp>
      <p:sp>
        <p:nvSpPr>
          <p:cNvPr id="5" name="TextBox 4"/>
          <p:cNvSpPr txBox="1"/>
          <p:nvPr/>
        </p:nvSpPr>
        <p:spPr>
          <a:xfrm>
            <a:off x="822960" y="1783080"/>
            <a:ext cx="10607040" cy="502920"/>
          </a:xfrm>
          <a:prstGeom prst="rect">
            <a:avLst/>
          </a:prstGeom>
          <a:noFill/>
        </p:spPr>
        <p:txBody>
          <a:bodyPr wrap="square" anchor="t" lIns="0" rIns="0" tIns="0" bIns="0">
            <a:spAutoFit/>
          </a:bodyPr>
          <a:lstStyle/>
          <a:p>
            <a:pPr algn="l">
              <a:lnSpc>
                <a:spcPct val="100000"/>
              </a:lnSpc>
              <a:spcBef>
                <a:spcPts val="0"/>
              </a:spcBef>
              <a:spcAft>
                <a:spcPts val="800"/>
              </a:spcAft>
            </a:pPr>
            <a:r>
              <a:rPr sz="2000" b="0" i="0">
                <a:solidFill>
                  <a:srgbClr val="4A5260"/>
                </a:solidFill>
                <a:latin typeface="Arial"/>
              </a:rPr>
              <a:t>One agent architecture drove every tool below — no per-tool customization.</a:t>
            </a:r>
          </a:p>
        </p:txBody>
      </p:sp>
      <p:sp>
        <p:nvSpPr>
          <p:cNvPr id="6" name="Rectangle 5"/>
          <p:cNvSpPr/>
          <p:nvPr/>
        </p:nvSpPr>
        <p:spPr>
          <a:xfrm>
            <a:off x="822960" y="242316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2423160"/>
            <a:ext cx="128016" cy="86868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2532888"/>
            <a:ext cx="4617720" cy="649224"/>
          </a:xfrm>
          <a:prstGeom prst="rect">
            <a:avLst/>
          </a:prstGeom>
          <a:noFill/>
        </p:spPr>
        <p:txBody>
          <a:bodyPr wrap="square" anchor="ctr" lIns="0" rIns="0" tIns="0" bIns="0">
            <a:spAutoFit/>
          </a:bodyPr>
          <a:lstStyle/>
          <a:p>
            <a:pPr algn="l">
              <a:lnSpc>
                <a:spcPct val="100000"/>
              </a:lnSpc>
              <a:spcBef>
                <a:spcPts val="0"/>
              </a:spcBef>
              <a:spcAft>
                <a:spcPts val="300"/>
              </a:spcAft>
            </a:pPr>
            <a:r>
              <a:rPr sz="1700" b="1" i="0">
                <a:solidFill>
                  <a:srgbClr val="003262"/>
                </a:solidFill>
                <a:latin typeface="Arial"/>
              </a:rPr>
              <a:t>Languages</a:t>
            </a:r>
          </a:p>
          <a:p>
            <a:pPr algn="l">
              <a:lnSpc>
                <a:spcPct val="102000"/>
              </a:lnSpc>
              <a:spcBef>
                <a:spcPts val="0"/>
              </a:spcBef>
              <a:spcAft>
                <a:spcPts val="800"/>
              </a:spcAft>
            </a:pPr>
            <a:r>
              <a:rPr sz="1400" b="0" i="0">
                <a:solidFill>
                  <a:srgbClr val="4A5260"/>
                </a:solidFill>
                <a:latin typeface="Arial"/>
              </a:rPr>
              <a:t>Python · TypeScript · JavaScript · CSS · HTML · LaTeX</a:t>
            </a:r>
          </a:p>
        </p:txBody>
      </p:sp>
      <p:sp>
        <p:nvSpPr>
          <p:cNvPr id="9" name="Rectangle 8"/>
          <p:cNvSpPr/>
          <p:nvPr/>
        </p:nvSpPr>
        <p:spPr>
          <a:xfrm>
            <a:off x="6172200" y="242316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72200" y="2423160"/>
            <a:ext cx="128016" cy="86868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2532888"/>
            <a:ext cx="4617720" cy="649224"/>
          </a:xfrm>
          <a:prstGeom prst="rect">
            <a:avLst/>
          </a:prstGeom>
          <a:noFill/>
        </p:spPr>
        <p:txBody>
          <a:bodyPr wrap="square" anchor="ctr" lIns="0" rIns="0" tIns="0" bIns="0">
            <a:spAutoFit/>
          </a:bodyPr>
          <a:lstStyle/>
          <a:p>
            <a:pPr algn="l">
              <a:lnSpc>
                <a:spcPct val="100000"/>
              </a:lnSpc>
              <a:spcBef>
                <a:spcPts val="0"/>
              </a:spcBef>
              <a:spcAft>
                <a:spcPts val="300"/>
              </a:spcAft>
            </a:pPr>
            <a:r>
              <a:rPr sz="1700" b="1" i="0">
                <a:solidFill>
                  <a:srgbClr val="003262"/>
                </a:solidFill>
                <a:latin typeface="Arial"/>
              </a:rPr>
              <a:t>Build &amp; tooling</a:t>
            </a:r>
          </a:p>
          <a:p>
            <a:pPr algn="l">
              <a:lnSpc>
                <a:spcPct val="102000"/>
              </a:lnSpc>
              <a:spcBef>
                <a:spcPts val="0"/>
              </a:spcBef>
              <a:spcAft>
                <a:spcPts val="800"/>
              </a:spcAft>
            </a:pPr>
            <a:r>
              <a:rPr sz="1400" b="0" i="0">
                <a:solidFill>
                  <a:srgbClr val="4A5260"/>
                </a:solidFill>
                <a:latin typeface="Arial"/>
              </a:rPr>
              <a:t>uv · npm · pdflatex · BibTeX · pytest</a:t>
            </a:r>
          </a:p>
        </p:txBody>
      </p:sp>
      <p:sp>
        <p:nvSpPr>
          <p:cNvPr id="12" name="Rectangle 11"/>
          <p:cNvSpPr/>
          <p:nvPr/>
        </p:nvSpPr>
        <p:spPr>
          <a:xfrm>
            <a:off x="822960" y="3438144"/>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 y="3438144"/>
            <a:ext cx="128016" cy="86868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43000" y="3547872"/>
            <a:ext cx="4617720" cy="649224"/>
          </a:xfrm>
          <a:prstGeom prst="rect">
            <a:avLst/>
          </a:prstGeom>
          <a:noFill/>
        </p:spPr>
        <p:txBody>
          <a:bodyPr wrap="square" anchor="ctr" lIns="0" rIns="0" tIns="0" bIns="0">
            <a:spAutoFit/>
          </a:bodyPr>
          <a:lstStyle/>
          <a:p>
            <a:pPr algn="l">
              <a:lnSpc>
                <a:spcPct val="100000"/>
              </a:lnSpc>
              <a:spcBef>
                <a:spcPts val="0"/>
              </a:spcBef>
              <a:spcAft>
                <a:spcPts val="300"/>
              </a:spcAft>
            </a:pPr>
            <a:r>
              <a:rPr sz="1700" b="1" i="0">
                <a:solidFill>
                  <a:srgbClr val="003262"/>
                </a:solidFill>
                <a:latin typeface="Arial"/>
              </a:rPr>
              <a:t>Version control</a:t>
            </a:r>
          </a:p>
          <a:p>
            <a:pPr algn="l">
              <a:lnSpc>
                <a:spcPct val="102000"/>
              </a:lnSpc>
              <a:spcBef>
                <a:spcPts val="0"/>
              </a:spcBef>
              <a:spcAft>
                <a:spcPts val="800"/>
              </a:spcAft>
            </a:pPr>
            <a:r>
              <a:rPr sz="1400" b="0" i="0">
                <a:solidFill>
                  <a:srgbClr val="4A5260"/>
                </a:solidFill>
                <a:latin typeface="Arial"/>
              </a:rPr>
              <a:t>Git · GitHub · worktree-per-task</a:t>
            </a:r>
          </a:p>
        </p:txBody>
      </p:sp>
      <p:sp>
        <p:nvSpPr>
          <p:cNvPr id="15" name="Rectangle 14"/>
          <p:cNvSpPr/>
          <p:nvPr/>
        </p:nvSpPr>
        <p:spPr>
          <a:xfrm>
            <a:off x="6172200" y="3438144"/>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438144"/>
            <a:ext cx="128016" cy="86868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3547872"/>
            <a:ext cx="4617720" cy="649224"/>
          </a:xfrm>
          <a:prstGeom prst="rect">
            <a:avLst/>
          </a:prstGeom>
          <a:noFill/>
        </p:spPr>
        <p:txBody>
          <a:bodyPr wrap="square" anchor="ctr" lIns="0" rIns="0" tIns="0" bIns="0">
            <a:spAutoFit/>
          </a:bodyPr>
          <a:lstStyle/>
          <a:p>
            <a:pPr algn="l">
              <a:lnSpc>
                <a:spcPct val="100000"/>
              </a:lnSpc>
              <a:spcBef>
                <a:spcPts val="0"/>
              </a:spcBef>
              <a:spcAft>
                <a:spcPts val="300"/>
              </a:spcAft>
            </a:pPr>
            <a:r>
              <a:rPr sz="1700" b="1" i="0">
                <a:solidFill>
                  <a:srgbClr val="003262"/>
                </a:solidFill>
                <a:latin typeface="Arial"/>
              </a:rPr>
              <a:t>Automation</a:t>
            </a:r>
          </a:p>
          <a:p>
            <a:pPr algn="l">
              <a:lnSpc>
                <a:spcPct val="102000"/>
              </a:lnSpc>
              <a:spcBef>
                <a:spcPts val="0"/>
              </a:spcBef>
              <a:spcAft>
                <a:spcPts val="800"/>
              </a:spcAft>
            </a:pPr>
            <a:r>
              <a:rPr sz="1400" b="0" i="0">
                <a:solidFill>
                  <a:srgbClr val="4A5260"/>
                </a:solidFill>
                <a:latin typeface="Arial"/>
              </a:rPr>
              <a:t>Playwright · Chromium · cron daemon</a:t>
            </a:r>
          </a:p>
        </p:txBody>
      </p:sp>
      <p:sp>
        <p:nvSpPr>
          <p:cNvPr id="18" name="Rectangle 17"/>
          <p:cNvSpPr/>
          <p:nvPr/>
        </p:nvSpPr>
        <p:spPr>
          <a:xfrm>
            <a:off x="822960" y="4453128"/>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2960" y="4453128"/>
            <a:ext cx="128016" cy="86868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43000" y="4562856"/>
            <a:ext cx="4617720" cy="649224"/>
          </a:xfrm>
          <a:prstGeom prst="rect">
            <a:avLst/>
          </a:prstGeom>
          <a:noFill/>
        </p:spPr>
        <p:txBody>
          <a:bodyPr wrap="square" anchor="ctr" lIns="0" rIns="0" tIns="0" bIns="0">
            <a:spAutoFit/>
          </a:bodyPr>
          <a:lstStyle/>
          <a:p>
            <a:pPr algn="l">
              <a:lnSpc>
                <a:spcPct val="100000"/>
              </a:lnSpc>
              <a:spcBef>
                <a:spcPts val="0"/>
              </a:spcBef>
              <a:spcAft>
                <a:spcPts val="300"/>
              </a:spcAft>
            </a:pPr>
            <a:r>
              <a:rPr sz="1700" b="1" i="0">
                <a:solidFill>
                  <a:srgbClr val="003262"/>
                </a:solidFill>
                <a:latin typeface="Arial"/>
              </a:rPr>
              <a:t>Remote &amp; infra</a:t>
            </a:r>
          </a:p>
          <a:p>
            <a:pPr algn="l">
              <a:lnSpc>
                <a:spcPct val="102000"/>
              </a:lnSpc>
              <a:spcBef>
                <a:spcPts val="0"/>
              </a:spcBef>
              <a:spcAft>
                <a:spcPts val="800"/>
              </a:spcAft>
            </a:pPr>
            <a:r>
              <a:rPr sz="1400" b="0" i="0">
                <a:solidFill>
                  <a:srgbClr val="4A5260"/>
                </a:solidFill>
                <a:latin typeface="Arial"/>
              </a:rPr>
              <a:t>Cloudflare Tunnels · TLS/WSS · Docker · ntfy.sh</a:t>
            </a:r>
          </a:p>
        </p:txBody>
      </p:sp>
      <p:sp>
        <p:nvSpPr>
          <p:cNvPr id="21" name="Rectangle 20"/>
          <p:cNvSpPr/>
          <p:nvPr/>
        </p:nvSpPr>
        <p:spPr>
          <a:xfrm>
            <a:off x="6172200" y="4453128"/>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2200" y="4453128"/>
            <a:ext cx="128016" cy="86868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4562856"/>
            <a:ext cx="4617720" cy="649224"/>
          </a:xfrm>
          <a:prstGeom prst="rect">
            <a:avLst/>
          </a:prstGeom>
          <a:noFill/>
        </p:spPr>
        <p:txBody>
          <a:bodyPr wrap="square" anchor="ctr" lIns="0" rIns="0" tIns="0" bIns="0">
            <a:spAutoFit/>
          </a:bodyPr>
          <a:lstStyle/>
          <a:p>
            <a:pPr algn="l">
              <a:lnSpc>
                <a:spcPct val="100000"/>
              </a:lnSpc>
              <a:spcBef>
                <a:spcPts val="0"/>
              </a:spcBef>
              <a:spcAft>
                <a:spcPts val="300"/>
              </a:spcAft>
            </a:pPr>
            <a:r>
              <a:rPr sz="1700" b="1" i="0">
                <a:solidFill>
                  <a:srgbClr val="003262"/>
                </a:solidFill>
                <a:latin typeface="Arial"/>
              </a:rPr>
              <a:t>Data</a:t>
            </a:r>
          </a:p>
          <a:p>
            <a:pPr algn="l">
              <a:lnSpc>
                <a:spcPct val="102000"/>
              </a:lnSpc>
              <a:spcBef>
                <a:spcPts val="0"/>
              </a:spcBef>
              <a:spcAft>
                <a:spcPts val="800"/>
              </a:spcAft>
            </a:pPr>
            <a:r>
              <a:rPr sz="1400" b="0" i="0">
                <a:solidFill>
                  <a:srgbClr val="4A5260"/>
                </a:solidFill>
                <a:latin typeface="Arial"/>
              </a:rPr>
              <a:t>SQLite (sorcar.db)</a:t>
            </a:r>
          </a:p>
        </p:txBody>
      </p:sp>
      <p:sp>
        <p:nvSpPr>
          <p:cNvPr id="24" name="Rectangle 23"/>
          <p:cNvSpPr/>
          <p:nvPr/>
        </p:nvSpPr>
        <p:spPr>
          <a:xfrm>
            <a:off x="822960" y="5468112"/>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60" y="5468112"/>
            <a:ext cx="128016" cy="86868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43000" y="5577840"/>
            <a:ext cx="4617720" cy="649224"/>
          </a:xfrm>
          <a:prstGeom prst="rect">
            <a:avLst/>
          </a:prstGeom>
          <a:noFill/>
        </p:spPr>
        <p:txBody>
          <a:bodyPr wrap="square" anchor="ctr" lIns="0" rIns="0" tIns="0" bIns="0">
            <a:spAutoFit/>
          </a:bodyPr>
          <a:lstStyle/>
          <a:p>
            <a:pPr algn="l">
              <a:lnSpc>
                <a:spcPct val="100000"/>
              </a:lnSpc>
              <a:spcBef>
                <a:spcPts val="0"/>
              </a:spcBef>
              <a:spcAft>
                <a:spcPts val="300"/>
              </a:spcAft>
            </a:pPr>
            <a:r>
              <a:rPr sz="1700" b="1" i="0">
                <a:solidFill>
                  <a:srgbClr val="003262"/>
                </a:solidFill>
                <a:latin typeface="Arial"/>
              </a:rPr>
              <a:t>Assistants</a:t>
            </a:r>
          </a:p>
          <a:p>
            <a:pPr algn="l">
              <a:lnSpc>
                <a:spcPct val="102000"/>
              </a:lnSpc>
              <a:spcBef>
                <a:spcPts val="0"/>
              </a:spcBef>
              <a:spcAft>
                <a:spcPts val="800"/>
              </a:spcAft>
            </a:pPr>
            <a:r>
              <a:rPr sz="1400" b="0" i="0">
                <a:solidFill>
                  <a:srgbClr val="4A5260"/>
                </a:solidFill>
                <a:latin typeface="Arial"/>
              </a:rPr>
              <a:t>Govee · Slack · iMessage · WhatsApp · Gmail · Resend</a:t>
            </a:r>
          </a:p>
        </p:txBody>
      </p:sp>
      <p:sp>
        <p:nvSpPr>
          <p:cNvPr id="27" name="Rectangle 26"/>
          <p:cNvSpPr/>
          <p:nvPr/>
        </p:nvSpPr>
        <p:spPr>
          <a:xfrm>
            <a:off x="6172200" y="5468112"/>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72200" y="5468112"/>
            <a:ext cx="128016" cy="86868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92240" y="5577840"/>
            <a:ext cx="4617720" cy="649224"/>
          </a:xfrm>
          <a:prstGeom prst="rect">
            <a:avLst/>
          </a:prstGeom>
          <a:noFill/>
        </p:spPr>
        <p:txBody>
          <a:bodyPr wrap="square" anchor="ctr" lIns="0" rIns="0" tIns="0" bIns="0">
            <a:spAutoFit/>
          </a:bodyPr>
          <a:lstStyle/>
          <a:p>
            <a:pPr algn="l">
              <a:lnSpc>
                <a:spcPct val="100000"/>
              </a:lnSpc>
              <a:spcBef>
                <a:spcPts val="0"/>
              </a:spcBef>
              <a:spcAft>
                <a:spcPts val="300"/>
              </a:spcAft>
            </a:pPr>
            <a:r>
              <a:rPr sz="1700" b="1" i="0">
                <a:solidFill>
                  <a:srgbClr val="003262"/>
                </a:solidFill>
                <a:latin typeface="Arial"/>
              </a:rPr>
              <a:t>Media</a:t>
            </a:r>
          </a:p>
          <a:p>
            <a:pPr algn="l">
              <a:lnSpc>
                <a:spcPct val="102000"/>
              </a:lnSpc>
              <a:spcBef>
                <a:spcPts val="0"/>
              </a:spcBef>
              <a:spcAft>
                <a:spcPts val="800"/>
              </a:spcAft>
            </a:pPr>
            <a:r>
              <a:rPr sz="1400" b="0" i="0">
                <a:solidFill>
                  <a:srgbClr val="4A5260"/>
                </a:solidFill>
                <a:latin typeface="Arial"/>
              </a:rPr>
              <a:t>python-pptx · Final Cut Pro</a:t>
            </a:r>
          </a:p>
        </p:txBody>
      </p:sp>
      <p:sp>
        <p:nvSpPr>
          <p:cNvPr id="30" name="Rectangle 29"/>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6547104"/>
            <a:ext cx="8229600" cy="274320"/>
          </a:xfrm>
          <a:prstGeom prst="rect">
            <a:avLst/>
          </a:prstGeom>
          <a:noFill/>
        </p:spPr>
        <p:txBody>
          <a:bodyPr wrap="square" anchor="t" lIns="0" rIns="0" tIns="0" bIns="0">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32" name="TextBox 31"/>
          <p:cNvSpPr txBox="1"/>
          <p:nvPr/>
        </p:nvSpPr>
        <p:spPr>
          <a:xfrm>
            <a:off x="10058400" y="6547104"/>
            <a:ext cx="1307592" cy="274320"/>
          </a:xfrm>
          <a:prstGeom prst="rect">
            <a:avLst/>
          </a:prstGeom>
          <a:noFill/>
        </p:spPr>
        <p:txBody>
          <a:bodyPr wrap="square" anchor="t" lIns="0" rIns="0" tIns="0" bIns="0">
            <a:spAutoFit/>
          </a:bodyPr>
          <a:lstStyle/>
          <a:p>
            <a:pPr algn="r">
              <a:lnSpc>
                <a:spcPct val="100000"/>
              </a:lnSpc>
              <a:spcBef>
                <a:spcPts val="0"/>
              </a:spcBef>
              <a:spcAft>
                <a:spcPts val="800"/>
              </a:spcAft>
            </a:pPr>
            <a:r>
              <a:rPr sz="1100" b="1" i="0">
                <a:solidFill>
                  <a:srgbClr val="C88A00"/>
                </a:solidFill>
                <a:latin typeface="Arial"/>
              </a:rPr>
              <a:t>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C88A00"/>
                </a:solidFill>
                <a:latin typeface="Arial"/>
              </a:rPr>
              <a:t>T  H  E     S  P  E  C</a:t>
            </a:r>
          </a:p>
        </p:txBody>
      </p:sp>
      <p:sp>
        <p:nvSpPr>
          <p:cNvPr id="4" name="TextBox 3"/>
          <p:cNvSpPr txBox="1"/>
          <p:nvPr/>
        </p:nvSpPr>
        <p:spPr>
          <a:xfrm>
            <a:off x="822960" y="868680"/>
            <a:ext cx="10515600" cy="1280160"/>
          </a:xfrm>
          <a:prstGeom prst="rect">
            <a:avLst/>
          </a:prstGeom>
          <a:noFill/>
        </p:spPr>
        <p:txBody>
          <a:bodyPr wrap="square" anchor="t" lIns="0" rIns="0" tIns="0" bIns="0">
            <a:spAutoFit/>
          </a:bodyPr>
          <a:lstStyle/>
          <a:p>
            <a:pPr algn="l">
              <a:lnSpc>
                <a:spcPct val="100000"/>
              </a:lnSpc>
              <a:spcBef>
                <a:spcPts val="0"/>
              </a:spcBef>
              <a:spcAft>
                <a:spcPts val="800"/>
              </a:spcAft>
            </a:pPr>
            <a:r>
              <a:rPr sz="3400" b="1" i="0">
                <a:solidFill>
                  <a:srgbClr val="003262"/>
                </a:solidFill>
                <a:latin typeface="Arial"/>
              </a:rPr>
              <a:t>The system prompt as engineering specification</a:t>
            </a:r>
          </a:p>
        </p:txBody>
      </p:sp>
      <p:sp>
        <p:nvSpPr>
          <p:cNvPr id="5" name="TextBox 4"/>
          <p:cNvSpPr txBox="1"/>
          <p:nvPr/>
        </p:nvSpPr>
        <p:spPr>
          <a:xfrm>
            <a:off x="822960" y="1783080"/>
            <a:ext cx="5852160" cy="822960"/>
          </a:xfrm>
          <a:prstGeom prst="rect">
            <a:avLst/>
          </a:prstGeom>
          <a:noFill/>
        </p:spPr>
        <p:txBody>
          <a:bodyPr wrap="square" anchor="t" lIns="0" rIns="0" tIns="0" bIns="0">
            <a:spAutoFit/>
          </a:bodyPr>
          <a:lstStyle/>
          <a:p>
            <a:pPr algn="l">
              <a:lnSpc>
                <a:spcPct val="110000"/>
              </a:lnSpc>
              <a:spcBef>
                <a:spcPts val="0"/>
              </a:spcBef>
              <a:spcAft>
                <a:spcPts val="800"/>
              </a:spcAft>
            </a:pPr>
            <a:r>
              <a:rPr sz="2000" b="0" i="0">
                <a:solidFill>
                  <a:srgbClr val="4A5260"/>
                </a:solidFill>
                <a:latin typeface="Arial"/>
              </a:rPr>
              <a:t>A structured, human-readable spec — XML-tagged sections, each encoding one principle.</a:t>
            </a:r>
          </a:p>
        </p:txBody>
      </p:sp>
      <p:sp>
        <p:nvSpPr>
          <p:cNvPr id="6" name="TextBox 5"/>
          <p:cNvSpPr txBox="1"/>
          <p:nvPr/>
        </p:nvSpPr>
        <p:spPr>
          <a:xfrm>
            <a:off x="822960" y="2743200"/>
            <a:ext cx="5852160" cy="3291840"/>
          </a:xfrm>
          <a:prstGeom prst="rect">
            <a:avLst/>
          </a:prstGeom>
          <a:noFill/>
        </p:spPr>
        <p:txBody>
          <a:bodyPr wrap="square" anchor="t" lIns="0" rIns="0" tIns="0" bIns="0">
            <a:spAutoFit/>
          </a:bodyPr>
          <a:lstStyle/>
          <a:p>
            <a:pPr algn="l">
              <a:lnSpc>
                <a:spcPct val="106000"/>
              </a:lnSpc>
              <a:spcAft>
                <a:spcPts val="1600"/>
              </a:spcAft>
            </a:pPr>
            <a:r>
              <a:rPr sz="1800" b="1">
                <a:solidFill>
                  <a:srgbClr val="FDB515"/>
                </a:solidFill>
                <a:latin typeface="Arial"/>
              </a:rPr>
              <a:t>—  </a:t>
            </a:r>
            <a:r>
              <a:rPr sz="1800" b="1">
                <a:solidFill>
                  <a:srgbClr val="003262"/>
                </a:solidFill>
                <a:latin typeface="Arial"/>
              </a:rPr>
              <a:t>Prompt as test oracle:  </a:t>
            </a:r>
            <a:r>
              <a:rPr sz="1800">
                <a:solidFill>
                  <a:srgbClr val="1A1F2B"/>
                </a:solidFill>
                <a:latin typeface="Arial"/>
              </a:rPr>
              <a:t>audit compliance from the log, write a real-LLM test, then patch the prompt.</a:t>
            </a:r>
          </a:p>
          <a:p>
            <a:pPr algn="l">
              <a:lnSpc>
                <a:spcPct val="106000"/>
              </a:lnSpc>
              <a:spcAft>
                <a:spcPts val="1600"/>
              </a:spcAft>
            </a:pPr>
            <a:r>
              <a:rPr sz="1800" b="1">
                <a:solidFill>
                  <a:srgbClr val="FDB515"/>
                </a:solidFill>
                <a:latin typeface="Arial"/>
              </a:rPr>
              <a:t>—  </a:t>
            </a:r>
            <a:r>
              <a:rPr sz="1800" b="1">
                <a:solidFill>
                  <a:srgbClr val="003262"/>
                </a:solidFill>
                <a:latin typeface="Arial"/>
              </a:rPr>
              <a:t>Evolved voice:  </a:t>
            </a:r>
            <a:r>
              <a:rPr sz="1800">
                <a:solidFill>
                  <a:srgbClr val="1A1F2B"/>
                </a:solidFill>
                <a:latin typeface="Arial"/>
              </a:rPr>
              <a:t>from aggressive imperatives to calm, explanatory framing — the agent performed better.</a:t>
            </a:r>
          </a:p>
          <a:p>
            <a:pPr algn="l">
              <a:lnSpc>
                <a:spcPct val="106000"/>
              </a:lnSpc>
              <a:spcAft>
                <a:spcPts val="1600"/>
              </a:spcAft>
            </a:pPr>
            <a:r>
              <a:rPr sz="1800" b="1">
                <a:solidFill>
                  <a:srgbClr val="FDB515"/>
                </a:solidFill>
                <a:latin typeface="Arial"/>
              </a:rPr>
              <a:t>—  </a:t>
            </a:r>
            <a:r>
              <a:rPr sz="1800" b="1">
                <a:solidFill>
                  <a:srgbClr val="003262"/>
                </a:solidFill>
                <a:latin typeface="Arial"/>
              </a:rPr>
              <a:t>Every rule names a failure mode:  </a:t>
            </a:r>
            <a:r>
              <a:rPr sz="1800">
                <a:solidFill>
                  <a:srgbClr val="1A1F2B"/>
                </a:solidFill>
                <a:latin typeface="Arial"/>
              </a:rPr>
              <a:t>a specific action and a specific verification, refined iteratively.</a:t>
            </a:r>
          </a:p>
        </p:txBody>
      </p:sp>
      <p:sp>
        <p:nvSpPr>
          <p:cNvPr id="7" name="Rectangle 6"/>
          <p:cNvSpPr/>
          <p:nvPr/>
        </p:nvSpPr>
        <p:spPr>
          <a:xfrm>
            <a:off x="7040880" y="1828800"/>
            <a:ext cx="4297680" cy="4297680"/>
          </a:xfrm>
          <a:prstGeom prst="rect">
            <a:avLst/>
          </a:prstGeom>
          <a:solidFill>
            <a:srgbClr val="1A1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040880" y="1828800"/>
            <a:ext cx="429768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60920" y="2148840"/>
            <a:ext cx="3657600" cy="3840480"/>
          </a:xfrm>
          <a:prstGeom prst="rect">
            <a:avLst/>
          </a:prstGeom>
          <a:noFill/>
        </p:spPr>
        <p:txBody>
          <a:bodyPr wrap="square" anchor="t" lIns="0" rIns="0" tIns="0" bIns="0">
            <a:spAutoFit/>
          </a:bodyPr>
          <a:lstStyle/>
          <a:p>
            <a:pPr algn="l">
              <a:lnSpc>
                <a:spcPct val="100000"/>
              </a:lnSpc>
              <a:spcBef>
                <a:spcPts val="0"/>
              </a:spcBef>
              <a:spcAft>
                <a:spcPts val="800"/>
              </a:spcAft>
            </a:pPr>
            <a:r>
              <a:rPr sz="1800" b="0" i="0">
                <a:solidFill>
                  <a:srgbClr val="7FD3F0"/>
                </a:solidFill>
                <a:latin typeface="Consolas"/>
              </a:rPr>
              <a:t>&lt;identity&gt;</a:t>
            </a:r>
          </a:p>
          <a:p>
            <a:pPr algn="l">
              <a:lnSpc>
                <a:spcPct val="100000"/>
              </a:lnSpc>
              <a:spcBef>
                <a:spcPts val="0"/>
              </a:spcBef>
              <a:spcAft>
                <a:spcPts val="800"/>
              </a:spcAft>
            </a:pPr>
            <a:r>
              <a:rPr sz="1800" b="0" i="0">
                <a:solidFill>
                  <a:srgbClr val="7FD3F0"/>
                </a:solidFill>
                <a:latin typeface="Consolas"/>
              </a:rPr>
              <a:t>&lt;visibility_constraint&gt;</a:t>
            </a:r>
          </a:p>
          <a:p>
            <a:pPr algn="l">
              <a:lnSpc>
                <a:spcPct val="100000"/>
              </a:lnSpc>
              <a:spcBef>
                <a:spcPts val="0"/>
              </a:spcBef>
              <a:spcAft>
                <a:spcPts val="800"/>
              </a:spcAft>
            </a:pPr>
            <a:r>
              <a:rPr sz="1800" b="0" i="0">
                <a:solidFill>
                  <a:srgbClr val="7FD3F0"/>
                </a:solidFill>
                <a:latin typeface="Consolas"/>
              </a:rPr>
              <a:t>&lt;tool_rules&gt;</a:t>
            </a:r>
          </a:p>
          <a:p>
            <a:pPr algn="l">
              <a:lnSpc>
                <a:spcPct val="100000"/>
              </a:lnSpc>
              <a:spcBef>
                <a:spcPts val="0"/>
              </a:spcBef>
              <a:spcAft>
                <a:spcPts val="800"/>
              </a:spcAft>
            </a:pPr>
            <a:r>
              <a:rPr sz="1800" b="0" i="0">
                <a:solidFill>
                  <a:srgbClr val="7FD3F0"/>
                </a:solidFill>
                <a:latin typeface="Consolas"/>
              </a:rPr>
              <a:t>&lt;web_research&gt;</a:t>
            </a:r>
          </a:p>
          <a:p>
            <a:pPr algn="l">
              <a:lnSpc>
                <a:spcPct val="100000"/>
              </a:lnSpc>
              <a:spcBef>
                <a:spcPts val="0"/>
              </a:spcBef>
              <a:spcAft>
                <a:spcPts val="800"/>
              </a:spcAft>
            </a:pPr>
            <a:r>
              <a:rPr sz="1800" b="0" i="0">
                <a:solidFill>
                  <a:srgbClr val="7FD3F0"/>
                </a:solidFill>
                <a:latin typeface="Consolas"/>
              </a:rPr>
              <a:t>&lt;code_style&gt;</a:t>
            </a:r>
          </a:p>
          <a:p>
            <a:pPr algn="l">
              <a:lnSpc>
                <a:spcPct val="100000"/>
              </a:lnSpc>
              <a:spcBef>
                <a:spcPts val="0"/>
              </a:spcBef>
              <a:spcAft>
                <a:spcPts val="800"/>
              </a:spcAft>
            </a:pPr>
            <a:r>
              <a:rPr sz="1800" b="0" i="0">
                <a:solidFill>
                  <a:srgbClr val="7FD3F0"/>
                </a:solidFill>
                <a:latin typeface="Consolas"/>
              </a:rPr>
              <a:t>&lt;workflow&gt;</a:t>
            </a:r>
          </a:p>
          <a:p>
            <a:pPr algn="l">
              <a:lnSpc>
                <a:spcPct val="100000"/>
              </a:lnSpc>
              <a:spcBef>
                <a:spcPts val="0"/>
              </a:spcBef>
              <a:spcAft>
                <a:spcPts val="800"/>
              </a:spcAft>
            </a:pPr>
            <a:r>
              <a:rPr sz="1800" b="0" i="0">
                <a:solidFill>
                  <a:srgbClr val="7FD3F0"/>
                </a:solidFill>
                <a:latin typeface="Consolas"/>
              </a:rPr>
              <a:t>&lt;testing&gt;</a:t>
            </a:r>
          </a:p>
          <a:p>
            <a:pPr algn="l">
              <a:lnSpc>
                <a:spcPct val="100000"/>
              </a:lnSpc>
              <a:spcBef>
                <a:spcPts val="0"/>
              </a:spcBef>
              <a:spcAft>
                <a:spcPts val="800"/>
              </a:spcAft>
            </a:pPr>
            <a:r>
              <a:rPr sz="1800" b="0" i="0">
                <a:solidFill>
                  <a:srgbClr val="7FD3F0"/>
                </a:solidFill>
                <a:latin typeface="Consolas"/>
              </a:rPr>
              <a:t>&lt;pre_finish_verification&gt;</a:t>
            </a:r>
          </a:p>
          <a:p>
            <a:pPr algn="l">
              <a:lnSpc>
                <a:spcPct val="100000"/>
              </a:lnSpc>
              <a:spcBef>
                <a:spcPts val="0"/>
              </a:spcBef>
              <a:spcAft>
                <a:spcPts val="800"/>
              </a:spcAft>
            </a:pPr>
            <a:r>
              <a:rPr sz="1800" b="0" i="0">
                <a:solidFill>
                  <a:srgbClr val="7FD3F0"/>
                </a:solidFill>
                <a:latin typeface="Consolas"/>
              </a:rPr>
              <a:t>&lt;sorcar_specific&gt;</a:t>
            </a:r>
          </a:p>
        </p:txBody>
      </p:sp>
      <p:sp>
        <p:nvSpPr>
          <p:cNvPr id="10" name="Rectangle 9"/>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6547104"/>
            <a:ext cx="8229600" cy="274320"/>
          </a:xfrm>
          <a:prstGeom prst="rect">
            <a:avLst/>
          </a:prstGeom>
          <a:noFill/>
        </p:spPr>
        <p:txBody>
          <a:bodyPr wrap="square" anchor="t" lIns="0" rIns="0" tIns="0" bIns="0">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12" name="TextBox 11"/>
          <p:cNvSpPr txBox="1"/>
          <p:nvPr/>
        </p:nvSpPr>
        <p:spPr>
          <a:xfrm>
            <a:off x="10058400" y="6547104"/>
            <a:ext cx="1307592" cy="274320"/>
          </a:xfrm>
          <a:prstGeom prst="rect">
            <a:avLst/>
          </a:prstGeom>
          <a:noFill/>
        </p:spPr>
        <p:txBody>
          <a:bodyPr wrap="square" anchor="t" lIns="0" rIns="0" tIns="0" bIns="0">
            <a:spAutoFit/>
          </a:bodyPr>
          <a:lstStyle/>
          <a:p>
            <a:pPr algn="r">
              <a:lnSpc>
                <a:spcPct val="100000"/>
              </a:lnSpc>
              <a:spcBef>
                <a:spcPts val="0"/>
              </a:spcBef>
              <a:spcAft>
                <a:spcPts val="800"/>
              </a:spcAft>
            </a:pPr>
            <a:r>
              <a:rPr sz="1100" b="1" i="0">
                <a:solidFill>
                  <a:srgbClr val="C88A00"/>
                </a:solidFill>
                <a:latin typeface="Arial"/>
              </a:rPr>
              <a:t>22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C88A00"/>
                </a:solidFill>
                <a:latin typeface="Arial"/>
              </a:rPr>
              <a:t>L  E  S  S  O  N  S</a:t>
            </a:r>
          </a:p>
        </p:txBody>
      </p:sp>
      <p:sp>
        <p:nvSpPr>
          <p:cNvPr id="4" name="TextBox 3"/>
          <p:cNvSpPr txBox="1"/>
          <p:nvPr/>
        </p:nvSpPr>
        <p:spPr>
          <a:xfrm>
            <a:off x="822960" y="868680"/>
            <a:ext cx="10515600" cy="1280160"/>
          </a:xfrm>
          <a:prstGeom prst="rect">
            <a:avLst/>
          </a:prstGeom>
          <a:noFill/>
        </p:spPr>
        <p:txBody>
          <a:bodyPr wrap="square" anchor="t" lIns="0" rIns="0" tIns="0" bIns="0">
            <a:spAutoFit/>
          </a:bodyPr>
          <a:lstStyle/>
          <a:p>
            <a:pPr algn="l">
              <a:lnSpc>
                <a:spcPct val="100000"/>
              </a:lnSpc>
              <a:spcBef>
                <a:spcPts val="0"/>
              </a:spcBef>
              <a:spcAft>
                <a:spcPts val="800"/>
              </a:spcAft>
            </a:pPr>
            <a:r>
              <a:rPr sz="3400" b="1" i="0">
                <a:solidFill>
                  <a:srgbClr val="003262"/>
                </a:solidFill>
                <a:latin typeface="Arial"/>
              </a:rPr>
              <a:t>What the patterns reveal</a:t>
            </a:r>
          </a:p>
        </p:txBody>
      </p:sp>
      <p:sp>
        <p:nvSpPr>
          <p:cNvPr id="5" name="TextBox 4"/>
          <p:cNvSpPr txBox="1"/>
          <p:nvPr/>
        </p:nvSpPr>
        <p:spPr>
          <a:xfrm>
            <a:off x="822960" y="1920240"/>
            <a:ext cx="10607040" cy="4297680"/>
          </a:xfrm>
          <a:prstGeom prst="rect">
            <a:avLst/>
          </a:prstGeom>
          <a:noFill/>
        </p:spPr>
        <p:txBody>
          <a:bodyPr wrap="square" anchor="t" lIns="0" rIns="0" tIns="0" bIns="0">
            <a:spAutoFit/>
          </a:bodyPr>
          <a:lstStyle/>
          <a:p>
            <a:pPr algn="l">
              <a:lnSpc>
                <a:spcPct val="106000"/>
              </a:lnSpc>
              <a:spcAft>
                <a:spcPts val="1600"/>
              </a:spcAft>
            </a:pPr>
            <a:r>
              <a:rPr sz="2000" b="1">
                <a:solidFill>
                  <a:srgbClr val="FDB515"/>
                </a:solidFill>
                <a:latin typeface="Arial"/>
              </a:rPr>
              <a:t>—  </a:t>
            </a:r>
            <a:r>
              <a:rPr sz="2000" b="1">
                <a:solidFill>
                  <a:srgbClr val="003262"/>
                </a:solidFill>
                <a:latin typeface="Arial"/>
              </a:rPr>
              <a:t>The role shifts:  </a:t>
            </a:r>
            <a:r>
              <a:rPr sz="2000">
                <a:solidFill>
                  <a:srgbClr val="1A1F2B"/>
                </a:solidFill>
                <a:latin typeface="Arial"/>
              </a:rPr>
              <a:t>from writing code to directing and verifying an agent that writes code — discipline lives in task phrasing.</a:t>
            </a:r>
          </a:p>
          <a:p>
            <a:pPr algn="l">
              <a:lnSpc>
                <a:spcPct val="106000"/>
              </a:lnSpc>
              <a:spcAft>
                <a:spcPts val="1600"/>
              </a:spcAft>
            </a:pPr>
            <a:r>
              <a:rPr sz="2000" b="1">
                <a:solidFill>
                  <a:srgbClr val="FDB515"/>
                </a:solidFill>
                <a:latin typeface="Arial"/>
              </a:rPr>
              <a:t>—  </a:t>
            </a:r>
            <a:r>
              <a:rPr sz="2000" b="1">
                <a:solidFill>
                  <a:srgbClr val="003262"/>
                </a:solidFill>
                <a:latin typeface="Arial"/>
              </a:rPr>
              <a:t>Natural language is precise enough:  </a:t>
            </a:r>
            <a:r>
              <a:rPr sz="2000">
                <a:solidFill>
                  <a:srgbClr val="1A1F2B"/>
                </a:solidFill>
                <a:latin typeface="Arial"/>
              </a:rPr>
              <a:t>when explanation and edit come from the same agent over the same source, vague instructions land.</a:t>
            </a:r>
          </a:p>
          <a:p>
            <a:pPr algn="l">
              <a:lnSpc>
                <a:spcPct val="106000"/>
              </a:lnSpc>
              <a:spcAft>
                <a:spcPts val="1600"/>
              </a:spcAft>
            </a:pPr>
            <a:r>
              <a:rPr sz="2000" b="1">
                <a:solidFill>
                  <a:srgbClr val="FDB515"/>
                </a:solidFill>
                <a:latin typeface="Arial"/>
              </a:rPr>
              <a:t>—  </a:t>
            </a:r>
            <a:r>
              <a:rPr sz="2000" b="1">
                <a:solidFill>
                  <a:srgbClr val="003262"/>
                </a:solidFill>
                <a:latin typeface="Arial"/>
              </a:rPr>
              <a:t>The self-hosting paradox:  </a:t>
            </a:r>
            <a:r>
              <a:rPr sz="2000">
                <a:solidFill>
                  <a:srgbClr val="1A1F2B"/>
                </a:solidFill>
                <a:latin typeface="Arial"/>
              </a:rPr>
              <a:t>the tool must be good enough to build itself; resolved by bootstrapping, version by version.</a:t>
            </a:r>
          </a:p>
          <a:p>
            <a:pPr algn="l">
              <a:lnSpc>
                <a:spcPct val="106000"/>
              </a:lnSpc>
              <a:spcAft>
                <a:spcPts val="1600"/>
              </a:spcAft>
            </a:pPr>
            <a:r>
              <a:rPr sz="2000" b="1">
                <a:solidFill>
                  <a:srgbClr val="FDB515"/>
                </a:solidFill>
                <a:latin typeface="Arial"/>
              </a:rPr>
              <a:t>—  </a:t>
            </a:r>
            <a:r>
              <a:rPr sz="2000" b="1">
                <a:solidFill>
                  <a:srgbClr val="003262"/>
                </a:solidFill>
                <a:latin typeface="Arial"/>
              </a:rPr>
              <a:t>Cost of the approach:  </a:t>
            </a:r>
            <a:r>
              <a:rPr sz="2000">
                <a:solidFill>
                  <a:srgbClr val="1A1F2B"/>
                </a:solidFill>
                <a:latin typeface="Arial"/>
              </a:rPr>
              <a:t>~1 in 90 tasks needed a defensive revert — but every surviving change is validated by its own maintainer.</a:t>
            </a:r>
          </a:p>
          <a:p>
            <a:pPr algn="l">
              <a:lnSpc>
                <a:spcPct val="106000"/>
              </a:lnSpc>
              <a:spcAft>
                <a:spcPts val="1600"/>
              </a:spcAft>
            </a:pPr>
            <a:r>
              <a:rPr sz="2000" b="1">
                <a:solidFill>
                  <a:srgbClr val="FDB515"/>
                </a:solidFill>
                <a:latin typeface="Arial"/>
              </a:rPr>
              <a:t>—  </a:t>
            </a:r>
            <a:r>
              <a:rPr sz="2000" b="1">
                <a:solidFill>
                  <a:srgbClr val="003262"/>
                </a:solidFill>
                <a:latin typeface="Arial"/>
              </a:rPr>
              <a:t>A general-purpose companion:  </a:t>
            </a:r>
            <a:r>
              <a:rPr sz="2000">
                <a:solidFill>
                  <a:srgbClr val="1A1F2B"/>
                </a:solidFill>
                <a:latin typeface="Arial"/>
              </a:rPr>
              <a:t>because it is used all day, it becomes the interface for everything, not just coding.</a:t>
            </a:r>
          </a:p>
        </p:txBody>
      </p:sp>
      <p:sp>
        <p:nvSpPr>
          <p:cNvPr id="6" name="Rectangle 5"/>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547104"/>
            <a:ext cx="8229600" cy="274320"/>
          </a:xfrm>
          <a:prstGeom prst="rect">
            <a:avLst/>
          </a:prstGeom>
          <a:noFill/>
        </p:spPr>
        <p:txBody>
          <a:bodyPr wrap="square" anchor="t" lIns="0" rIns="0" tIns="0" bIns="0">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8" name="TextBox 7"/>
          <p:cNvSpPr txBox="1"/>
          <p:nvPr/>
        </p:nvSpPr>
        <p:spPr>
          <a:xfrm>
            <a:off x="10058400" y="6547104"/>
            <a:ext cx="1307592" cy="274320"/>
          </a:xfrm>
          <a:prstGeom prst="rect">
            <a:avLst/>
          </a:prstGeom>
          <a:noFill/>
        </p:spPr>
        <p:txBody>
          <a:bodyPr wrap="square" anchor="t" lIns="0" rIns="0" tIns="0" bIns="0">
            <a:spAutoFit/>
          </a:bodyPr>
          <a:lstStyle/>
          <a:p>
            <a:pPr algn="r">
              <a:lnSpc>
                <a:spcPct val="100000"/>
              </a:lnSpc>
              <a:spcBef>
                <a:spcPts val="0"/>
              </a:spcBef>
              <a:spcAft>
                <a:spcPts val="800"/>
              </a:spcAft>
            </a:pPr>
            <a:r>
              <a:rPr sz="1100" b="1" i="0">
                <a:solidFill>
                  <a:srgbClr val="C88A00"/>
                </a:solidFill>
                <a:latin typeface="Arial"/>
              </a:rPr>
              <a:t>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C88A00"/>
                </a:solidFill>
                <a:latin typeface="Arial"/>
              </a:rPr>
              <a:t>C  A  V  E  A  T  S</a:t>
            </a:r>
          </a:p>
        </p:txBody>
      </p:sp>
      <p:sp>
        <p:nvSpPr>
          <p:cNvPr id="4" name="TextBox 3"/>
          <p:cNvSpPr txBox="1"/>
          <p:nvPr/>
        </p:nvSpPr>
        <p:spPr>
          <a:xfrm>
            <a:off x="822960" y="868680"/>
            <a:ext cx="10515600" cy="1280160"/>
          </a:xfrm>
          <a:prstGeom prst="rect">
            <a:avLst/>
          </a:prstGeom>
          <a:noFill/>
        </p:spPr>
        <p:txBody>
          <a:bodyPr wrap="square" anchor="t" lIns="0" rIns="0" tIns="0" bIns="0">
            <a:spAutoFit/>
          </a:bodyPr>
          <a:lstStyle/>
          <a:p>
            <a:pPr algn="l">
              <a:lnSpc>
                <a:spcPct val="100000"/>
              </a:lnSpc>
              <a:spcBef>
                <a:spcPts val="0"/>
              </a:spcBef>
              <a:spcAft>
                <a:spcPts val="800"/>
              </a:spcAft>
            </a:pPr>
            <a:r>
              <a:rPr sz="3400" b="1" i="0">
                <a:solidFill>
                  <a:srgbClr val="003262"/>
                </a:solidFill>
                <a:latin typeface="Arial"/>
              </a:rPr>
              <a:t>Threats to validity</a:t>
            </a:r>
          </a:p>
        </p:txBody>
      </p:sp>
      <p:sp>
        <p:nvSpPr>
          <p:cNvPr id="5" name="Rectangle 4"/>
          <p:cNvSpPr/>
          <p:nvPr/>
        </p:nvSpPr>
        <p:spPr>
          <a:xfrm>
            <a:off x="822960" y="2286000"/>
            <a:ext cx="10515600" cy="10972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2286000"/>
            <a:ext cx="146304" cy="1097280"/>
          </a:xfrm>
          <a:prstGeom prst="rect">
            <a:avLst/>
          </a:prstGeom>
          <a:solidFill>
            <a:srgbClr val="C88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2286000"/>
            <a:ext cx="3291840" cy="1097280"/>
          </a:xfrm>
          <a:prstGeom prst="rect">
            <a:avLst/>
          </a:prstGeom>
          <a:noFill/>
        </p:spPr>
        <p:txBody>
          <a:bodyPr wrap="square" anchor="ctr" lIns="0" rIns="0" tIns="0" bIns="0">
            <a:spAutoFit/>
          </a:bodyPr>
          <a:lstStyle/>
          <a:p>
            <a:pPr algn="l">
              <a:lnSpc>
                <a:spcPct val="100000"/>
              </a:lnSpc>
              <a:spcBef>
                <a:spcPts val="0"/>
              </a:spcBef>
              <a:spcAft>
                <a:spcPts val="800"/>
              </a:spcAft>
            </a:pPr>
            <a:r>
              <a:rPr sz="2200" b="1" i="0">
                <a:solidFill>
                  <a:srgbClr val="003262"/>
                </a:solidFill>
                <a:latin typeface="Arial"/>
              </a:rPr>
              <a:t>Single developer</a:t>
            </a:r>
          </a:p>
        </p:txBody>
      </p:sp>
      <p:sp>
        <p:nvSpPr>
          <p:cNvPr id="8" name="TextBox 7"/>
          <p:cNvSpPr txBox="1"/>
          <p:nvPr/>
        </p:nvSpPr>
        <p:spPr>
          <a:xfrm>
            <a:off x="4572000" y="2286000"/>
            <a:ext cx="6492240" cy="1097280"/>
          </a:xfrm>
          <a:prstGeom prst="rect">
            <a:avLst/>
          </a:prstGeom>
          <a:noFill/>
        </p:spPr>
        <p:txBody>
          <a:bodyPr wrap="square" anchor="ctr" lIns="0" rIns="0" tIns="0" bIns="0">
            <a:spAutoFit/>
          </a:bodyPr>
          <a:lstStyle/>
          <a:p>
            <a:pPr algn="l">
              <a:lnSpc>
                <a:spcPct val="105000"/>
              </a:lnSpc>
              <a:spcBef>
                <a:spcPts val="0"/>
              </a:spcBef>
              <a:spcAft>
                <a:spcPts val="800"/>
              </a:spcAft>
            </a:pPr>
            <a:r>
              <a:rPr sz="1800" b="0" i="0">
                <a:solidFill>
                  <a:srgbClr val="4A5260"/>
                </a:solidFill>
                <a:latin typeface="Arial"/>
              </a:rPr>
              <a:t>All 3,099 tasks came from one person; other developers may differ.</a:t>
            </a:r>
          </a:p>
        </p:txBody>
      </p:sp>
      <p:sp>
        <p:nvSpPr>
          <p:cNvPr id="9" name="Rectangle 8"/>
          <p:cNvSpPr/>
          <p:nvPr/>
        </p:nvSpPr>
        <p:spPr>
          <a:xfrm>
            <a:off x="822960" y="3611880"/>
            <a:ext cx="10515600" cy="10972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3611880"/>
            <a:ext cx="146304" cy="1097280"/>
          </a:xfrm>
          <a:prstGeom prst="rect">
            <a:avLst/>
          </a:prstGeom>
          <a:solidFill>
            <a:srgbClr val="C88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3611880"/>
            <a:ext cx="3291840" cy="1097280"/>
          </a:xfrm>
          <a:prstGeom prst="rect">
            <a:avLst/>
          </a:prstGeom>
          <a:noFill/>
        </p:spPr>
        <p:txBody>
          <a:bodyPr wrap="square" anchor="ctr" lIns="0" rIns="0" tIns="0" bIns="0">
            <a:spAutoFit/>
          </a:bodyPr>
          <a:lstStyle/>
          <a:p>
            <a:pPr algn="l">
              <a:lnSpc>
                <a:spcPct val="100000"/>
              </a:lnSpc>
              <a:spcBef>
                <a:spcPts val="0"/>
              </a:spcBef>
              <a:spcAft>
                <a:spcPts val="800"/>
              </a:spcAft>
            </a:pPr>
            <a:r>
              <a:rPr sz="2200" b="1" i="0">
                <a:solidFill>
                  <a:srgbClr val="003262"/>
                </a:solidFill>
                <a:latin typeface="Arial"/>
              </a:rPr>
              <a:t>Single system</a:t>
            </a:r>
          </a:p>
        </p:txBody>
      </p:sp>
      <p:sp>
        <p:nvSpPr>
          <p:cNvPr id="12" name="TextBox 11"/>
          <p:cNvSpPr txBox="1"/>
          <p:nvPr/>
        </p:nvSpPr>
        <p:spPr>
          <a:xfrm>
            <a:off x="4572000" y="3611880"/>
            <a:ext cx="6492240" cy="1097280"/>
          </a:xfrm>
          <a:prstGeom prst="rect">
            <a:avLst/>
          </a:prstGeom>
          <a:noFill/>
        </p:spPr>
        <p:txBody>
          <a:bodyPr wrap="square" anchor="ctr" lIns="0" rIns="0" tIns="0" bIns="0">
            <a:spAutoFit/>
          </a:bodyPr>
          <a:lstStyle/>
          <a:p>
            <a:pPr algn="l">
              <a:lnSpc>
                <a:spcPct val="105000"/>
              </a:lnSpc>
              <a:spcBef>
                <a:spcPts val="0"/>
              </a:spcBef>
              <a:spcAft>
                <a:spcPts val="800"/>
              </a:spcAft>
            </a:pPr>
            <a:r>
              <a:rPr sz="1800" b="0" i="0">
                <a:solidFill>
                  <a:srgbClr val="4A5260"/>
                </a:solidFill>
                <a:latin typeface="Arial"/>
              </a:rPr>
              <a:t>Patterns are specific to KISS Sorcar's architecture.</a:t>
            </a:r>
          </a:p>
        </p:txBody>
      </p:sp>
      <p:sp>
        <p:nvSpPr>
          <p:cNvPr id="13" name="Rectangle 12"/>
          <p:cNvSpPr/>
          <p:nvPr/>
        </p:nvSpPr>
        <p:spPr>
          <a:xfrm>
            <a:off x="822960" y="4937760"/>
            <a:ext cx="10515600" cy="10972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22960" y="4937760"/>
            <a:ext cx="146304" cy="1097280"/>
          </a:xfrm>
          <a:prstGeom prst="rect">
            <a:avLst/>
          </a:prstGeom>
          <a:solidFill>
            <a:srgbClr val="C88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88720" y="4937760"/>
            <a:ext cx="3291840" cy="1097280"/>
          </a:xfrm>
          <a:prstGeom prst="rect">
            <a:avLst/>
          </a:prstGeom>
          <a:noFill/>
        </p:spPr>
        <p:txBody>
          <a:bodyPr wrap="square" anchor="ctr" lIns="0" rIns="0" tIns="0" bIns="0">
            <a:spAutoFit/>
          </a:bodyPr>
          <a:lstStyle/>
          <a:p>
            <a:pPr algn="l">
              <a:lnSpc>
                <a:spcPct val="100000"/>
              </a:lnSpc>
              <a:spcBef>
                <a:spcPts val="0"/>
              </a:spcBef>
              <a:spcAft>
                <a:spcPts val="800"/>
              </a:spcAft>
            </a:pPr>
            <a:r>
              <a:rPr sz="2200" b="1" i="0">
                <a:solidFill>
                  <a:srgbClr val="003262"/>
                </a:solidFill>
                <a:latin typeface="Arial"/>
              </a:rPr>
              <a:t>Self-hosting bias</a:t>
            </a:r>
          </a:p>
        </p:txBody>
      </p:sp>
      <p:sp>
        <p:nvSpPr>
          <p:cNvPr id="16" name="TextBox 15"/>
          <p:cNvSpPr txBox="1"/>
          <p:nvPr/>
        </p:nvSpPr>
        <p:spPr>
          <a:xfrm>
            <a:off x="4572000" y="4937760"/>
            <a:ext cx="6492240" cy="1097280"/>
          </a:xfrm>
          <a:prstGeom prst="rect">
            <a:avLst/>
          </a:prstGeom>
          <a:noFill/>
        </p:spPr>
        <p:txBody>
          <a:bodyPr wrap="square" anchor="ctr" lIns="0" rIns="0" tIns="0" bIns="0">
            <a:spAutoFit/>
          </a:bodyPr>
          <a:lstStyle/>
          <a:p>
            <a:pPr algn="l">
              <a:lnSpc>
                <a:spcPct val="105000"/>
              </a:lnSpc>
              <a:spcBef>
                <a:spcPts val="0"/>
              </a:spcBef>
              <a:spcAft>
                <a:spcPts val="800"/>
              </a:spcAft>
            </a:pPr>
            <a:r>
              <a:rPr sz="1800" b="0" i="0">
                <a:solidFill>
                  <a:srgbClr val="4A5260"/>
                </a:solidFill>
                <a:latin typeface="Arial"/>
              </a:rPr>
              <a:t>The design is optimized for tasks the agent already does well.</a:t>
            </a:r>
          </a:p>
        </p:txBody>
      </p:sp>
      <p:sp>
        <p:nvSpPr>
          <p:cNvPr id="17" name="Rectangle 16"/>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6547104"/>
            <a:ext cx="8229600" cy="274320"/>
          </a:xfrm>
          <a:prstGeom prst="rect">
            <a:avLst/>
          </a:prstGeom>
          <a:noFill/>
        </p:spPr>
        <p:txBody>
          <a:bodyPr wrap="square" anchor="t" lIns="0" rIns="0" tIns="0" bIns="0">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19" name="TextBox 18"/>
          <p:cNvSpPr txBox="1"/>
          <p:nvPr/>
        </p:nvSpPr>
        <p:spPr>
          <a:xfrm>
            <a:off x="10058400" y="6547104"/>
            <a:ext cx="1307592" cy="274320"/>
          </a:xfrm>
          <a:prstGeom prst="rect">
            <a:avLst/>
          </a:prstGeom>
          <a:noFill/>
        </p:spPr>
        <p:txBody>
          <a:bodyPr wrap="square" anchor="t" lIns="0" rIns="0" tIns="0" bIns="0">
            <a:spAutoFit/>
          </a:bodyPr>
          <a:lstStyle/>
          <a:p>
            <a:pPr algn="r">
              <a:lnSpc>
                <a:spcPct val="100000"/>
              </a:lnSpc>
              <a:spcBef>
                <a:spcPts val="0"/>
              </a:spcBef>
              <a:spcAft>
                <a:spcPts val="800"/>
              </a:spcAft>
            </a:pPr>
            <a:r>
              <a:rPr sz="1100" b="1" i="0">
                <a:solidFill>
                  <a:srgbClr val="C88A00"/>
                </a:solidFill>
                <a:latin typeface="Arial"/>
              </a:rPr>
              <a:t>24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C88A00"/>
                </a:solidFill>
                <a:latin typeface="Arial"/>
              </a:rPr>
              <a:t>T  A  K  E  A  W  A  Y  S</a:t>
            </a:r>
          </a:p>
        </p:txBody>
      </p:sp>
      <p:sp>
        <p:nvSpPr>
          <p:cNvPr id="4" name="TextBox 3"/>
          <p:cNvSpPr txBox="1"/>
          <p:nvPr/>
        </p:nvSpPr>
        <p:spPr>
          <a:xfrm>
            <a:off x="822960" y="868680"/>
            <a:ext cx="10515600" cy="1280160"/>
          </a:xfrm>
          <a:prstGeom prst="rect">
            <a:avLst/>
          </a:prstGeom>
          <a:noFill/>
        </p:spPr>
        <p:txBody>
          <a:bodyPr wrap="square" anchor="t" lIns="0" rIns="0" tIns="0" bIns="0">
            <a:spAutoFit/>
          </a:bodyPr>
          <a:lstStyle/>
          <a:p>
            <a:pPr algn="l">
              <a:lnSpc>
                <a:spcPct val="100000"/>
              </a:lnSpc>
              <a:spcBef>
                <a:spcPts val="0"/>
              </a:spcBef>
              <a:spcAft>
                <a:spcPts val="800"/>
              </a:spcAft>
            </a:pPr>
            <a:r>
              <a:rPr sz="3400" b="1" i="0">
                <a:solidFill>
                  <a:srgbClr val="003262"/>
                </a:solidFill>
                <a:latin typeface="Arial"/>
              </a:rPr>
              <a:t>Conclusion</a:t>
            </a:r>
          </a:p>
        </p:txBody>
      </p:sp>
      <p:sp>
        <p:nvSpPr>
          <p:cNvPr id="5" name="TextBox 4"/>
          <p:cNvSpPr txBox="1"/>
          <p:nvPr/>
        </p:nvSpPr>
        <p:spPr>
          <a:xfrm>
            <a:off x="822960" y="2011680"/>
            <a:ext cx="10607040" cy="2011680"/>
          </a:xfrm>
          <a:prstGeom prst="rect">
            <a:avLst/>
          </a:prstGeom>
          <a:noFill/>
        </p:spPr>
        <p:txBody>
          <a:bodyPr wrap="square" anchor="t" lIns="0" rIns="0" tIns="0" bIns="0">
            <a:spAutoFit/>
          </a:bodyPr>
          <a:lstStyle/>
          <a:p>
            <a:pPr algn="l">
              <a:lnSpc>
                <a:spcPct val="106000"/>
              </a:lnSpc>
              <a:spcAft>
                <a:spcPts val="1800"/>
              </a:spcAft>
            </a:pPr>
            <a:r>
              <a:rPr sz="2300" b="1">
                <a:solidFill>
                  <a:srgbClr val="FDB515"/>
                </a:solidFill>
                <a:latin typeface="Arial"/>
              </a:rPr>
              <a:t>—  </a:t>
            </a:r>
            <a:r>
              <a:rPr sz="2300">
                <a:solidFill>
                  <a:srgbClr val="1A1F2B"/>
                </a:solidFill>
                <a:latin typeface="Arial"/>
              </a:rPr>
              <a:t>Seven patterns emerged from 44 days of building KISS Sorcar with itself.</a:t>
            </a:r>
          </a:p>
          <a:p>
            <a:pPr algn="l">
              <a:lnSpc>
                <a:spcPct val="106000"/>
              </a:lnSpc>
              <a:spcAft>
                <a:spcPts val="1800"/>
              </a:spcAft>
            </a:pPr>
            <a:r>
              <a:rPr sz="2300" b="1">
                <a:solidFill>
                  <a:srgbClr val="FDB515"/>
                </a:solidFill>
                <a:latin typeface="Arial"/>
              </a:rPr>
              <a:t>—  </a:t>
            </a:r>
            <a:r>
              <a:rPr sz="2300">
                <a:solidFill>
                  <a:srgbClr val="1A1F2B"/>
                </a:solidFill>
                <a:latin typeface="Arial"/>
              </a:rPr>
              <a:t>Each maps to a decades-old software engineering principle.</a:t>
            </a:r>
          </a:p>
          <a:p>
            <a:pPr algn="l">
              <a:lnSpc>
                <a:spcPct val="106000"/>
              </a:lnSpc>
              <a:spcAft>
                <a:spcPts val="1800"/>
              </a:spcAft>
            </a:pPr>
            <a:r>
              <a:rPr sz="2300" b="1">
                <a:solidFill>
                  <a:srgbClr val="FDB515"/>
                </a:solidFill>
                <a:latin typeface="Arial"/>
              </a:rPr>
              <a:t>—  </a:t>
            </a:r>
            <a:r>
              <a:rPr sz="2300">
                <a:solidFill>
                  <a:srgbClr val="1A1F2B"/>
                </a:solidFill>
                <a:latin typeface="Arial"/>
              </a:rPr>
              <a:t>One 2,400-line framework and a single structured prompt wrote code in five languages, controlled lights, planned trips, and refused an unethical request.</a:t>
            </a:r>
          </a:p>
        </p:txBody>
      </p:sp>
      <p:sp>
        <p:nvSpPr>
          <p:cNvPr id="6" name="Rectangle 5"/>
          <p:cNvSpPr/>
          <p:nvPr/>
        </p:nvSpPr>
        <p:spPr>
          <a:xfrm>
            <a:off x="822960" y="4572000"/>
            <a:ext cx="10515600" cy="141732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4572000"/>
            <a:ext cx="1051560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4572000"/>
            <a:ext cx="9784080" cy="1417320"/>
          </a:xfrm>
          <a:prstGeom prst="rect">
            <a:avLst/>
          </a:prstGeom>
          <a:noFill/>
        </p:spPr>
        <p:txBody>
          <a:bodyPr wrap="square" anchor="ctr" lIns="0" rIns="0" tIns="0" bIns="0">
            <a:spAutoFit/>
          </a:bodyPr>
          <a:lstStyle/>
          <a:p>
            <a:pPr algn="l">
              <a:lnSpc>
                <a:spcPct val="112000"/>
              </a:lnSpc>
              <a:spcBef>
                <a:spcPts val="0"/>
              </a:spcBef>
              <a:spcAft>
                <a:spcPts val="800"/>
              </a:spcAft>
            </a:pPr>
            <a:r>
              <a:rPr sz="2100" b="0" i="1">
                <a:solidFill>
                  <a:srgbClr val="FFFFFF"/>
                </a:solidFill>
                <a:latin typeface="Arial"/>
              </a:rPr>
              <a:t>The surprise is not the principles — they are decades old. The surprise is that encoding them in a prompt and a simple layered architecture produces an assistant that works well enough to build itself.</a:t>
            </a:r>
          </a:p>
        </p:txBody>
      </p:sp>
      <p:sp>
        <p:nvSpPr>
          <p:cNvPr id="9" name="Rectangle 8"/>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6547104"/>
            <a:ext cx="8229600" cy="274320"/>
          </a:xfrm>
          <a:prstGeom prst="rect">
            <a:avLst/>
          </a:prstGeom>
          <a:noFill/>
        </p:spPr>
        <p:txBody>
          <a:bodyPr wrap="square" anchor="t" lIns="0" rIns="0" tIns="0" bIns="0">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11" name="TextBox 10"/>
          <p:cNvSpPr txBox="1"/>
          <p:nvPr/>
        </p:nvSpPr>
        <p:spPr>
          <a:xfrm>
            <a:off x="10058400" y="6547104"/>
            <a:ext cx="1307592" cy="274320"/>
          </a:xfrm>
          <a:prstGeom prst="rect">
            <a:avLst/>
          </a:prstGeom>
          <a:noFill/>
        </p:spPr>
        <p:txBody>
          <a:bodyPr wrap="square" anchor="t" lIns="0" rIns="0" tIns="0" bIns="0">
            <a:spAutoFit/>
          </a:bodyPr>
          <a:lstStyle/>
          <a:p>
            <a:pPr algn="r">
              <a:lnSpc>
                <a:spcPct val="100000"/>
              </a:lnSpc>
              <a:spcBef>
                <a:spcPts val="0"/>
              </a:spcBef>
              <a:spcAft>
                <a:spcPts val="800"/>
              </a:spcAft>
            </a:pPr>
            <a:r>
              <a:rPr sz="1100" b="1" i="0">
                <a:solidFill>
                  <a:srgbClr val="C88A00"/>
                </a:solidFill>
                <a:latin typeface="Arial"/>
              </a:rPr>
              <a:t>25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03262"/>
        </a:solidFill>
        <a:effectLst/>
      </p:bgPr>
    </p:bg>
    <p:spTree>
      <p:nvGrpSpPr>
        <p:cNvPr id="1" name=""/>
        <p:cNvGrpSpPr/>
        <p:nvPr/>
      </p:nvGrpSpPr>
      <p:grpSpPr/>
      <p:sp>
        <p:nvSpPr>
          <p:cNvPr id="2" name="Rectangle 1"/>
          <p:cNvSpPr/>
          <p:nvPr/>
        </p:nvSpPr>
        <p:spPr>
          <a:xfrm>
            <a:off x="0" y="6601968"/>
            <a:ext cx="12191695" cy="256032"/>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743200"/>
            <a:ext cx="2011680" cy="508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651760"/>
            <a:ext cx="10515600" cy="1828800"/>
          </a:xfrm>
          <a:prstGeom prst="rect">
            <a:avLst/>
          </a:prstGeom>
          <a:noFill/>
        </p:spPr>
        <p:txBody>
          <a:bodyPr wrap="square" anchor="t" lIns="0" rIns="0" tIns="0" bIns="0">
            <a:spAutoFit/>
          </a:bodyPr>
          <a:lstStyle/>
          <a:p>
            <a:pPr algn="l">
              <a:lnSpc>
                <a:spcPct val="100000"/>
              </a:lnSpc>
              <a:spcBef>
                <a:spcPts val="0"/>
              </a:spcBef>
              <a:spcAft>
                <a:spcPts val="800"/>
              </a:spcAft>
            </a:pPr>
            <a:r>
              <a:rPr sz="5400" b="1" i="0">
                <a:solidFill>
                  <a:srgbClr val="FFFFFF"/>
                </a:solidFill>
                <a:latin typeface="Arial"/>
              </a:rPr>
              <a:t>Thank you</a:t>
            </a:r>
          </a:p>
          <a:p>
            <a:pPr algn="l">
              <a:lnSpc>
                <a:spcPct val="100000"/>
              </a:lnSpc>
              <a:spcBef>
                <a:spcPts val="1000"/>
              </a:spcBef>
              <a:spcAft>
                <a:spcPts val="800"/>
              </a:spcAft>
            </a:pPr>
            <a:r>
              <a:rPr sz="2200" b="0" i="1">
                <a:solidFill>
                  <a:srgbClr val="FDB515"/>
                </a:solidFill>
                <a:latin typeface="Arial"/>
              </a:rPr>
              <a:t>Keep it simple — and let the system build itself.</a:t>
            </a:r>
          </a:p>
        </p:txBody>
      </p:sp>
      <p:sp>
        <p:nvSpPr>
          <p:cNvPr id="5" name="TextBox 4"/>
          <p:cNvSpPr txBox="1"/>
          <p:nvPr/>
        </p:nvSpPr>
        <p:spPr>
          <a:xfrm>
            <a:off x="822960" y="4937760"/>
            <a:ext cx="10515600" cy="914400"/>
          </a:xfrm>
          <a:prstGeom prst="rect">
            <a:avLst/>
          </a:prstGeom>
          <a:noFill/>
        </p:spPr>
        <p:txBody>
          <a:bodyPr wrap="square" anchor="t" lIns="0" rIns="0" tIns="0" bIns="0">
            <a:spAutoFit/>
          </a:bodyPr>
          <a:lstStyle/>
          <a:p>
            <a:pPr algn="l">
              <a:lnSpc>
                <a:spcPct val="100000"/>
              </a:lnSpc>
              <a:spcBef>
                <a:spcPts val="0"/>
              </a:spcBef>
              <a:spcAft>
                <a:spcPts val="800"/>
              </a:spcAft>
            </a:pPr>
            <a:r>
              <a:rPr sz="2000" b="0" i="0">
                <a:solidFill>
                  <a:srgbClr val="E9E5D8"/>
                </a:solidFill>
                <a:latin typeface="Arial"/>
              </a:rPr>
              <a:t>Koushik Sen  ·  ksen@berkeley.edu</a:t>
            </a:r>
          </a:p>
          <a:p>
            <a:pPr algn="l">
              <a:lnSpc>
                <a:spcPct val="100000"/>
              </a:lnSpc>
              <a:spcBef>
                <a:spcPts val="0"/>
              </a:spcBef>
              <a:spcAft>
                <a:spcPts val="800"/>
              </a:spcAft>
            </a:pPr>
            <a:r>
              <a:rPr sz="1800" b="0" i="0">
                <a:solidFill>
                  <a:srgbClr val="9FC4D8"/>
                </a:solidFill>
                <a:latin typeface="Arial"/>
              </a:rPr>
              <a:t>github.com/ksenxx/kiss_ai</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itleAccent"/>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Eyebrow"/>
          <p:cNvSpPr txBox="1"/>
          <p:nvPr/>
        </p:nvSpPr>
        <p:spPr>
          <a:xfrm>
            <a:off x="822960" y="502920"/>
            <a:ext cx="10515600" cy="365760"/>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C88A00"/>
                </a:solidFill>
                <a:latin typeface="Arial"/>
              </a:rPr>
              <a:t>C  A  S  E     S  T  U  D  Y</a:t>
            </a:r>
          </a:p>
        </p:txBody>
      </p:sp>
      <p:sp>
        <p:nvSpPr>
          <p:cNvPr id="4" name="Title"/>
          <p:cNvSpPr txBox="1"/>
          <p:nvPr/>
        </p:nvSpPr>
        <p:spPr>
          <a:xfrm>
            <a:off x="822960" y="868680"/>
            <a:ext cx="10515600" cy="1280160"/>
          </a:xfrm>
          <a:prstGeom prst="rect">
            <a:avLst/>
          </a:prstGeom>
          <a:noFill/>
        </p:spPr>
        <p:txBody>
          <a:bodyPr wrap="square" anchor="t" lIns="0" rIns="0" tIns="0" bIns="0">
            <a:spAutoFit/>
          </a:bodyPr>
          <a:lstStyle/>
          <a:p>
            <a:pPr algn="l">
              <a:lnSpc>
                <a:spcPct val="100000"/>
              </a:lnSpc>
              <a:spcBef>
                <a:spcPts val="0"/>
              </a:spcBef>
              <a:spcAft>
                <a:spcPts val="800"/>
              </a:spcAft>
            </a:pPr>
            <a:r>
              <a:rPr sz="3400" b="1" i="0">
                <a:solidFill>
                  <a:srgbClr val="003262"/>
                </a:solidFill>
                <a:latin typeface="Arial"/>
              </a:rPr>
              <a:t>The explain-then-revise loop</a:t>
            </a:r>
          </a:p>
        </p:txBody>
      </p:sp>
      <p:sp>
        <p:nvSpPr>
          <p:cNvPr id="5" name="Subtitle"/>
          <p:cNvSpPr txBox="1"/>
          <p:nvPr/>
        </p:nvSpPr>
        <p:spPr>
          <a:xfrm>
            <a:off x="822960" y="1783080"/>
            <a:ext cx="10607040" cy="822960"/>
          </a:xfrm>
          <a:prstGeom prst="rect">
            <a:avLst/>
          </a:prstGeom>
          <a:noFill/>
        </p:spPr>
        <p:txBody>
          <a:bodyPr wrap="square" anchor="t" lIns="0" rIns="0" tIns="0" bIns="0">
            <a:spAutoFit/>
          </a:bodyPr>
          <a:lstStyle/>
          <a:p>
            <a:pPr algn="l">
              <a:lnSpc>
                <a:spcPct val="110000"/>
              </a:lnSpc>
              <a:spcBef>
                <a:spcPts val="0"/>
              </a:spcBef>
              <a:spcAft>
                <a:spcPts val="800"/>
              </a:spcAft>
            </a:pPr>
            <a:r>
              <a:rPr sz="2100" b="0" i="0">
                <a:solidFill>
                  <a:srgbClr val="4A5260"/>
                </a:solidFill>
                <a:latin typeface="Arial"/>
              </a:rPr>
              <a:t>Redesigning the git-worktree merge workflow — six consecutive tasks (2 of 3), no file ever opened by hand.</a:t>
            </a:r>
          </a:p>
        </p:txBody>
      </p:sp>
      <p:sp>
        <p:nvSpPr>
          <p:cNvPr id="100" name="CardBg3"/>
          <p:cNvSpPr/>
          <p:nvPr/>
        </p:nvSpPr>
        <p:spPr>
          <a:xfrm>
            <a:off x="815847" y="2600000"/>
            <a:ext cx="5180000" cy="3800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CardAccent3"/>
          <p:cNvSpPr/>
          <p:nvPr/>
        </p:nvSpPr>
        <p:spPr>
          <a:xfrm>
            <a:off x="815847" y="2600000"/>
            <a:ext cx="518000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CardHeader3"/>
          <p:cNvSpPr txBox="1"/>
          <p:nvPr/>
        </p:nvSpPr>
        <p:spPr>
          <a:xfrm>
            <a:off x="1044447" y="2801168"/>
            <a:ext cx="4722800" cy="457200"/>
          </a:xfrm>
          <a:prstGeom prst="rect">
            <a:avLst/>
          </a:prstGeom>
          <a:noFill/>
        </p:spPr>
        <p:txBody>
          <a:bodyPr wrap="square" anchor="t" lIns="0" rIns="0" tIns="0" bIns="0">
            <a:spAutoFit/>
          </a:bodyPr>
          <a:lstStyle/>
          <a:p>
            <a:r>
              <a:rPr sz="2400" b="1">
                <a:solidFill>
                  <a:srgbClr val="FDB515"/>
                </a:solidFill>
                <a:latin typeface="Arial"/>
              </a:rPr>
              <a:t>3  </a:t>
            </a:r>
            <a:r>
              <a:rPr sz="2000" b="1">
                <a:solidFill>
                  <a:srgbClr val="003262"/>
                </a:solidFill>
                <a:latin typeface="Arial"/>
              </a:rPr>
              <a:t>Diagnose</a:t>
            </a:r>
          </a:p>
        </p:txBody>
      </p:sp>
      <p:sp>
        <p:nvSpPr>
          <p:cNvPr id="103" name="CardPrompt3"/>
          <p:cNvSpPr txBox="1"/>
          <p:nvPr/>
        </p:nvSpPr>
        <p:spPr>
          <a:xfrm>
            <a:off x="1044447" y="3331520"/>
            <a:ext cx="4722800" cy="2850000"/>
          </a:xfrm>
          <a:prstGeom prst="rect">
            <a:avLst/>
          </a:prstGeom>
          <a:noFill/>
        </p:spPr>
        <p:txBody>
          <a:bodyPr wrap="square" anchor="t" lIns="0" rIns="0" tIns="0" bIns="0"/>
          <a:lstStyle/>
          <a:p>
            <a:pPr algn="l">
              <a:lnSpc>
                <a:spcPct val="110000"/>
              </a:lnSpc>
              <a:spcBef>
                <a:spcPts val="0"/>
              </a:spcBef>
              <a:spcAft>
                <a:spcPts val="800"/>
              </a:spcAft>
            </a:pPr>
            <a:r>
              <a:rPr b="0" sz="1400">
                <a:solidFill>
                  <a:srgbClr val="1A2330"/>
                </a:solidFill>
                <a:latin typeface="Courier New"/>
              </a:rPr>
              <a:t>After the user presses "Commit and Merge", why do the modified files show up as committed in the original branch?</a:t>
            </a:r>
          </a:p>
        </p:txBody>
      </p:sp>
      <p:sp>
        <p:nvSpPr>
          <p:cNvPr id="110" name="CardBg4"/>
          <p:cNvSpPr/>
          <p:nvPr/>
        </p:nvSpPr>
        <p:spPr>
          <a:xfrm>
            <a:off x="6195847" y="2600000"/>
            <a:ext cx="5180000" cy="3800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CardAccent4"/>
          <p:cNvSpPr/>
          <p:nvPr/>
        </p:nvSpPr>
        <p:spPr>
          <a:xfrm>
            <a:off x="6195847" y="2600000"/>
            <a:ext cx="518000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CardHeader4"/>
          <p:cNvSpPr txBox="1"/>
          <p:nvPr/>
        </p:nvSpPr>
        <p:spPr>
          <a:xfrm>
            <a:off x="6424447" y="2801168"/>
            <a:ext cx="4722800" cy="457200"/>
          </a:xfrm>
          <a:prstGeom prst="rect">
            <a:avLst/>
          </a:prstGeom>
          <a:noFill/>
        </p:spPr>
        <p:txBody>
          <a:bodyPr wrap="square" anchor="t" lIns="0" rIns="0" tIns="0" bIns="0">
            <a:spAutoFit/>
          </a:bodyPr>
          <a:lstStyle/>
          <a:p>
            <a:r>
              <a:rPr sz="2400" b="1">
                <a:solidFill>
                  <a:srgbClr val="FDB515"/>
                </a:solidFill>
                <a:latin typeface="Arial"/>
              </a:rPr>
              <a:t>4  </a:t>
            </a:r>
            <a:r>
              <a:rPr sz="2000" b="1">
                <a:solidFill>
                  <a:srgbClr val="003262"/>
                </a:solidFill>
                <a:latin typeface="Arial"/>
              </a:rPr>
              <a:t>Fix</a:t>
            </a:r>
          </a:p>
        </p:txBody>
      </p:sp>
      <p:sp>
        <p:nvSpPr>
          <p:cNvPr id="113" name="CardPrompt4"/>
          <p:cNvSpPr txBox="1"/>
          <p:nvPr/>
        </p:nvSpPr>
        <p:spPr>
          <a:xfrm>
            <a:off x="6424447" y="3331520"/>
            <a:ext cx="4722800" cy="2850000"/>
          </a:xfrm>
          <a:prstGeom prst="rect">
            <a:avLst/>
          </a:prstGeom>
          <a:noFill/>
        </p:spPr>
        <p:txBody>
          <a:bodyPr wrap="square" anchor="t" lIns="0" rIns="0" tIns="0" bIns="0"/>
          <a:lstStyle/>
          <a:p>
            <a:pPr algn="l">
              <a:lnSpc>
                <a:spcPct val="110000"/>
              </a:lnSpc>
              <a:spcBef>
                <a:spcPts val="0"/>
              </a:spcBef>
              <a:spcAft>
                <a:spcPts val="800"/>
              </a:spcAft>
            </a:pPr>
            <a:r>
              <a:rPr b="0" sz="1400">
                <a:solidFill>
                  <a:srgbClr val="1A2330"/>
                </a:solidFill>
                <a:latin typeface="Courier New"/>
              </a:rPr>
              <a:t>The review is already happening in the worktree branch. You don't need the user to review the modified and new files in the original branch. Fix it.</a:t>
            </a:r>
          </a:p>
        </p:txBody>
      </p:sp>
      <p:sp>
        <p:nvSpPr>
          <p:cNvPr id="200" name="FooterRule"/>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FooterText"/>
          <p:cNvSpPr txBox="1"/>
          <p:nvPr/>
        </p:nvSpPr>
        <p:spPr>
          <a:xfrm>
            <a:off x="822960" y="6547104"/>
            <a:ext cx="8229600" cy="274320"/>
          </a:xfrm>
          <a:prstGeom prst="rect">
            <a:avLst/>
          </a:prstGeom>
          <a:noFill/>
        </p:spPr>
        <p:txBody>
          <a:bodyPr wrap="square" anchor="t" lIns="0" rIns="0" tIns="0" bIns="0">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202" name="PageNumber"/>
          <p:cNvSpPr txBox="1"/>
          <p:nvPr/>
        </p:nvSpPr>
        <p:spPr>
          <a:xfrm>
            <a:off x="10058400" y="6547104"/>
            <a:ext cx="1307592" cy="274320"/>
          </a:xfrm>
          <a:prstGeom prst="rect">
            <a:avLst/>
          </a:prstGeom>
          <a:noFill/>
        </p:spPr>
        <p:txBody>
          <a:bodyPr wrap="square" anchor="t" lIns="0" rIns="0" tIns="0" bIns="0">
            <a:spAutoFit/>
          </a:bodyPr>
          <a:lstStyle/>
          <a:p>
            <a:pPr algn="r">
              <a:lnSpc>
                <a:spcPct val="100000"/>
              </a:lnSpc>
              <a:spcBef>
                <a:spcPts val="0"/>
              </a:spcBef>
              <a:spcAft>
                <a:spcPts val="800"/>
              </a:spcAft>
            </a:pPr>
            <a:r>
              <a:rPr sz="1100" b="1" i="0">
                <a:solidFill>
                  <a:srgbClr val="C88A00"/>
                </a:solidFill>
                <a:latin typeface="Arial"/>
              </a:rPr>
              <a:t>18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itleAccent"/>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Eyebrow"/>
          <p:cNvSpPr txBox="1"/>
          <p:nvPr/>
        </p:nvSpPr>
        <p:spPr>
          <a:xfrm>
            <a:off x="822960" y="502920"/>
            <a:ext cx="10515600" cy="365760"/>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C88A00"/>
                </a:solidFill>
                <a:latin typeface="Arial"/>
              </a:rPr>
              <a:t>C  A  S  E     S  T  U  D  Y</a:t>
            </a:r>
          </a:p>
        </p:txBody>
      </p:sp>
      <p:sp>
        <p:nvSpPr>
          <p:cNvPr id="4" name="Title"/>
          <p:cNvSpPr txBox="1"/>
          <p:nvPr/>
        </p:nvSpPr>
        <p:spPr>
          <a:xfrm>
            <a:off x="822960" y="868680"/>
            <a:ext cx="10515600" cy="1280160"/>
          </a:xfrm>
          <a:prstGeom prst="rect">
            <a:avLst/>
          </a:prstGeom>
          <a:noFill/>
        </p:spPr>
        <p:txBody>
          <a:bodyPr wrap="square" anchor="t" lIns="0" rIns="0" tIns="0" bIns="0">
            <a:spAutoFit/>
          </a:bodyPr>
          <a:lstStyle/>
          <a:p>
            <a:pPr algn="l">
              <a:lnSpc>
                <a:spcPct val="100000"/>
              </a:lnSpc>
              <a:spcBef>
                <a:spcPts val="0"/>
              </a:spcBef>
              <a:spcAft>
                <a:spcPts val="800"/>
              </a:spcAft>
            </a:pPr>
            <a:r>
              <a:rPr sz="3400" b="1" i="0">
                <a:solidFill>
                  <a:srgbClr val="003262"/>
                </a:solidFill>
                <a:latin typeface="Arial"/>
              </a:rPr>
              <a:t>The explain-then-revise loop</a:t>
            </a:r>
          </a:p>
        </p:txBody>
      </p:sp>
      <p:sp>
        <p:nvSpPr>
          <p:cNvPr id="5" name="Subtitle"/>
          <p:cNvSpPr txBox="1"/>
          <p:nvPr/>
        </p:nvSpPr>
        <p:spPr>
          <a:xfrm>
            <a:off x="822960" y="1783080"/>
            <a:ext cx="10607040" cy="822960"/>
          </a:xfrm>
          <a:prstGeom prst="rect">
            <a:avLst/>
          </a:prstGeom>
          <a:noFill/>
        </p:spPr>
        <p:txBody>
          <a:bodyPr wrap="square" anchor="t" lIns="0" rIns="0" tIns="0" bIns="0">
            <a:spAutoFit/>
          </a:bodyPr>
          <a:lstStyle/>
          <a:p>
            <a:pPr algn="l">
              <a:lnSpc>
                <a:spcPct val="110000"/>
              </a:lnSpc>
              <a:spcBef>
                <a:spcPts val="0"/>
              </a:spcBef>
              <a:spcAft>
                <a:spcPts val="800"/>
              </a:spcAft>
            </a:pPr>
            <a:r>
              <a:rPr sz="2100" b="0" i="0">
                <a:solidFill>
                  <a:srgbClr val="4A5260"/>
                </a:solidFill>
                <a:latin typeface="Arial"/>
              </a:rPr>
              <a:t>Redesigning the git-worktree merge workflow — six consecutive tasks (3 of 3), no file ever opened by hand.</a:t>
            </a:r>
          </a:p>
        </p:txBody>
      </p:sp>
      <p:sp>
        <p:nvSpPr>
          <p:cNvPr id="100" name="CardBg5"/>
          <p:cNvSpPr/>
          <p:nvPr/>
        </p:nvSpPr>
        <p:spPr>
          <a:xfrm>
            <a:off x="815847" y="2600000"/>
            <a:ext cx="5180000" cy="3800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CardAccent5"/>
          <p:cNvSpPr/>
          <p:nvPr/>
        </p:nvSpPr>
        <p:spPr>
          <a:xfrm>
            <a:off x="815847" y="2600000"/>
            <a:ext cx="5180000" cy="9144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CardHeader5"/>
          <p:cNvSpPr txBox="1"/>
          <p:nvPr/>
        </p:nvSpPr>
        <p:spPr>
          <a:xfrm>
            <a:off x="1044447" y="2801168"/>
            <a:ext cx="4722800" cy="457200"/>
          </a:xfrm>
          <a:prstGeom prst="rect">
            <a:avLst/>
          </a:prstGeom>
          <a:noFill/>
        </p:spPr>
        <p:txBody>
          <a:bodyPr wrap="square" anchor="t" lIns="0" rIns="0" tIns="0" bIns="0">
            <a:spAutoFit/>
          </a:bodyPr>
          <a:lstStyle/>
          <a:p>
            <a:r>
              <a:rPr sz="2400" b="1">
                <a:solidFill>
                  <a:srgbClr val="FDB515"/>
                </a:solidFill>
                <a:latin typeface="Arial"/>
              </a:rPr>
              <a:t>5  </a:t>
            </a:r>
            <a:r>
              <a:rPr sz="2000" b="1">
                <a:solidFill>
                  <a:srgbClr val="003262"/>
                </a:solidFill>
                <a:latin typeface="Arial"/>
              </a:rPr>
              <a:t>Audit</a:t>
            </a:r>
          </a:p>
        </p:txBody>
      </p:sp>
      <p:sp>
        <p:nvSpPr>
          <p:cNvPr id="103" name="CardPrompt5"/>
          <p:cNvSpPr txBox="1"/>
          <p:nvPr/>
        </p:nvSpPr>
        <p:spPr>
          <a:xfrm>
            <a:off x="1044447" y="3331520"/>
            <a:ext cx="4722800" cy="2850000"/>
          </a:xfrm>
          <a:prstGeom prst="rect">
            <a:avLst/>
          </a:prstGeom>
          <a:noFill/>
        </p:spPr>
        <p:txBody>
          <a:bodyPr wrap="square" anchor="t" lIns="0" rIns="0" tIns="0" bIns="0"/>
          <a:lstStyle/>
          <a:p>
            <a:pPr algn="l">
              <a:lnSpc>
                <a:spcPct val="110000"/>
              </a:lnSpc>
              <a:spcBef>
                <a:spcPts val="0"/>
              </a:spcBef>
              <a:spcAft>
                <a:spcPts val="800"/>
              </a:spcAft>
            </a:pPr>
            <a:r>
              <a:rPr b="0" sz="1400">
                <a:solidFill>
                  <a:srgbClr val="1A2330"/>
                </a:solidFill>
                <a:latin typeface="Courier New"/>
              </a:rPr>
              <a:t>What happens to my uncommitted changes if I start a task while the working tree is dirty and then click "Commit and Merge"?</a:t>
            </a:r>
          </a:p>
        </p:txBody>
      </p:sp>
      <p:sp>
        <p:nvSpPr>
          <p:cNvPr id="110" name="CardBg6"/>
          <p:cNvSpPr/>
          <p:nvPr/>
        </p:nvSpPr>
        <p:spPr>
          <a:xfrm>
            <a:off x="6195847" y="2600000"/>
            <a:ext cx="5180000" cy="3800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CardAccent6"/>
          <p:cNvSpPr/>
          <p:nvPr/>
        </p:nvSpPr>
        <p:spPr>
          <a:xfrm>
            <a:off x="6195847" y="2600000"/>
            <a:ext cx="5180000" cy="9144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CardHeader6"/>
          <p:cNvSpPr txBox="1"/>
          <p:nvPr/>
        </p:nvSpPr>
        <p:spPr>
          <a:xfrm>
            <a:off x="6424447" y="2801168"/>
            <a:ext cx="4722800" cy="457200"/>
          </a:xfrm>
          <a:prstGeom prst="rect">
            <a:avLst/>
          </a:prstGeom>
          <a:noFill/>
        </p:spPr>
        <p:txBody>
          <a:bodyPr wrap="square" anchor="t" lIns="0" rIns="0" tIns="0" bIns="0">
            <a:spAutoFit/>
          </a:bodyPr>
          <a:lstStyle/>
          <a:p>
            <a:r>
              <a:rPr sz="2400" b="1">
                <a:solidFill>
                  <a:srgbClr val="FDB515"/>
                </a:solidFill>
                <a:latin typeface="Arial"/>
              </a:rPr>
              <a:t>6  </a:t>
            </a:r>
            <a:r>
              <a:rPr sz="2000" b="1">
                <a:solidFill>
                  <a:srgbClr val="003262"/>
                </a:solidFill>
                <a:latin typeface="Arial"/>
              </a:rPr>
              <a:t>Audit</a:t>
            </a:r>
          </a:p>
        </p:txBody>
      </p:sp>
      <p:sp>
        <p:nvSpPr>
          <p:cNvPr id="113" name="CardPrompt6"/>
          <p:cNvSpPr txBox="1"/>
          <p:nvPr/>
        </p:nvSpPr>
        <p:spPr>
          <a:xfrm>
            <a:off x="6424447" y="3331520"/>
            <a:ext cx="4722800" cy="2850000"/>
          </a:xfrm>
          <a:prstGeom prst="rect">
            <a:avLst/>
          </a:prstGeom>
          <a:noFill/>
        </p:spPr>
        <p:txBody>
          <a:bodyPr wrap="square" anchor="t" lIns="0" rIns="0" tIns="0" bIns="0"/>
          <a:lstStyle/>
          <a:p>
            <a:pPr algn="l">
              <a:lnSpc>
                <a:spcPct val="110000"/>
              </a:lnSpc>
              <a:spcBef>
                <a:spcPts val="0"/>
              </a:spcBef>
              <a:spcAft>
                <a:spcPts val="800"/>
              </a:spcAft>
            </a:pPr>
            <a:r>
              <a:rPr b="0" sz="1400">
                <a:solidFill>
                  <a:srgbClr val="1A2330"/>
                </a:solidFill>
                <a:latin typeface="Courier New"/>
              </a:rPr>
              <a:t>What happens if two tabs both press "Commit and Merge" on the same repo at the same time? Can the checkout/merge steps interleave?</a:t>
            </a:r>
          </a:p>
        </p:txBody>
      </p:sp>
      <p:sp>
        <p:nvSpPr>
          <p:cNvPr id="200" name="FooterRule"/>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FooterText"/>
          <p:cNvSpPr txBox="1"/>
          <p:nvPr/>
        </p:nvSpPr>
        <p:spPr>
          <a:xfrm>
            <a:off x="822960" y="6547104"/>
            <a:ext cx="8229600" cy="274320"/>
          </a:xfrm>
          <a:prstGeom prst="rect">
            <a:avLst/>
          </a:prstGeom>
          <a:noFill/>
        </p:spPr>
        <p:txBody>
          <a:bodyPr wrap="square" anchor="t" lIns="0" rIns="0" tIns="0" bIns="0">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202" name="PageNumber"/>
          <p:cNvSpPr txBox="1"/>
          <p:nvPr/>
        </p:nvSpPr>
        <p:spPr>
          <a:xfrm>
            <a:off x="10058400" y="6547104"/>
            <a:ext cx="1307592" cy="274320"/>
          </a:xfrm>
          <a:prstGeom prst="rect">
            <a:avLst/>
          </a:prstGeom>
          <a:noFill/>
        </p:spPr>
        <p:txBody>
          <a:bodyPr wrap="square" anchor="t" lIns="0" rIns="0" tIns="0" bIns="0">
            <a:spAutoFit/>
          </a:bodyPr>
          <a:lstStyle/>
          <a:p>
            <a:pPr algn="r">
              <a:lnSpc>
                <a:spcPct val="100000"/>
              </a:lnSpc>
              <a:spcBef>
                <a:spcPts val="0"/>
              </a:spcBef>
              <a:spcAft>
                <a:spcPts val="800"/>
              </a:spcAft>
            </a:pPr>
            <a:r>
              <a:rPr sz="1100" b="1" i="0">
                <a:solidFill>
                  <a:srgbClr val="C88A00"/>
                </a:solidFill>
                <a:latin typeface="Arial"/>
              </a:rPr>
              <a:t>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