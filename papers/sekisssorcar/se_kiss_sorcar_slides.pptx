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26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2011680" cy="5080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FDB515"/>
                </a:solidFill>
                <a:latin typeface="Arial"/>
              </a:rPr>
              <a:t>C  A  S  E     S  T  U  D  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106070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5200" b="1" i="0">
                <a:solidFill>
                  <a:srgbClr val="FFFFFF"/>
                </a:solidFill>
                <a:latin typeface="Arial"/>
              </a:rPr>
              <a:t>Software Engineering KISS Sorcar</a:t>
            </a:r>
          </a:p>
          <a:p>
            <a:pPr algn="l">
              <a:lnSpc>
                <a:spcPct val="102000"/>
              </a:lnSpc>
              <a:spcBef>
                <a:spcPts val="200"/>
              </a:spcBef>
              <a:spcAft>
                <a:spcPts val="800"/>
              </a:spcAft>
            </a:pPr>
            <a:r>
              <a:rPr sz="5200" b="1" i="0">
                <a:solidFill>
                  <a:srgbClr val="FDB515"/>
                </a:solidFill>
                <a:latin typeface="Arial"/>
              </a:rPr>
              <a:t>with KISS Sorcar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0060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0" i="1">
                <a:solidFill>
                  <a:srgbClr val="E9E5D8"/>
                </a:solidFill>
                <a:latin typeface="Arial"/>
              </a:rPr>
              <a:t>Building a self-hosting AI assistant and IDE — and analyzing 3,099 tasks it ran on its own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Koushik Sen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E9E5D8"/>
                </a:solidFill>
                <a:latin typeface="Arial"/>
              </a:rPr>
              <a:t>EECS Department, UC Berkeley  ·  ksen@berkeley.edu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920240"/>
            <a:ext cx="146304" cy="201168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828800"/>
            <a:ext cx="96926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4000" b="0" i="1">
                <a:solidFill>
                  <a:srgbClr val="FFFFFF"/>
                </a:solidFill>
                <a:latin typeface="Arial"/>
              </a:rPr>
              <a:t>“Everything should be made as simple as possible, but not simpler.”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  <a:spcAft>
                <a:spcPts val="800"/>
              </a:spcAft>
            </a:pPr>
            <a:r>
              <a:rPr sz="2200" b="1" i="0">
                <a:solidFill>
                  <a:srgbClr val="FDB515"/>
                </a:solidFill>
                <a:latin typeface="Arial"/>
              </a:rPr>
              <a:t>Albert Einstein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937760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0" i="1">
                <a:solidFill>
                  <a:srgbClr val="E9E5D8"/>
                </a:solidFill>
                <a:latin typeface="Arial"/>
              </a:rPr>
              <a:t>The KISS philosophy — each component does one thing, each concern lives in one place, no unnecessary abstraction.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T  H  E     B  I  G     I  D  E 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We built it with itself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2100" b="0" i="0">
                <a:solidFill>
                  <a:srgbClr val="4A5260"/>
                </a:solidFill>
                <a:latin typeface="Arial"/>
              </a:rPr>
              <a:t>From the second month on, every code change, bug fix, feature, and paper draft was produced by KISS Sorcar operating on its own repository. Self-hosting turns the system into a continuous stress test.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108960"/>
            <a:ext cx="2542032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108960"/>
            <a:ext cx="2542032" cy="109728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429000"/>
            <a:ext cx="2084832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003262"/>
                </a:solidFill>
                <a:latin typeface="Arial"/>
              </a:rPr>
              <a:t>3,099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4A5260"/>
                </a:solidFill>
                <a:latin typeface="Arial"/>
              </a:rPr>
              <a:t>tasks issued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7872" y="3108960"/>
            <a:ext cx="2542032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47872" y="3108960"/>
            <a:ext cx="2542032" cy="109728"/>
          </a:xfrm>
          <a:prstGeom prst="rect">
            <a:avLst/>
          </a:prstGeom>
          <a:solidFill>
            <a:srgbClr val="3B7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76472" y="3429000"/>
            <a:ext cx="2084832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003262"/>
                </a:solidFill>
                <a:latin typeface="Arial"/>
              </a:rPr>
              <a:t>44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4A5260"/>
                </a:solidFill>
                <a:latin typeface="Arial"/>
              </a:rPr>
              <a:t>days of development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72784" y="3108960"/>
            <a:ext cx="2542032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72784" y="3108960"/>
            <a:ext cx="2542032" cy="109728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1384" y="3429000"/>
            <a:ext cx="2084832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003262"/>
                </a:solidFill>
                <a:latin typeface="Arial"/>
              </a:rPr>
              <a:t>877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4A5260"/>
                </a:solidFill>
                <a:latin typeface="Arial"/>
              </a:rPr>
              <a:t>chat sessions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97696" y="3108960"/>
            <a:ext cx="2542032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97696" y="3108960"/>
            <a:ext cx="2542032" cy="109728"/>
          </a:xfrm>
          <a:prstGeom prst="rect">
            <a:avLst/>
          </a:prstGeom>
          <a:solidFill>
            <a:srgbClr val="3B7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26296" y="3429000"/>
            <a:ext cx="2084832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003262"/>
                </a:solidFill>
                <a:latin typeface="Arial"/>
              </a:rPr>
              <a:t>~2,400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4A5260"/>
                </a:solidFill>
                <a:latin typeface="Arial"/>
              </a:rPr>
              <a:t>lines of agent code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10528"/>
            <a:ext cx="12191695" cy="27940"/>
          </a:xfrm>
          <a:prstGeom prst="rect">
            <a:avLst/>
          </a:prstGeom>
          <a:solidFill>
            <a:srgbClr val="E9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4A5260"/>
                </a:solidFill>
                <a:latin typeface="Arial"/>
              </a:rPr>
              <a:t>KISS Sorcar  ·  K. Sen, UC Berkeley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547104"/>
            <a:ext cx="1307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88A00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A  R  C  H  I  T  E  C  T  U  R 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A five-layer agent hierarchy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4A5260"/>
                </a:solidFill>
                <a:latin typeface="Arial"/>
              </a:rPr>
              <a:t>Each layer adds exactly one concern — ~2,400 lines total.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423160"/>
            <a:ext cx="105156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146304" cy="676656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423160"/>
            <a:ext cx="30175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1.  KISS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423160"/>
            <a:ext cx="67665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4A5260"/>
                </a:solidFill>
                <a:latin typeface="Arial"/>
              </a:rPr>
              <a:t>Budget-tracked ReAct loop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218688"/>
            <a:ext cx="105156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218688"/>
            <a:ext cx="146304" cy="676656"/>
          </a:xfrm>
          <a:prstGeom prst="rect">
            <a:avLst/>
          </a:prstGeom>
          <a:solidFill>
            <a:srgbClr val="3B7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30175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2.  Relentless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218688"/>
            <a:ext cx="67665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4A5260"/>
                </a:solidFill>
                <a:latin typeface="Arial"/>
              </a:rPr>
              <a:t>Automatic continuation across sub-sessions via summarization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014216"/>
            <a:ext cx="105156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4014216"/>
            <a:ext cx="146304" cy="676656"/>
          </a:xfrm>
          <a:prstGeom prst="rect">
            <a:avLst/>
          </a:prstGeom>
          <a:solidFill>
            <a:srgbClr val="559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014216"/>
            <a:ext cx="30175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3.  Sorcar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4014216"/>
            <a:ext cx="67665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4A5260"/>
                </a:solidFill>
                <a:latin typeface="Arial"/>
              </a:rPr>
              <a:t>Coding tools, browser automation, parallel sub-agents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809744"/>
            <a:ext cx="105156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4809744"/>
            <a:ext cx="146304" cy="676656"/>
          </a:xfrm>
          <a:prstGeom prst="rect">
            <a:avLst/>
          </a:prstGeom>
          <a:solidFill>
            <a:srgbClr val="2F6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809744"/>
            <a:ext cx="30175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4.  Chat Sorcar 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809744"/>
            <a:ext cx="67665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4A5260"/>
                </a:solidFill>
                <a:latin typeface="Arial"/>
              </a:rPr>
              <a:t>Persistent multi-turn chat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605272"/>
            <a:ext cx="105156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5605272"/>
            <a:ext cx="146304" cy="676656"/>
          </a:xfrm>
          <a:prstGeom prst="rect">
            <a:avLst/>
          </a:prstGeom>
          <a:solidFill>
            <a:srgbClr val="8A6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5605272"/>
            <a:ext cx="30175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5.  Worktree Sorcar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5605272"/>
            <a:ext cx="67665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4A5260"/>
                </a:solidFill>
                <a:latin typeface="Arial"/>
              </a:rPr>
              <a:t>Git worktree isolation per task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10528"/>
            <a:ext cx="12191695" cy="27940"/>
          </a:xfrm>
          <a:prstGeom prst="rect">
            <a:avLst/>
          </a:prstGeom>
          <a:solidFill>
            <a:srgbClr val="E9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4A5260"/>
                </a:solidFill>
                <a:latin typeface="Arial"/>
              </a:rPr>
              <a:t>KISS Sorcar  ·  K. Sen, UC Berkeley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547104"/>
            <a:ext cx="1307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88A00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M  E  T  H  O  D  O  L  O  G  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Mining the system's own usage log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607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Single source of truth:  </a:t>
            </a:r>
            <a:r>
              <a:rPr sz="2100">
                <a:solidFill>
                  <a:srgbClr val="1A1F2B"/>
                </a:solidFill>
                <a:latin typeface="Arial"/>
              </a:rPr>
              <a:t>every task flows through the Chat Sorcar Agent into ~/.kiss/sorcar.db — a complete, unfiltered record.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Small schema:  </a:t>
            </a:r>
            <a:r>
              <a:rPr sz="2100">
                <a:solidFill>
                  <a:srgbClr val="1A1F2B"/>
                </a:solidFill>
                <a:latin typeface="Arial"/>
              </a:rPr>
              <a:t>task_history, events, frequent_tasks, model_usage, file_usage tables capture prompts, trajectories, cost, and files.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Three extraction methods:  </a:t>
            </a:r>
            <a:r>
              <a:rPr sz="2100">
                <a:solidFill>
                  <a:srgbClr val="1A1F2B"/>
                </a:solidFill>
                <a:latin typeface="Arial"/>
              </a:rPr>
              <a:t>cluster by frequency, full-text LIKE queries over descriptions, and manual reading of representatives.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Scale:  </a:t>
            </a:r>
            <a:r>
              <a:rPr sz="2100">
                <a:solidFill>
                  <a:srgbClr val="1A1F2B"/>
                </a:solidFill>
                <a:latin typeface="Arial"/>
              </a:rPr>
              <a:t>3,099 tasks across 44 days group into 877 sessions — ~3.5 tasks per session, confirming an iterative workflow.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27940"/>
          </a:xfrm>
          <a:prstGeom prst="rect">
            <a:avLst/>
          </a:prstGeom>
          <a:solidFill>
            <a:srgbClr val="E9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4A5260"/>
                </a:solidFill>
                <a:latin typeface="Arial"/>
              </a:rPr>
              <a:t>KISS Sorcar  ·  K. Sen, UC Berkeley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307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88A00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W  H  A  T     T  H  E     D  E  V  E  L  O  P  E  R     D  I 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Task distribution (3,099 tasks)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10515600" cy="475488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6858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Category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874519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Count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1874519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DB515"/>
                </a:solidFill>
                <a:latin typeface="Arial"/>
              </a:rPr>
              <a:t>Share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350007"/>
            <a:ext cx="105156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50007"/>
            <a:ext cx="6949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A1F2B"/>
                </a:solidFill>
                <a:latin typeface="Arial"/>
              </a:rPr>
              <a:t>Bug finding, reproducing &amp; fixing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350007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4A5260"/>
                </a:solidFill>
                <a:latin typeface="Arial"/>
              </a:rPr>
              <a:t>~620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2350007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C88A00"/>
                </a:solidFill>
                <a:latin typeface="Arial"/>
              </a:rPr>
              <a:t>20%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752343"/>
            <a:ext cx="10515600" cy="402336"/>
          </a:xfrm>
          <a:prstGeom prst="rect">
            <a:avLst/>
          </a:prstGeom>
          <a:solidFill>
            <a:srgbClr val="EF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752343"/>
            <a:ext cx="6949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A1F2B"/>
                </a:solidFill>
                <a:latin typeface="Arial"/>
              </a:rPr>
              <a:t>Feature implementation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752343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4A5260"/>
                </a:solidFill>
                <a:latin typeface="Arial"/>
              </a:rPr>
              <a:t>~520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2752343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C88A00"/>
                </a:solidFill>
                <a:latin typeface="Arial"/>
              </a:rPr>
              <a:t>17%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154679"/>
            <a:ext cx="105156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154679"/>
            <a:ext cx="6949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A1F2B"/>
                </a:solidFill>
                <a:latin typeface="Arial"/>
              </a:rPr>
              <a:t>UI / UX refinement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3154679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4A5260"/>
                </a:solidFill>
                <a:latin typeface="Arial"/>
              </a:rPr>
              <a:t>~360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3154679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C88A00"/>
                </a:solidFill>
                <a:latin typeface="Arial"/>
              </a:rPr>
              <a:t>12%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3557015"/>
            <a:ext cx="10515600" cy="402336"/>
          </a:xfrm>
          <a:prstGeom prst="rect">
            <a:avLst/>
          </a:prstGeom>
          <a:solidFill>
            <a:srgbClr val="EF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3557015"/>
            <a:ext cx="6949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A1F2B"/>
                </a:solidFill>
                <a:latin typeface="Arial"/>
              </a:rPr>
              <a:t>Paper writing &amp; building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557015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4A5260"/>
                </a:solidFill>
                <a:latin typeface="Arial"/>
              </a:rPr>
              <a:t>~310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3557015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C88A00"/>
                </a:solidFill>
                <a:latin typeface="Arial"/>
              </a:rPr>
              <a:t>10%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959351"/>
            <a:ext cx="105156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3959351"/>
            <a:ext cx="6949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A1F2B"/>
                </a:solidFill>
                <a:latin typeface="Arial"/>
              </a:rPr>
              <a:t>Code quality / refactoring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959351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4A5260"/>
                </a:solidFill>
                <a:latin typeface="Arial"/>
              </a:rPr>
              <a:t>~250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3959351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C88A00"/>
                </a:solidFill>
                <a:latin typeface="Arial"/>
              </a:rPr>
              <a:t>8%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361687"/>
            <a:ext cx="10515600" cy="402336"/>
          </a:xfrm>
          <a:prstGeom prst="rect">
            <a:avLst/>
          </a:prstGeom>
          <a:solidFill>
            <a:srgbClr val="EF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4361687"/>
            <a:ext cx="6949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A1F2B"/>
                </a:solidFill>
                <a:latin typeface="Arial"/>
              </a:rPr>
              <a:t>Testing &amp; CI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4361687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4A5260"/>
                </a:solidFill>
                <a:latin typeface="Arial"/>
              </a:rPr>
              <a:t>~210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4361687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C88A00"/>
                </a:solidFill>
                <a:latin typeface="Arial"/>
              </a:rPr>
              <a:t>7%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764023"/>
            <a:ext cx="105156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764023"/>
            <a:ext cx="6949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A1F2B"/>
                </a:solidFill>
                <a:latin typeface="Arial"/>
              </a:rPr>
              <a:t>General assistance (weather, travel, stocks…)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4764023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4A5260"/>
                </a:solidFill>
                <a:latin typeface="Arial"/>
              </a:rPr>
              <a:t>~210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4764023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C88A00"/>
                </a:solidFill>
                <a:latin typeface="Arial"/>
              </a:rPr>
              <a:t>7%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5166359"/>
            <a:ext cx="10515600" cy="402336"/>
          </a:xfrm>
          <a:prstGeom prst="rect">
            <a:avLst/>
          </a:prstGeom>
          <a:solidFill>
            <a:srgbClr val="EF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1560" y="5166359"/>
            <a:ext cx="6949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A1F2B"/>
                </a:solidFill>
                <a:latin typeface="Arial"/>
              </a:rPr>
              <a:t>Git operations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60" y="5166359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4A5260"/>
                </a:solidFill>
                <a:latin typeface="Arial"/>
              </a:rPr>
              <a:t>~155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0" y="5166359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C88A00"/>
                </a:solidFill>
                <a:latin typeface="Arial"/>
              </a:rPr>
              <a:t>5%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5568695"/>
            <a:ext cx="105156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5568695"/>
            <a:ext cx="6949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A1F2B"/>
                </a:solidFill>
                <a:latin typeface="Arial"/>
              </a:rPr>
              <a:t>Greetings &amp; identity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60" y="5568695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4A5260"/>
                </a:solidFill>
                <a:latin typeface="Arial"/>
              </a:rPr>
              <a:t>~150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5568695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C88A00"/>
                </a:solidFill>
                <a:latin typeface="Arial"/>
              </a:rPr>
              <a:t>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2960" y="5971031"/>
            <a:ext cx="10515600" cy="402336"/>
          </a:xfrm>
          <a:prstGeom prst="rect">
            <a:avLst/>
          </a:prstGeom>
          <a:solidFill>
            <a:srgbClr val="EF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1560" y="5971031"/>
            <a:ext cx="6949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A1F2B"/>
                </a:solidFill>
                <a:latin typeface="Arial"/>
              </a:rPr>
              <a:t>Communication / smart-home / other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5971031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4A5260"/>
                </a:solidFill>
                <a:latin typeface="Arial"/>
              </a:rPr>
              <a:t>~290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01200" y="5971031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C88A00"/>
                </a:solidFill>
                <a:latin typeface="Arial"/>
              </a:rPr>
              <a:t>10%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10528"/>
            <a:ext cx="12191695" cy="27940"/>
          </a:xfrm>
          <a:prstGeom prst="rect">
            <a:avLst/>
          </a:prstGeom>
          <a:solidFill>
            <a:srgbClr val="E9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4A5260"/>
                </a:solidFill>
                <a:latin typeface="Arial"/>
              </a:rPr>
              <a:t>KISS Sorcar  ·  K. Sen, UC Berkeley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0" y="6547104"/>
            <a:ext cx="1307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88A00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F  I  N  D  I  N  G  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Seven recurring usage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11680"/>
            <a:ext cx="5166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011680"/>
            <a:ext cx="640080" cy="86868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DB515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011680"/>
            <a:ext cx="4069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Test-first bug fixing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2011680"/>
            <a:ext cx="5166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2011680"/>
            <a:ext cx="640080" cy="86868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201168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DB515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2011680"/>
            <a:ext cx="4069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Iterative feature construction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063240"/>
            <a:ext cx="5166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3063240"/>
            <a:ext cx="640080" cy="86868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DB515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063240"/>
            <a:ext cx="4069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Periodic code hygiene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3063240"/>
            <a:ext cx="5166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063240"/>
            <a:ext cx="640080" cy="86868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306324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DB515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3063240"/>
            <a:ext cx="4069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Paper–code co-evolution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4114800"/>
            <a:ext cx="5166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14800"/>
            <a:ext cx="640080" cy="86868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11480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DB515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4114800"/>
            <a:ext cx="4069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Architecture investigation before change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4114800"/>
            <a:ext cx="5166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4114800"/>
            <a:ext cx="640080" cy="86868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411480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DB515"/>
                </a:solidFill>
                <a:latin typeface="Arial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114800"/>
            <a:ext cx="4069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System-prompt engineering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166360"/>
            <a:ext cx="5166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2960" y="5166360"/>
            <a:ext cx="640080" cy="86868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1663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DB515"/>
                </a:solidFill>
                <a:latin typeface="Arial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5166360"/>
            <a:ext cx="4069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Multi-channel general assistance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10528"/>
            <a:ext cx="12191695" cy="27940"/>
          </a:xfrm>
          <a:prstGeom prst="rect">
            <a:avLst/>
          </a:prstGeom>
          <a:solidFill>
            <a:srgbClr val="E9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4A5260"/>
                </a:solidFill>
                <a:latin typeface="Arial"/>
              </a:rPr>
              <a:t>KISS Sorcar  ·  K. Sen, UC Berkeley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47104"/>
            <a:ext cx="1307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88A00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P  A  T  T  E  R  N    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Test-first bug fixing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2100" b="0" i="0">
                <a:solidFill>
                  <a:srgbClr val="4A5260"/>
                </a:solidFill>
                <a:latin typeface="Arial"/>
              </a:rPr>
              <a:t>The most common pattern (~20% of tasks): report a bug, write a test that reproduces it, then fix the root cause and verify.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61264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400"/>
              </a:spcAft>
            </a:pPr>
            <a:r>
              <a:rPr sz="1900" b="1">
                <a:solidFill>
                  <a:srgbClr val="FDB515"/>
                </a:solidFill>
                <a:latin typeface="Arial"/>
              </a:rPr>
              <a:t>—  </a:t>
            </a:r>
            <a:r>
              <a:rPr sz="1900" b="1">
                <a:solidFill>
                  <a:srgbClr val="003262"/>
                </a:solidFill>
                <a:latin typeface="Arial"/>
              </a:rPr>
              <a:t>Three-step protocol:  </a:t>
            </a:r>
            <a:r>
              <a:rPr sz="1900">
                <a:solidFill>
                  <a:srgbClr val="1A1F2B"/>
                </a:solidFill>
                <a:latin typeface="Arial"/>
              </a:rPr>
              <a:t>report → reproduce with an integration test → fix root cause and confirm the test passes.</a:t>
            </a:r>
          </a:p>
          <a:p>
            <a:pPr algn="l">
              <a:lnSpc>
                <a:spcPct val="106000"/>
              </a:lnSpc>
              <a:spcAft>
                <a:spcPts val="1400"/>
              </a:spcAft>
            </a:pPr>
            <a:r>
              <a:rPr sz="1900" b="1">
                <a:solidFill>
                  <a:srgbClr val="FDB515"/>
                </a:solidFill>
                <a:latin typeface="Arial"/>
              </a:rPr>
              <a:t>—  </a:t>
            </a:r>
            <a:r>
              <a:rPr sz="1900" b="1">
                <a:solidFill>
                  <a:srgbClr val="003262"/>
                </a:solidFill>
                <a:latin typeface="Arial"/>
              </a:rPr>
              <a:t>Evidence, not edits:  </a:t>
            </a:r>
            <a:r>
              <a:rPr sz="1900">
                <a:solidFill>
                  <a:srgbClr val="1A1F2B"/>
                </a:solidFill>
                <a:latin typeface="Arial"/>
              </a:rPr>
              <a:t>a test that fails before and passes after proves the bug was real and the fix addressed it.</a:t>
            </a:r>
          </a:p>
          <a:p>
            <a:pPr algn="l">
              <a:lnSpc>
                <a:spcPct val="106000"/>
              </a:lnSpc>
              <a:spcAft>
                <a:spcPts val="1400"/>
              </a:spcAft>
            </a:pPr>
            <a:r>
              <a:rPr sz="1900" b="1">
                <a:solidFill>
                  <a:srgbClr val="FDB515"/>
                </a:solidFill>
                <a:latin typeface="Arial"/>
              </a:rPr>
              <a:t>—  </a:t>
            </a:r>
            <a:r>
              <a:rPr sz="1900" b="1">
                <a:solidFill>
                  <a:srgbClr val="003262"/>
                </a:solidFill>
                <a:latin typeface="Arial"/>
              </a:rPr>
              <a:t>Concurrency sub-class:  </a:t>
            </a:r>
            <a:r>
              <a:rPr sz="1900">
                <a:solidFill>
                  <a:srgbClr val="1A1F2B"/>
                </a:solidFill>
                <a:latin typeface="Arial"/>
              </a:rPr>
              <a:t>race conditions exposed by running many tabs and a remote server against one repo.</a:t>
            </a:r>
          </a:p>
          <a:p>
            <a:pPr algn="l">
              <a:lnSpc>
                <a:spcPct val="106000"/>
              </a:lnSpc>
              <a:spcAft>
                <a:spcPts val="1400"/>
              </a:spcAft>
            </a:pPr>
            <a:r>
              <a:rPr sz="1900" b="1">
                <a:solidFill>
                  <a:srgbClr val="FDB515"/>
                </a:solidFill>
                <a:latin typeface="Arial"/>
              </a:rPr>
              <a:t>—  </a:t>
            </a:r>
            <a:r>
              <a:rPr sz="1900" b="1">
                <a:solidFill>
                  <a:srgbClr val="003262"/>
                </a:solidFill>
                <a:latin typeface="Arial"/>
              </a:rPr>
              <a:t>Defensive revert:  </a:t>
            </a:r>
            <a:r>
              <a:rPr sz="1900">
                <a:solidFill>
                  <a:srgbClr val="1A1F2B"/>
                </a:solidFill>
                <a:latin typeface="Arial"/>
              </a:rPr>
              <a:t>“get rid of the last commit” recurs 30+ times — undo first, re-attempt fresh.</a:t>
            </a:r>
          </a:p>
        </p:txBody>
      </p:sp>
      <p:sp>
        <p:nvSpPr>
          <p:cNvPr id="7" name="Rectangle 6"/>
          <p:cNvSpPr/>
          <p:nvPr/>
        </p:nvSpPr>
        <p:spPr>
          <a:xfrm>
            <a:off x="7178040" y="2743200"/>
            <a:ext cx="4160520" cy="320040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78040" y="2743200"/>
            <a:ext cx="4160520" cy="109728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0" y="3063240"/>
            <a:ext cx="3520440" cy="2651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FDB515"/>
                </a:solidFill>
                <a:latin typeface="Arial"/>
              </a:rPr>
              <a:t>From the log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0" i="1">
                <a:solidFill>
                  <a:srgbClr val="FFFFFF"/>
                </a:solidFill>
                <a:latin typeface="Arial"/>
              </a:rPr>
              <a:t>“Can you reproduce the bug by writing an integration test? Then fix it.”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P  A  T  T  E  R  N    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Iterative feature construction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2100" b="0" i="0">
                <a:solidFill>
                  <a:srgbClr val="4A5260"/>
                </a:solidFill>
                <a:latin typeface="Arial"/>
              </a:rPr>
              <a:t>Features were never built in one task. Describe → observe → refine, often across 5–20 tasks in a single chat session.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61264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400"/>
              </a:spcAft>
            </a:pPr>
            <a:r>
              <a:rPr sz="1900" b="1">
                <a:solidFill>
                  <a:srgbClr val="FDB515"/>
                </a:solidFill>
                <a:latin typeface="Arial"/>
              </a:rPr>
              <a:t>—  </a:t>
            </a:r>
            <a:r>
              <a:rPr sz="1900" b="1">
                <a:solidFill>
                  <a:srgbClr val="003262"/>
                </a:solidFill>
                <a:latin typeface="Arial"/>
              </a:rPr>
              <a:t>Remote web server:  </a:t>
            </a:r>
            <a:r>
              <a:rPr sz="1900">
                <a:solidFill>
                  <a:srgbClr val="1A1F2B"/>
                </a:solidFill>
                <a:latin typeface="Arial"/>
              </a:rPr>
              <a:t>started with one task, hardened over 60+ tasks — TLS, mobile layout, auth, URL discovery, robustness.</a:t>
            </a:r>
          </a:p>
          <a:p>
            <a:pPr algn="l">
              <a:lnSpc>
                <a:spcPct val="106000"/>
              </a:lnSpc>
              <a:spcAft>
                <a:spcPts val="1400"/>
              </a:spcAft>
            </a:pPr>
            <a:r>
              <a:rPr sz="1900" b="1">
                <a:solidFill>
                  <a:srgbClr val="FDB515"/>
                </a:solidFill>
                <a:latin typeface="Arial"/>
              </a:rPr>
              <a:t>—  </a:t>
            </a:r>
            <a:r>
              <a:rPr sz="1900" b="1">
                <a:solidFill>
                  <a:srgbClr val="003262"/>
                </a:solidFill>
                <a:latin typeface="Arial"/>
              </a:rPr>
              <a:t>Spec emerges from use:  </a:t>
            </a:r>
            <a:r>
              <a:rPr sz="1900">
                <a:solidFill>
                  <a:srgbClr val="1A1F2B"/>
                </a:solidFill>
                <a:latin typeface="Arial"/>
              </a:rPr>
              <a:t>no design document; each refinement was prompted by actually using the feature and hitting a limit.</a:t>
            </a:r>
          </a:p>
          <a:p>
            <a:pPr algn="l">
              <a:lnSpc>
                <a:spcPct val="106000"/>
              </a:lnSpc>
              <a:spcAft>
                <a:spcPts val="1400"/>
              </a:spcAft>
            </a:pPr>
            <a:r>
              <a:rPr sz="1900" b="1">
                <a:solidFill>
                  <a:srgbClr val="FDB515"/>
                </a:solidFill>
                <a:latin typeface="Arial"/>
              </a:rPr>
              <a:t>—  </a:t>
            </a:r>
            <a:r>
              <a:rPr sz="1900" b="1">
                <a:solidFill>
                  <a:srgbClr val="003262"/>
                </a:solidFill>
                <a:latin typeface="Arial"/>
              </a:rPr>
              <a:t>Interleaved with fixing:  </a:t>
            </a:r>
            <a:r>
              <a:rPr sz="1900">
                <a:solidFill>
                  <a:srgbClr val="1A1F2B"/>
                </a:solidFill>
                <a:latin typeface="Arial"/>
              </a:rPr>
              <a:t>~half the follow-ups in a feature session are themselves test-first bug reports.</a:t>
            </a:r>
          </a:p>
          <a:p>
            <a:pPr algn="l">
              <a:lnSpc>
                <a:spcPct val="106000"/>
              </a:lnSpc>
              <a:spcAft>
                <a:spcPts val="1400"/>
              </a:spcAft>
            </a:pPr>
            <a:r>
              <a:rPr sz="1900" b="1">
                <a:solidFill>
                  <a:srgbClr val="FDB515"/>
                </a:solidFill>
                <a:latin typeface="Arial"/>
              </a:rPr>
              <a:t>—  </a:t>
            </a:r>
            <a:r>
              <a:rPr sz="1900" b="1">
                <a:solidFill>
                  <a:srgbClr val="003262"/>
                </a:solidFill>
                <a:latin typeface="Arial"/>
              </a:rPr>
              <a:t>Demo mode:  </a:t>
            </a:r>
            <a:r>
              <a:rPr sz="1900">
                <a:solidFill>
                  <a:srgbClr val="1A1F2B"/>
                </a:solidFill>
                <a:latin typeface="Arial"/>
              </a:rPr>
              <a:t>refined over many days — a feature is never “done” when it first works.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178040" y="2743200"/>
            <a:ext cx="4160520" cy="320040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78040" y="2743200"/>
            <a:ext cx="4160520" cy="109728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0" y="3063240"/>
            <a:ext cx="3520440" cy="2651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FDB515"/>
                </a:solidFill>
                <a:latin typeface="Arial"/>
              </a:rPr>
              <a:t>From the log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0" i="1">
                <a:solidFill>
                  <a:srgbClr val="FFFFFF"/>
                </a:solidFill>
                <a:latin typeface="Arial"/>
              </a:rPr>
              <a:t>“…implement a feature where the user can access KISS Sorcar from any device with a browser.”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P  A  T  T  E  R  N    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Periodic code hygiene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2100" b="0" i="0">
                <a:solidFill>
                  <a:srgbClr val="4A5260"/>
                </a:solidFill>
                <a:latin typeface="Arial"/>
              </a:rPr>
              <a:t>Every 20–30 tasks, the developer ran a dedicated cleanup sweep — decoupled from feature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1060704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“uv run check --full and fix”:  </a:t>
            </a:r>
            <a:r>
              <a:rPr sz="2100">
                <a:solidFill>
                  <a:srgbClr val="1A1F2B"/>
                </a:solidFill>
                <a:latin typeface="Arial"/>
              </a:rPr>
              <a:t>the 2nd most frequent command in the log (50 verbatim occurrences).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Directory audits:  </a:t>
            </a:r>
            <a:r>
              <a:rPr sz="2100">
                <a:solidFill>
                  <a:srgbClr val="1A1F2B"/>
                </a:solidFill>
                <a:latin typeface="Arial"/>
              </a:rPr>
              <a:t>“find all bugs, redundancies, and inconsistencies” invokes a collect-then-act discipline.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Honest test oracle:  </a:t>
            </a:r>
            <a:r>
              <a:rPr sz="2100">
                <a:solidFill>
                  <a:srgbClr val="1A1F2B"/>
                </a:solidFill>
                <a:latin typeface="Arial"/>
              </a:rPr>
              <a:t>“fix tests only if there is no bug in the code — report the bugs” guards against weakened assertions.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Garbage collection:  </a:t>
            </a:r>
            <a:r>
              <a:rPr sz="2100">
                <a:solidFill>
                  <a:srgbClr val="1A1F2B"/>
                </a:solidFill>
                <a:latin typeface="Arial"/>
              </a:rPr>
              <a:t>lets small inconsistencies accumulate, then clears them in one pass.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P  A  T  T  E  R  N    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Paper–code co-evolution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2100" b="0" i="0">
                <a:solidFill>
                  <a:srgbClr val="4A5260"/>
                </a:solidFill>
                <a:latin typeface="Arial"/>
              </a:rPr>
              <a:t>The system prompt and the paper describing it evolve together — a genuinely bidirectional flow.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1060704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Code → paper:  </a:t>
            </a:r>
            <a:r>
              <a:rPr sz="2100">
                <a:solidFill>
                  <a:srgbClr val="1A1F2B"/>
                </a:solidFill>
                <a:latin typeface="Arial"/>
              </a:rPr>
              <a:t>“SYSTEM.md has changed — update and build the paper.”  “build the paper” appears in 73 tasks.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Paper → code:  </a:t>
            </a:r>
            <a:r>
              <a:rPr sz="2100">
                <a:solidFill>
                  <a:srgbClr val="1A1F2B"/>
                </a:solidFill>
                <a:latin typeface="Arial"/>
              </a:rPr>
              <a:t>“I fixed typos in the prompt in the paper — update SYSTEM.md” uses the paper as source of truth.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Consistency audits:  </a:t>
            </a:r>
            <a:r>
              <a:rPr sz="2100">
                <a:solidFill>
                  <a:srgbClr val="1A1F2B"/>
                </a:solidFill>
                <a:latin typeface="Arial"/>
              </a:rPr>
              <a:t>the same agent reads both LaTeX and code, so divergence is mechanically detectable.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Living documentation:  </a:t>
            </a:r>
            <a:r>
              <a:rPr sz="2100">
                <a:solidFill>
                  <a:srgbClr val="1A1F2B"/>
                </a:solidFill>
                <a:latin typeface="Arial"/>
              </a:rPr>
              <a:t>the artifact describing the system is maintained by the system.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P  A  T  T  E  R  N    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Architecture investigation before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2100" b="0" i="0">
                <a:solidFill>
                  <a:srgbClr val="4A5260"/>
                </a:solidFill>
                <a:latin typeface="Arial"/>
              </a:rPr>
              <a:t>Before non-trivial changes, the developer asks the agent to explain the current design — “understand before you change.”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1060704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Explain first:  </a:t>
            </a:r>
            <a:r>
              <a:rPr sz="2100">
                <a:solidFill>
                  <a:srgbClr val="1A1F2B"/>
                </a:solidFill>
                <a:latin typeface="Arial"/>
              </a:rPr>
              <a:t>“show me the step-by-step workflow of web_server.py”; “what happens when two tasks run at once?”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No translation loss:  </a:t>
            </a:r>
            <a:r>
              <a:rPr sz="2100">
                <a:solidFill>
                  <a:srgbClr val="1A1F2B"/>
                </a:solidFill>
                <a:latin typeface="Arial"/>
              </a:rPr>
              <a:t>the same agent produces both the explanation and the subsequent edits over the same source.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Visual variant:  </a:t>
            </a:r>
            <a:r>
              <a:rPr sz="2100">
                <a:solidFill>
                  <a:srgbClr val="1A1F2B"/>
                </a:solidFill>
                <a:latin typeface="Arial"/>
              </a:rPr>
              <a:t>“create a graph diagram of how the server-side files are related” before reorganizing them.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Front-loaded comprehension:  </a:t>
            </a:r>
            <a:r>
              <a:rPr sz="2100">
                <a:solidFill>
                  <a:srgbClr val="1A1F2B"/>
                </a:solidFill>
                <a:latin typeface="Arial"/>
              </a:rPr>
              <a:t>turns a vague aspiration into a precise, local edit request.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P  A  T  T  E  R  N    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System-prompt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2100" b="0" i="0">
                <a:solidFill>
                  <a:srgbClr val="4A5260"/>
                </a:solidFill>
                <a:latin typeface="Arial"/>
              </a:rPr>
              <a:t>~100 tasks refined the system prompt itself — treated as production code, tested against observed behavior.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1060704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Log as test data:  </a:t>
            </a:r>
            <a:r>
              <a:rPr sz="2100">
                <a:solidFill>
                  <a:srgbClr val="1A1F2B"/>
                </a:solidFill>
                <a:latin typeface="Arial"/>
              </a:rPr>
              <a:t>“look at yesterday's tasks; which instructions are not being followed? Fix them.”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Mutation testing for a spec:  </a:t>
            </a:r>
            <a:r>
              <a:rPr sz="2100">
                <a:solidFill>
                  <a:srgbClr val="1A1F2B"/>
                </a:solidFill>
                <a:latin typeface="Arial"/>
              </a:rPr>
              <a:t>write a real-LLM test to confirm an observed deviation, then patch the prompt.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Reactive rules:  </a:t>
            </a:r>
            <a:r>
              <a:rPr sz="2100">
                <a:solidFill>
                  <a:srgbClr val="1A1F2B"/>
                </a:solidFill>
                <a:latin typeface="Arial"/>
              </a:rPr>
              <a:t>the tmp/ rule, the curl/wget ban, and the “visit ≥10 websites” rule were all added after the log exposed evasions.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Calmer voice:  </a:t>
            </a:r>
            <a:r>
              <a:rPr sz="2100">
                <a:solidFill>
                  <a:srgbClr val="1A1F2B"/>
                </a:solidFill>
                <a:latin typeface="Arial"/>
              </a:rPr>
              <a:t>evolved from “BE RELENTLESS” to “be rigorous, check facts, produce high-quality work.”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P  A  T  T  E  R  N    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Multi-channel general assistance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2100" b="0" i="0">
                <a:solidFill>
                  <a:srgbClr val="4A5260"/>
                </a:solidFill>
                <a:latin typeface="Arial"/>
              </a:rPr>
              <a:t>The same prompt and architecture serve non-coding tasks — one agent, one prompt, one architecture, scaling across domains.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1060704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Smart home:  </a:t>
            </a:r>
            <a:r>
              <a:rPr sz="2100">
                <a:solidFill>
                  <a:srgbClr val="1A1F2B"/>
                </a:solidFill>
                <a:latin typeface="Arial"/>
              </a:rPr>
              <a:t>Govee lights.   Travel: Yosemite trip planning.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Weather, shopping, finance:  </a:t>
            </a:r>
            <a:r>
              <a:rPr sz="2100">
                <a:solidFill>
                  <a:srgbClr val="1A1F2B"/>
                </a:solidFill>
                <a:latin typeface="Arial"/>
              </a:rPr>
              <a:t>current-data queries and ETF analysis.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Communication:  </a:t>
            </a:r>
            <a:r>
              <a:rPr sz="2100">
                <a:solidFill>
                  <a:srgbClr val="1A1F2B"/>
                </a:solidFill>
                <a:latin typeface="Arial"/>
              </a:rPr>
              <a:t>Slack, iMessage, Gmail — uniform third-party agent interface, no special routing.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Same rigor off-task:  </a:t>
            </a:r>
            <a:r>
              <a:rPr sz="2100">
                <a:solidFill>
                  <a:srgbClr val="1A1F2B"/>
                </a:solidFill>
                <a:latin typeface="Arial"/>
              </a:rPr>
              <a:t>Web Research protocol applies; an unethical hacking request was refused with five legitimate alternatives.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C  A  S  E     S  T  U  D  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The explain-then-revise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2100" b="0" i="0">
                <a:solidFill>
                  <a:srgbClr val="4A5260"/>
                </a:solidFill>
                <a:latin typeface="Arial"/>
              </a:rPr>
              <a:t>Redesigning the git-worktree merge workflow — six consecutive tasks, no file ever opened by hand.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7480"/>
            <a:ext cx="33832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697480"/>
            <a:ext cx="3383280" cy="9144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89864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b="1">
                <a:solidFill>
                  <a:srgbClr val="FDB515"/>
                </a:solidFill>
                <a:latin typeface="Arial"/>
              </a:rPr>
              <a:t>1  </a:t>
            </a:r>
            <a:r>
              <a:rPr sz="2000" b="1">
                <a:solidFill>
                  <a:srgbClr val="003262"/>
                </a:solidFill>
                <a:latin typeface="Arial"/>
              </a:rPr>
              <a:t>Elicit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42900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A5260"/>
                </a:solidFill>
                <a:latin typeface="Arial"/>
              </a:rPr>
              <a:t>Ask for a step-by-step account of the post-task git lifecycle.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7408" y="2697480"/>
            <a:ext cx="33832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07408" y="2697480"/>
            <a:ext cx="3383280" cy="9144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8" y="289864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b="1">
                <a:solidFill>
                  <a:srgbClr val="FDB515"/>
                </a:solidFill>
                <a:latin typeface="Arial"/>
              </a:rPr>
              <a:t>2  </a:t>
            </a:r>
            <a:r>
              <a:rPr sz="2000" b="1">
                <a:solidFill>
                  <a:srgbClr val="003262"/>
                </a:solidFill>
                <a:latin typeface="Arial"/>
              </a:rPr>
              <a:t>Revise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342900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A5260"/>
                </a:solidFill>
                <a:latin typeface="Arial"/>
              </a:rPr>
              <a:t>“Ask two questions instead of three” — edits six files across Python + TypeScript.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91856" y="2697480"/>
            <a:ext cx="33832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91856" y="2697480"/>
            <a:ext cx="3383280" cy="9144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0456" y="289864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b="1">
                <a:solidFill>
                  <a:srgbClr val="FDB515"/>
                </a:solidFill>
                <a:latin typeface="Arial"/>
              </a:rPr>
              <a:t>3  </a:t>
            </a:r>
            <a:r>
              <a:rPr sz="2000" b="1">
                <a:solidFill>
                  <a:srgbClr val="003262"/>
                </a:solidFill>
                <a:latin typeface="Arial"/>
              </a:rPr>
              <a:t>Diagnose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0456" y="342900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A5260"/>
                </a:solidFill>
                <a:latin typeface="Arial"/>
              </a:rPr>
              <a:t>“Why do files show as committed on the original branch?” — traces a git reset HEAD.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498848"/>
            <a:ext cx="33832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4498848"/>
            <a:ext cx="3383280" cy="9144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70001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b="1">
                <a:solidFill>
                  <a:srgbClr val="FDB515"/>
                </a:solidFill>
                <a:latin typeface="Arial"/>
              </a:rPr>
              <a:t>4  </a:t>
            </a:r>
            <a:r>
              <a:rPr sz="2000" b="1">
                <a:solidFill>
                  <a:srgbClr val="003262"/>
                </a:solidFill>
                <a:latin typeface="Arial"/>
              </a:rPr>
              <a:t>Fix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523036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A5260"/>
                </a:solidFill>
                <a:latin typeface="Arial"/>
              </a:rPr>
              <a:t>“Review already happened in the worktree — fix it.” Replaces unstage with a guarded commit.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7408" y="4498848"/>
            <a:ext cx="33832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07408" y="4498848"/>
            <a:ext cx="3383280" cy="91440"/>
          </a:xfrm>
          <a:prstGeom prst="rect">
            <a:avLst/>
          </a:prstGeom>
          <a:solidFill>
            <a:srgbClr val="3B7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36008" y="470001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b="1">
                <a:solidFill>
                  <a:srgbClr val="FDB515"/>
                </a:solidFill>
                <a:latin typeface="Arial"/>
              </a:rPr>
              <a:t>5  </a:t>
            </a:r>
            <a:r>
              <a:rPr sz="2000" b="1">
                <a:solidFill>
                  <a:srgbClr val="003262"/>
                </a:solidFill>
                <a:latin typeface="Arial"/>
              </a:rPr>
              <a:t>Audit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36008" y="523036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A5260"/>
                </a:solidFill>
                <a:latin typeface="Arial"/>
              </a:rPr>
              <a:t>Verify the dirty-working-tree invariant survived the simplification.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91856" y="4498848"/>
            <a:ext cx="33832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91856" y="4498848"/>
            <a:ext cx="3383280" cy="91440"/>
          </a:xfrm>
          <a:prstGeom prst="rect">
            <a:avLst/>
          </a:prstGeom>
          <a:solidFill>
            <a:srgbClr val="3B7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0456" y="470001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b="1">
                <a:solidFill>
                  <a:srgbClr val="FDB515"/>
                </a:solidFill>
                <a:latin typeface="Arial"/>
              </a:rPr>
              <a:t>6  </a:t>
            </a:r>
            <a:r>
              <a:rPr sz="2000" b="1">
                <a:solidFill>
                  <a:srgbClr val="003262"/>
                </a:solidFill>
                <a:latin typeface="Arial"/>
              </a:rPr>
              <a:t>Audit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0456" y="523036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A5260"/>
                </a:solidFill>
                <a:latin typeface="Arial"/>
              </a:rPr>
              <a:t>Confirm concurrent merges stay serialized by a per-repo lock.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10528"/>
            <a:ext cx="12191695" cy="27940"/>
          </a:xfrm>
          <a:prstGeom prst="rect">
            <a:avLst/>
          </a:prstGeom>
          <a:solidFill>
            <a:srgbClr val="E9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4A5260"/>
                </a:solidFill>
                <a:latin typeface="Arial"/>
              </a:rPr>
              <a:t>KISS Sorcar  ·  K. Sen, UC Berkeley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547104"/>
            <a:ext cx="1307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88A00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W  H  Y     I  T     W  O  R  K  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Each pattern maps to a principle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11680"/>
            <a:ext cx="51663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011680"/>
            <a:ext cx="128016" cy="114300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157984"/>
            <a:ext cx="46177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KISS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4A5260"/>
                </a:solidFill>
                <a:latin typeface="Arial"/>
              </a:rPr>
              <a:t>One agent, one prompt, one architecture across all domains.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2011680"/>
            <a:ext cx="51663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2011680"/>
            <a:ext cx="128016" cy="114300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57984"/>
            <a:ext cx="46177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Separation of concerns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4A5260"/>
                </a:solidFill>
                <a:latin typeface="Arial"/>
              </a:rPr>
              <a:t>Each layer / module owns exactly one concern.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319272"/>
            <a:ext cx="51663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3319272"/>
            <a:ext cx="128016" cy="114300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65576"/>
            <a:ext cx="46177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Test-first development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4A5260"/>
                </a:solidFill>
                <a:latin typeface="Arial"/>
              </a:rPr>
              <a:t>Write a failing test, then make it pass — no mocks.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319272"/>
            <a:ext cx="51663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319272"/>
            <a:ext cx="128016" cy="114300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465576"/>
            <a:ext cx="46177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Defensive programming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4A5260"/>
                </a:solidFill>
                <a:latin typeface="Arial"/>
              </a:rPr>
              <a:t>Validate everything; refuse what is unsafe; revert fast.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626864"/>
            <a:ext cx="51663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4626864"/>
            <a:ext cx="128016" cy="114300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773168"/>
            <a:ext cx="46177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Pre-flight checks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4A5260"/>
                </a:solidFill>
                <a:latin typeface="Arial"/>
              </a:rPr>
              <a:t>Read before you write; plan before you execute; verify before finishing.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4626864"/>
            <a:ext cx="51663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626864"/>
            <a:ext cx="128016" cy="114300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4773168"/>
            <a:ext cx="46177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Self-hosting as CI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4A5260"/>
                </a:solidFill>
                <a:latin typeface="Arial"/>
              </a:rPr>
              <a:t>Use the system to build the system; bugs hurt the builder.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10528"/>
            <a:ext cx="12191695" cy="27940"/>
          </a:xfrm>
          <a:prstGeom prst="rect">
            <a:avLst/>
          </a:prstGeom>
          <a:solidFill>
            <a:srgbClr val="E9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4A5260"/>
                </a:solidFill>
                <a:latin typeface="Arial"/>
              </a:rPr>
              <a:t>KISS Sorcar  ·  K. Sen, UC Berkeley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547104"/>
            <a:ext cx="1307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88A00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R  E  A  C  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The software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4A5260"/>
                </a:solidFill>
                <a:latin typeface="Arial"/>
              </a:rPr>
              <a:t>One agent architecture drove every tool below — no per-tool customization.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423160"/>
            <a:ext cx="5166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128016" cy="868680"/>
          </a:xfrm>
          <a:prstGeom prst="rect">
            <a:avLst/>
          </a:prstGeom>
          <a:solidFill>
            <a:srgbClr val="3B7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532888"/>
            <a:ext cx="46177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003262"/>
                </a:solidFill>
                <a:latin typeface="Arial"/>
              </a:rPr>
              <a:t>Languages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A5260"/>
                </a:solidFill>
                <a:latin typeface="Arial"/>
              </a:rPr>
              <a:t>Python · TypeScript · JavaScript · CSS · HTML · LaTeX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2423160"/>
            <a:ext cx="5166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2423160"/>
            <a:ext cx="128016" cy="868680"/>
          </a:xfrm>
          <a:prstGeom prst="rect">
            <a:avLst/>
          </a:prstGeom>
          <a:solidFill>
            <a:srgbClr val="3B7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532888"/>
            <a:ext cx="46177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003262"/>
                </a:solidFill>
                <a:latin typeface="Arial"/>
              </a:rPr>
              <a:t>Build &amp; tooling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A5260"/>
                </a:solidFill>
                <a:latin typeface="Arial"/>
              </a:rPr>
              <a:t>uv · npm · pdflatex · BibTeX · pytest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438144"/>
            <a:ext cx="5166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3438144"/>
            <a:ext cx="128016" cy="868680"/>
          </a:xfrm>
          <a:prstGeom prst="rect">
            <a:avLst/>
          </a:prstGeom>
          <a:solidFill>
            <a:srgbClr val="3B7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547872"/>
            <a:ext cx="46177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003262"/>
                </a:solidFill>
                <a:latin typeface="Arial"/>
              </a:rPr>
              <a:t>Version control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A5260"/>
                </a:solidFill>
                <a:latin typeface="Arial"/>
              </a:rPr>
              <a:t>Git · GitHub · worktree-per-task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3438144"/>
            <a:ext cx="5166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438144"/>
            <a:ext cx="128016" cy="868680"/>
          </a:xfrm>
          <a:prstGeom prst="rect">
            <a:avLst/>
          </a:prstGeom>
          <a:solidFill>
            <a:srgbClr val="3B7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547872"/>
            <a:ext cx="46177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003262"/>
                </a:solidFill>
                <a:latin typeface="Arial"/>
              </a:rPr>
              <a:t>Automation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A5260"/>
                </a:solidFill>
                <a:latin typeface="Arial"/>
              </a:rPr>
              <a:t>Playwright · Chromium · cron daemon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453128"/>
            <a:ext cx="5166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4453128"/>
            <a:ext cx="128016" cy="868680"/>
          </a:xfrm>
          <a:prstGeom prst="rect">
            <a:avLst/>
          </a:prstGeom>
          <a:solidFill>
            <a:srgbClr val="3B7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562856"/>
            <a:ext cx="46177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003262"/>
                </a:solidFill>
                <a:latin typeface="Arial"/>
              </a:rPr>
              <a:t>Remote &amp; infra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A5260"/>
                </a:solidFill>
                <a:latin typeface="Arial"/>
              </a:rPr>
              <a:t>Cloudflare Tunnels · TLS/WSS · Docker · ntfy.sh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4453128"/>
            <a:ext cx="5166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453128"/>
            <a:ext cx="128016" cy="868680"/>
          </a:xfrm>
          <a:prstGeom prst="rect">
            <a:avLst/>
          </a:prstGeom>
          <a:solidFill>
            <a:srgbClr val="3B7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4562856"/>
            <a:ext cx="46177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003262"/>
                </a:solidFill>
                <a:latin typeface="Arial"/>
              </a:rPr>
              <a:t>Data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A5260"/>
                </a:solidFill>
                <a:latin typeface="Arial"/>
              </a:rPr>
              <a:t>SQLite (sorcar.db)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468112"/>
            <a:ext cx="5166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468112"/>
            <a:ext cx="128016" cy="868680"/>
          </a:xfrm>
          <a:prstGeom prst="rect">
            <a:avLst/>
          </a:prstGeom>
          <a:solidFill>
            <a:srgbClr val="3B7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5577840"/>
            <a:ext cx="46177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003262"/>
                </a:solidFill>
                <a:latin typeface="Arial"/>
              </a:rPr>
              <a:t>Assistants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A5260"/>
                </a:solidFill>
                <a:latin typeface="Arial"/>
              </a:rPr>
              <a:t>Govee · Slack · iMessage · WhatsApp · Gmail · Resend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5468112"/>
            <a:ext cx="5166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5468112"/>
            <a:ext cx="128016" cy="868680"/>
          </a:xfrm>
          <a:prstGeom prst="rect">
            <a:avLst/>
          </a:prstGeom>
          <a:solidFill>
            <a:srgbClr val="3B7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5577840"/>
            <a:ext cx="46177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003262"/>
                </a:solidFill>
                <a:latin typeface="Arial"/>
              </a:rPr>
              <a:t>Media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A5260"/>
                </a:solidFill>
                <a:latin typeface="Arial"/>
              </a:rPr>
              <a:t>python-pptx · Final Cut Pro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10528"/>
            <a:ext cx="12191695" cy="27940"/>
          </a:xfrm>
          <a:prstGeom prst="rect">
            <a:avLst/>
          </a:prstGeom>
          <a:solidFill>
            <a:srgbClr val="E9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4A5260"/>
                </a:solidFill>
                <a:latin typeface="Arial"/>
              </a:rPr>
              <a:t>KISS Sorcar  ·  K. Sen, UC Berkeley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547104"/>
            <a:ext cx="1307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88A00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T  H  E     S  P  E 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The system prompt as engineering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5852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4A5260"/>
                </a:solidFill>
                <a:latin typeface="Arial"/>
              </a:rPr>
              <a:t>A structured, human-readable spec — XML-tagged sections, each encoding one principle.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58521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600"/>
              </a:spcAft>
            </a:pPr>
            <a:r>
              <a:rPr sz="1800" b="1">
                <a:solidFill>
                  <a:srgbClr val="FDB515"/>
                </a:solidFill>
                <a:latin typeface="Arial"/>
              </a:rPr>
              <a:t>—  </a:t>
            </a:r>
            <a:r>
              <a:rPr sz="1800" b="1">
                <a:solidFill>
                  <a:srgbClr val="003262"/>
                </a:solidFill>
                <a:latin typeface="Arial"/>
              </a:rPr>
              <a:t>Prompt as test oracle:  </a:t>
            </a:r>
            <a:r>
              <a:rPr sz="1800">
                <a:solidFill>
                  <a:srgbClr val="1A1F2B"/>
                </a:solidFill>
                <a:latin typeface="Arial"/>
              </a:rPr>
              <a:t>audit compliance from the log, write a real-LLM test, then patch the prompt.</a:t>
            </a:r>
          </a:p>
          <a:p>
            <a:pPr algn="l">
              <a:lnSpc>
                <a:spcPct val="106000"/>
              </a:lnSpc>
              <a:spcAft>
                <a:spcPts val="1600"/>
              </a:spcAft>
            </a:pPr>
            <a:r>
              <a:rPr sz="1800" b="1">
                <a:solidFill>
                  <a:srgbClr val="FDB515"/>
                </a:solidFill>
                <a:latin typeface="Arial"/>
              </a:rPr>
              <a:t>—  </a:t>
            </a:r>
            <a:r>
              <a:rPr sz="1800" b="1">
                <a:solidFill>
                  <a:srgbClr val="003262"/>
                </a:solidFill>
                <a:latin typeface="Arial"/>
              </a:rPr>
              <a:t>Evolved voice:  </a:t>
            </a:r>
            <a:r>
              <a:rPr sz="1800">
                <a:solidFill>
                  <a:srgbClr val="1A1F2B"/>
                </a:solidFill>
                <a:latin typeface="Arial"/>
              </a:rPr>
              <a:t>from aggressive imperatives to calm, explanatory framing — the agent performed better.</a:t>
            </a:r>
          </a:p>
          <a:p>
            <a:pPr algn="l">
              <a:lnSpc>
                <a:spcPct val="106000"/>
              </a:lnSpc>
              <a:spcAft>
                <a:spcPts val="1600"/>
              </a:spcAft>
            </a:pPr>
            <a:r>
              <a:rPr sz="1800" b="1">
                <a:solidFill>
                  <a:srgbClr val="FDB515"/>
                </a:solidFill>
                <a:latin typeface="Arial"/>
              </a:rPr>
              <a:t>—  </a:t>
            </a:r>
            <a:r>
              <a:rPr sz="1800" b="1">
                <a:solidFill>
                  <a:srgbClr val="003262"/>
                </a:solidFill>
                <a:latin typeface="Arial"/>
              </a:rPr>
              <a:t>Every rule names a failure mode:  </a:t>
            </a:r>
            <a:r>
              <a:rPr sz="1800">
                <a:solidFill>
                  <a:srgbClr val="1A1F2B"/>
                </a:solidFill>
                <a:latin typeface="Arial"/>
              </a:rPr>
              <a:t>a specific action and a specific verification, refined iteratively.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0" y="1828800"/>
            <a:ext cx="4297680" cy="4297680"/>
          </a:xfrm>
          <a:prstGeom prst="rect">
            <a:avLst/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040880" y="1828800"/>
            <a:ext cx="4297680" cy="109728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60920" y="2148840"/>
            <a:ext cx="36576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7FD3F0"/>
                </a:solidFill>
                <a:latin typeface="Consolas"/>
              </a:rPr>
              <a:t>&lt;identity&gt;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7FD3F0"/>
                </a:solidFill>
                <a:latin typeface="Consolas"/>
              </a:rPr>
              <a:t>&lt;visibility_constraint&gt;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7FD3F0"/>
                </a:solidFill>
                <a:latin typeface="Consolas"/>
              </a:rPr>
              <a:t>&lt;tool_rules&gt;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7FD3F0"/>
                </a:solidFill>
                <a:latin typeface="Consolas"/>
              </a:rPr>
              <a:t>&lt;web_research&gt;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7FD3F0"/>
                </a:solidFill>
                <a:latin typeface="Consolas"/>
              </a:rPr>
              <a:t>&lt;code_style&gt;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7FD3F0"/>
                </a:solidFill>
                <a:latin typeface="Consolas"/>
              </a:rPr>
              <a:t>&lt;workflow&gt;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7FD3F0"/>
                </a:solidFill>
                <a:latin typeface="Consolas"/>
              </a:rPr>
              <a:t>&lt;testing&gt;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7FD3F0"/>
                </a:solidFill>
                <a:latin typeface="Consolas"/>
              </a:rPr>
              <a:t>&lt;pre_finish_verification&gt;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7FD3F0"/>
                </a:solidFill>
                <a:latin typeface="Consolas"/>
              </a:rPr>
              <a:t>&lt;sorcar_specific&gt;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10528"/>
            <a:ext cx="12191695" cy="27940"/>
          </a:xfrm>
          <a:prstGeom prst="rect">
            <a:avLst/>
          </a:prstGeom>
          <a:solidFill>
            <a:srgbClr val="E9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4A5260"/>
                </a:solidFill>
                <a:latin typeface="Arial"/>
              </a:rPr>
              <a:t>KISS Sorcar  ·  K. Sen, UC Berkeley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47104"/>
            <a:ext cx="1307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88A00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L  E  S  S  O  N  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What the patterns reveal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6070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600"/>
              </a:spcAft>
            </a:pPr>
            <a:r>
              <a:rPr sz="2000" b="1">
                <a:solidFill>
                  <a:srgbClr val="FDB515"/>
                </a:solidFill>
                <a:latin typeface="Arial"/>
              </a:rPr>
              <a:t>—  </a:t>
            </a:r>
            <a:r>
              <a:rPr sz="2000" b="1">
                <a:solidFill>
                  <a:srgbClr val="003262"/>
                </a:solidFill>
                <a:latin typeface="Arial"/>
              </a:rPr>
              <a:t>The role shifts:  </a:t>
            </a:r>
            <a:r>
              <a:rPr sz="2000">
                <a:solidFill>
                  <a:srgbClr val="1A1F2B"/>
                </a:solidFill>
                <a:latin typeface="Arial"/>
              </a:rPr>
              <a:t>from writing code to directing and verifying an agent that writes code — discipline lives in task phrasing.</a:t>
            </a:r>
          </a:p>
          <a:p>
            <a:pPr algn="l">
              <a:lnSpc>
                <a:spcPct val="106000"/>
              </a:lnSpc>
              <a:spcAft>
                <a:spcPts val="1600"/>
              </a:spcAft>
            </a:pPr>
            <a:r>
              <a:rPr sz="2000" b="1">
                <a:solidFill>
                  <a:srgbClr val="FDB515"/>
                </a:solidFill>
                <a:latin typeface="Arial"/>
              </a:rPr>
              <a:t>—  </a:t>
            </a:r>
            <a:r>
              <a:rPr sz="2000" b="1">
                <a:solidFill>
                  <a:srgbClr val="003262"/>
                </a:solidFill>
                <a:latin typeface="Arial"/>
              </a:rPr>
              <a:t>Natural language is precise enough:  </a:t>
            </a:r>
            <a:r>
              <a:rPr sz="2000">
                <a:solidFill>
                  <a:srgbClr val="1A1F2B"/>
                </a:solidFill>
                <a:latin typeface="Arial"/>
              </a:rPr>
              <a:t>when explanation and edit come from the same agent over the same source, vague instructions land.</a:t>
            </a:r>
          </a:p>
          <a:p>
            <a:pPr algn="l">
              <a:lnSpc>
                <a:spcPct val="106000"/>
              </a:lnSpc>
              <a:spcAft>
                <a:spcPts val="1600"/>
              </a:spcAft>
            </a:pPr>
            <a:r>
              <a:rPr sz="2000" b="1">
                <a:solidFill>
                  <a:srgbClr val="FDB515"/>
                </a:solidFill>
                <a:latin typeface="Arial"/>
              </a:rPr>
              <a:t>—  </a:t>
            </a:r>
            <a:r>
              <a:rPr sz="2000" b="1">
                <a:solidFill>
                  <a:srgbClr val="003262"/>
                </a:solidFill>
                <a:latin typeface="Arial"/>
              </a:rPr>
              <a:t>The self-hosting paradox:  </a:t>
            </a:r>
            <a:r>
              <a:rPr sz="2000">
                <a:solidFill>
                  <a:srgbClr val="1A1F2B"/>
                </a:solidFill>
                <a:latin typeface="Arial"/>
              </a:rPr>
              <a:t>the tool must be good enough to build itself; resolved by bootstrapping, version by version.</a:t>
            </a:r>
          </a:p>
          <a:p>
            <a:pPr algn="l">
              <a:lnSpc>
                <a:spcPct val="106000"/>
              </a:lnSpc>
              <a:spcAft>
                <a:spcPts val="1600"/>
              </a:spcAft>
            </a:pPr>
            <a:r>
              <a:rPr sz="2000" b="1">
                <a:solidFill>
                  <a:srgbClr val="FDB515"/>
                </a:solidFill>
                <a:latin typeface="Arial"/>
              </a:rPr>
              <a:t>—  </a:t>
            </a:r>
            <a:r>
              <a:rPr sz="2000" b="1">
                <a:solidFill>
                  <a:srgbClr val="003262"/>
                </a:solidFill>
                <a:latin typeface="Arial"/>
              </a:rPr>
              <a:t>Cost of the approach:  </a:t>
            </a:r>
            <a:r>
              <a:rPr sz="2000">
                <a:solidFill>
                  <a:srgbClr val="1A1F2B"/>
                </a:solidFill>
                <a:latin typeface="Arial"/>
              </a:rPr>
              <a:t>~1 in 90 tasks needed a defensive revert — but every surviving change is validated by its own maintainer.</a:t>
            </a:r>
          </a:p>
          <a:p>
            <a:pPr algn="l">
              <a:lnSpc>
                <a:spcPct val="106000"/>
              </a:lnSpc>
              <a:spcAft>
                <a:spcPts val="1600"/>
              </a:spcAft>
            </a:pPr>
            <a:r>
              <a:rPr sz="2000" b="1">
                <a:solidFill>
                  <a:srgbClr val="FDB515"/>
                </a:solidFill>
                <a:latin typeface="Arial"/>
              </a:rPr>
              <a:t>—  </a:t>
            </a:r>
            <a:r>
              <a:rPr sz="2000" b="1">
                <a:solidFill>
                  <a:srgbClr val="003262"/>
                </a:solidFill>
                <a:latin typeface="Arial"/>
              </a:rPr>
              <a:t>A general-purpose companion:  </a:t>
            </a:r>
            <a:r>
              <a:rPr sz="2000">
                <a:solidFill>
                  <a:srgbClr val="1A1F2B"/>
                </a:solidFill>
                <a:latin typeface="Arial"/>
              </a:rPr>
              <a:t>because it is used all day, it becomes the interface for everything, not just coding.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27940"/>
          </a:xfrm>
          <a:prstGeom prst="rect">
            <a:avLst/>
          </a:prstGeom>
          <a:solidFill>
            <a:srgbClr val="E9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4A5260"/>
                </a:solidFill>
                <a:latin typeface="Arial"/>
              </a:rPr>
              <a:t>KISS Sorcar  ·  K. Sen, UC Berkeley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307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88A00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C  A  V  E  A  T  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Threats to validity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86000"/>
            <a:ext cx="10515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286000"/>
            <a:ext cx="146304" cy="1097280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86000"/>
            <a:ext cx="3291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003262"/>
                </a:solidFill>
                <a:latin typeface="Arial"/>
              </a:rPr>
              <a:t>Single developer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286000"/>
            <a:ext cx="64922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4A5260"/>
                </a:solidFill>
                <a:latin typeface="Arial"/>
              </a:rPr>
              <a:t>All 3,099 tasks came from one person; other developers may differ.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611880"/>
            <a:ext cx="10515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3611880"/>
            <a:ext cx="146304" cy="1097280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611880"/>
            <a:ext cx="3291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003262"/>
                </a:solidFill>
                <a:latin typeface="Arial"/>
              </a:rPr>
              <a:t>Single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611880"/>
            <a:ext cx="64922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4A5260"/>
                </a:solidFill>
                <a:latin typeface="Arial"/>
              </a:rPr>
              <a:t>Patterns are specific to KISS Sorcar's architecture.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4937760"/>
            <a:ext cx="146304" cy="1097280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937760"/>
            <a:ext cx="3291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003262"/>
                </a:solidFill>
                <a:latin typeface="Arial"/>
              </a:rPr>
              <a:t>Self-hosting bias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937760"/>
            <a:ext cx="64922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4A5260"/>
                </a:solidFill>
                <a:latin typeface="Arial"/>
              </a:rPr>
              <a:t>The design is optimized for tasks the agent already does well.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10528"/>
            <a:ext cx="12191695" cy="27940"/>
          </a:xfrm>
          <a:prstGeom prst="rect">
            <a:avLst/>
          </a:prstGeom>
          <a:solidFill>
            <a:srgbClr val="E9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4A5260"/>
                </a:solidFill>
                <a:latin typeface="Arial"/>
              </a:rPr>
              <a:t>KISS Sorcar  ·  K. Sen, UC Berkeley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547104"/>
            <a:ext cx="1307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88A00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T  A  K  E  A  W  A  Y  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6070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300" b="1">
                <a:solidFill>
                  <a:srgbClr val="FDB515"/>
                </a:solidFill>
                <a:latin typeface="Arial"/>
              </a:rPr>
              <a:t>—  </a:t>
            </a:r>
            <a:r>
              <a:rPr sz="2300">
                <a:solidFill>
                  <a:srgbClr val="1A1F2B"/>
                </a:solidFill>
                <a:latin typeface="Arial"/>
              </a:rPr>
              <a:t>Seven patterns emerged from 44 days of building KISS Sorcar with itself.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300" b="1">
                <a:solidFill>
                  <a:srgbClr val="FDB515"/>
                </a:solidFill>
                <a:latin typeface="Arial"/>
              </a:rPr>
              <a:t>—  </a:t>
            </a:r>
            <a:r>
              <a:rPr sz="2300">
                <a:solidFill>
                  <a:srgbClr val="1A1F2B"/>
                </a:solidFill>
                <a:latin typeface="Arial"/>
              </a:rPr>
              <a:t>Each maps to a decades-old software engineering principle.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300" b="1">
                <a:solidFill>
                  <a:srgbClr val="FDB515"/>
                </a:solidFill>
                <a:latin typeface="Arial"/>
              </a:rPr>
              <a:t>—  </a:t>
            </a:r>
            <a:r>
              <a:rPr sz="2300">
                <a:solidFill>
                  <a:srgbClr val="1A1F2B"/>
                </a:solidFill>
                <a:latin typeface="Arial"/>
              </a:rPr>
              <a:t>One 2,400-line framework and a single structured prompt wrote code in five languages, controlled lights, planned trips, and refused an unethical request.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572000"/>
            <a:ext cx="10515600" cy="141732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4572000"/>
            <a:ext cx="10515600" cy="109728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4572000"/>
            <a:ext cx="9784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2100" b="0" i="1">
                <a:solidFill>
                  <a:srgbClr val="FFFFFF"/>
                </a:solidFill>
                <a:latin typeface="Arial"/>
              </a:rPr>
              <a:t>The surprise is not the principles — they are decades old. The surprise is that encoding them in a prompt and a simple layered architecture produces an assistant that works well enough to build itself.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91695" cy="27940"/>
          </a:xfrm>
          <a:prstGeom prst="rect">
            <a:avLst/>
          </a:prstGeom>
          <a:solidFill>
            <a:srgbClr val="E9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4A5260"/>
                </a:solidFill>
                <a:latin typeface="Arial"/>
              </a:rPr>
              <a:t>KISS Sorcar  ·  K. Sen, UC Berkeley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547104"/>
            <a:ext cx="1307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88A00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26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743200"/>
            <a:ext cx="2011680" cy="5080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5400" b="1" i="0">
                <a:solidFill>
                  <a:srgbClr val="FFFFFF"/>
                </a:solidFill>
                <a:latin typeface="Arial"/>
              </a:rPr>
              <a:t>Thank you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800"/>
              </a:spcAft>
            </a:pPr>
            <a:r>
              <a:rPr sz="2200" b="0" i="1">
                <a:solidFill>
                  <a:srgbClr val="FDB515"/>
                </a:solidFill>
                <a:latin typeface="Arial"/>
              </a:rPr>
              <a:t>Keep it simple — and let the system build itself.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E9E5D8"/>
                </a:solidFill>
                <a:latin typeface="Arial"/>
              </a:rPr>
              <a:t>Koushik Sen  ·  ksen@berkeley.edu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9FC4D8"/>
                </a:solidFill>
                <a:latin typeface="Arial"/>
              </a:rPr>
              <a:t>github.com/ksenxx/kiss_ai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