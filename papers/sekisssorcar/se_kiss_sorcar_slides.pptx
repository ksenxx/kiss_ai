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8" r:id="rId29"/>
    <p:sldId id="279" r:id="rId3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26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508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DB515"/>
                </a:solidFill>
                <a:latin typeface="Arial"/>
              </a:rPr>
              <a:t>C  A  S  E     S  T  U  D 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Arial"/>
              </a:rPr>
              <a:t>Software Engineering KISS Sorcar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800"/>
              </a:spcAft>
            </a:pPr>
            <a:r>
              <a:rPr sz="5200" b="1" i="0">
                <a:solidFill>
                  <a:srgbClr val="FDB515"/>
                </a:solidFill>
                <a:latin typeface="Arial"/>
              </a:rPr>
              <a:t>with KISS Sorcar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1">
                <a:solidFill>
                  <a:srgbClr val="E9E5D8"/>
                </a:solidFill>
                <a:latin typeface="Arial"/>
              </a:rPr>
              <a:t>Building a self-hosting AI assistant and IDE — and analyzing 3,099 tasks it ran on its own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Koushik Sen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E9E5D8"/>
                </a:solidFill>
                <a:latin typeface="Arial"/>
              </a:rPr>
              <a:t>EECS Department, UC Berkeley  ·  ksen@berkeley.edu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920240"/>
            <a:ext cx="146304" cy="201168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828800"/>
            <a:ext cx="96926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4000" b="0" i="1">
                <a:solidFill>
                  <a:srgbClr val="FFFFFF"/>
                </a:solidFill>
                <a:latin typeface="Arial"/>
              </a:rPr>
              <a:t>“Everything should be made as simple as possible, but not simpler.”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  <a:spcAft>
                <a:spcPts val="800"/>
              </a:spcAft>
            </a:pPr>
            <a:r>
              <a:rPr sz="2200" b="1" i="0">
                <a:solidFill>
                  <a:srgbClr val="FDB515"/>
                </a:solidFill>
                <a:latin typeface="Arial"/>
              </a:rPr>
              <a:t>Albert Einstein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93776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 i="1">
                <a:solidFill>
                  <a:srgbClr val="E9E5D8"/>
                </a:solidFill>
                <a:latin typeface="Arial"/>
              </a:rPr>
              <a:t>The KISS philosophy — each component does one thing, each concern lives in one place, no unnecessary abstraction.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T  H  E     B  I  G     I  D  E 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We built it with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From the second month on, every code change, bug fix, feature, and paper draft was produced by KISS Sorcar operating on its own repository. Self-hosting turns the system into a continuous stress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254203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542032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429000"/>
            <a:ext cx="2084832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003262"/>
                </a:solidFill>
                <a:latin typeface="Arial"/>
              </a:rPr>
              <a:t>3,099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A5260"/>
                </a:solidFill>
                <a:latin typeface="Arial"/>
              </a:rPr>
              <a:t>tasks issued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7872" y="3108960"/>
            <a:ext cx="254203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47872" y="3108960"/>
            <a:ext cx="2542032" cy="109728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3429000"/>
            <a:ext cx="2084832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003262"/>
                </a:solidFill>
                <a:latin typeface="Arial"/>
              </a:rPr>
              <a:t>44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A5260"/>
                </a:solidFill>
                <a:latin typeface="Arial"/>
              </a:rPr>
              <a:t>days of development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2784" y="3108960"/>
            <a:ext cx="254203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3108960"/>
            <a:ext cx="2542032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3429000"/>
            <a:ext cx="2084832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003262"/>
                </a:solidFill>
                <a:latin typeface="Arial"/>
              </a:rPr>
              <a:t>877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A5260"/>
                </a:solidFill>
                <a:latin typeface="Arial"/>
              </a:rPr>
              <a:t>chat sessions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97696" y="3108960"/>
            <a:ext cx="254203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7696" y="3108960"/>
            <a:ext cx="2542032" cy="109728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96" y="3429000"/>
            <a:ext cx="2084832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003262"/>
                </a:solidFill>
                <a:latin typeface="Arial"/>
              </a:rPr>
              <a:t>~2,400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A5260"/>
                </a:solidFill>
                <a:latin typeface="Arial"/>
              </a:rPr>
              <a:t>lines of agent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A  R  C  H  I  T  E  C  T  U  R 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A five-layer agent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4A5260"/>
                </a:solidFill>
                <a:latin typeface="Arial"/>
              </a:rPr>
              <a:t>Each layer adds exactly one concern — ~2,400 lines total.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146304" cy="676656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1.  KISS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423160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Budget-tracked ReAct loop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18688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18688"/>
            <a:ext cx="146304" cy="676656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2.  Relentless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18688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Automatic continuation across sub-sessions via summarization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014216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014216"/>
            <a:ext cx="146304" cy="676656"/>
          </a:xfrm>
          <a:prstGeom prst="rect">
            <a:avLst/>
          </a:prstGeom>
          <a:solidFill>
            <a:srgbClr val="559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014216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3.  Sorcar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014216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Coding tools, browser automation, parallel sub-agents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809744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809744"/>
            <a:ext cx="146304" cy="676656"/>
          </a:xfrm>
          <a:prstGeom prst="rect">
            <a:avLst/>
          </a:prstGeom>
          <a:solidFill>
            <a:srgbClr val="2F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809744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4.  Chat Sorcar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4809744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Persistent multi-turn chat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605272"/>
            <a:ext cx="10515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5605272"/>
            <a:ext cx="146304" cy="676656"/>
          </a:xfrm>
          <a:prstGeom prst="rect">
            <a:avLst/>
          </a:prstGeom>
          <a:solidFill>
            <a:srgbClr val="8A6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605272"/>
            <a:ext cx="30175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5.  Worktree Sorcar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5605272"/>
            <a:ext cx="67665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4A5260"/>
                </a:solidFill>
                <a:latin typeface="Arial"/>
              </a:rPr>
              <a:t>Git worktree isolation per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M  E  T  H  O  D  O  L  O  G 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Mining the system's own usage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Single source of truth:  </a:t>
            </a:r>
            <a:r>
              <a:rPr sz="2100">
                <a:solidFill>
                  <a:srgbClr val="1A1F2B"/>
                </a:solidFill>
                <a:latin typeface="Arial"/>
              </a:rPr>
              <a:t>every task flows through the Chat Sorcar Agent into ~/.kiss/sorcar.db — a complete, unfiltered record.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Small schema:  </a:t>
            </a:r>
            <a:r>
              <a:rPr sz="2100">
                <a:solidFill>
                  <a:srgbClr val="1A1F2B"/>
                </a:solidFill>
                <a:latin typeface="Arial"/>
              </a:rPr>
              <a:t>task_history, events, frequent_tasks, model_usage, file_usage tables capture prompts, trajectories, cost, and files.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Three extraction methods:  </a:t>
            </a:r>
            <a:r>
              <a:rPr sz="2100">
                <a:solidFill>
                  <a:srgbClr val="1A1F2B"/>
                </a:solidFill>
                <a:latin typeface="Arial"/>
              </a:rPr>
              <a:t>cluster by frequency, full-text LIKE queries over descriptions, and manual reading of representatives.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Scale:  </a:t>
            </a:r>
            <a:r>
              <a:rPr sz="2100">
                <a:solidFill>
                  <a:srgbClr val="1A1F2B"/>
                </a:solidFill>
                <a:latin typeface="Arial"/>
              </a:rPr>
              <a:t>3,099 tasks across 44 days group into 877 sessions — ~3.5 tasks per session, confirming an iterative workflow.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W  H  A  T     T  H  E     D  E  V  E  L  O  P  E  R     D  I 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Task distribution (3,099 tasks)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475488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6858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Category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874519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874519"/>
            <a:ext cx="1463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DB515"/>
                </a:solidFill>
                <a:latin typeface="Arial"/>
              </a:rPr>
              <a:t>Share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50007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50007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Bug finding, reproducing &amp; fixing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350007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~620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2350007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20%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752343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752343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Feature 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752343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~520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2752343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17%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154679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154679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UI / UX refinement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154679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154679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12%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557015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557015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Paper writing &amp; building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557015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~310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557015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10%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959351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959351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Code quality / refactoring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959351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~250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959351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8%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361687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361687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Testing &amp;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4361687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~210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361687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764023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764023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General assistance (weather, travel, stocks…)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764023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~210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4764023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7%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166359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166359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Git operations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5166359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~155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5166359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5568695"/>
            <a:ext cx="105156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568695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Greetings &amp; identity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5568695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~150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568695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5971031"/>
            <a:ext cx="10515600" cy="402336"/>
          </a:xfrm>
          <a:prstGeom prst="rect">
            <a:avLst/>
          </a:prstGeom>
          <a:solidFill>
            <a:srgbClr val="EF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5971031"/>
            <a:ext cx="69494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F2B"/>
                </a:solidFill>
                <a:latin typeface="Arial"/>
              </a:rPr>
              <a:t>Communication / smart-home / other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971031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~290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5971031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C88A00"/>
                </a:solidFill>
                <a:latin typeface="Arial"/>
              </a:rPr>
              <a:t>10%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F  I  N  D  I  N  G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Seven recurring usage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1168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Test-first bug fixing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01168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01168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01168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01168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Iterative feature construction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06324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06324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06324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Periodic code hygiene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06324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06324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306324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06324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Paper–code co-evolution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11480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1480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11480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Architecture investigation before change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11480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11480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11480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11480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System-prompt engineering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16636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5166360"/>
            <a:ext cx="640080" cy="86868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66360"/>
            <a:ext cx="640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 i="0">
                <a:solidFill>
                  <a:srgbClr val="FDB515"/>
                </a:solidFill>
                <a:latin typeface="Arial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166360"/>
            <a:ext cx="40690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Multi-channel general assistance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Test-first bug fixing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The most common pattern (~20% of tasks): report a bug, write a test that reproduces it, then fix the root cause and verify.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126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Three-step protocol:  </a:t>
            </a:r>
            <a:r>
              <a:rPr sz="1900">
                <a:solidFill>
                  <a:srgbClr val="1A1F2B"/>
                </a:solidFill>
                <a:latin typeface="Arial"/>
              </a:rPr>
              <a:t>report → reproduce with an integration test → fix root cause and confirm the test passes.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Evidence, not edits:  </a:t>
            </a:r>
            <a:r>
              <a:rPr sz="1900">
                <a:solidFill>
                  <a:srgbClr val="1A1F2B"/>
                </a:solidFill>
                <a:latin typeface="Arial"/>
              </a:rPr>
              <a:t>a test that fails before and passes after proves the bug was real and the fix addressed it.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Concurrency sub-class:  </a:t>
            </a:r>
            <a:r>
              <a:rPr sz="1900">
                <a:solidFill>
                  <a:srgbClr val="1A1F2B"/>
                </a:solidFill>
                <a:latin typeface="Arial"/>
              </a:rPr>
              <a:t>race conditions exposed by running many tabs and a remote server against one repo.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Defensive revert:  </a:t>
            </a:r>
            <a:r>
              <a:rPr sz="1900">
                <a:solidFill>
                  <a:srgbClr val="1A1F2B"/>
                </a:solidFill>
                <a:latin typeface="Arial"/>
              </a:rPr>
              <a:t>“get rid of the last commit” recurs 30+ times — undo first, re-attempt fresh.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78040" y="2743200"/>
            <a:ext cx="4160520" cy="3200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2743200"/>
            <a:ext cx="4160520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0" y="3063240"/>
            <a:ext cx="352044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FDB515"/>
                </a:solidFill>
                <a:latin typeface="Arial"/>
              </a:rPr>
              <a:t>From the log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 i="1">
                <a:solidFill>
                  <a:srgbClr val="FFFFFF"/>
                </a:solidFill>
                <a:latin typeface="Arial"/>
              </a:rPr>
              <a:t>“Can you reproduce the bug by writing an integration test? Then fix it.”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Iterative feature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Features were never built in one task. Describe → observe → refine, often across 5–20 tasks in a single chat session.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126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Remote web server:  </a:t>
            </a:r>
            <a:r>
              <a:rPr sz="1900">
                <a:solidFill>
                  <a:srgbClr val="1A1F2B"/>
                </a:solidFill>
                <a:latin typeface="Arial"/>
              </a:rPr>
              <a:t>started with one task, hardened over 60+ tasks — TLS, mobile layout, auth, URL discovery, robustness.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Spec emerges from use:  </a:t>
            </a:r>
            <a:r>
              <a:rPr sz="1900">
                <a:solidFill>
                  <a:srgbClr val="1A1F2B"/>
                </a:solidFill>
                <a:latin typeface="Arial"/>
              </a:rPr>
              <a:t>no design document; each refinement was prompted by actually using the feature and hitting a limit.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Interleaved with fixing:  </a:t>
            </a:r>
            <a:r>
              <a:rPr sz="1900">
                <a:solidFill>
                  <a:srgbClr val="1A1F2B"/>
                </a:solidFill>
                <a:latin typeface="Arial"/>
              </a:rPr>
              <a:t>~half the follow-ups in a feature session are themselves test-first bug reports.</a:t>
            </a:r>
          </a:p>
          <a:p>
            <a:pPr algn="l">
              <a:lnSpc>
                <a:spcPct val="106000"/>
              </a:lnSpc>
              <a:spcAft>
                <a:spcPts val="1400"/>
              </a:spcAft>
            </a:pPr>
            <a:r>
              <a:rPr sz="1900" b="1">
                <a:solidFill>
                  <a:srgbClr val="FDB515"/>
                </a:solidFill>
                <a:latin typeface="Arial"/>
              </a:rPr>
              <a:t>—  </a:t>
            </a:r>
            <a:r>
              <a:rPr sz="1900" b="1">
                <a:solidFill>
                  <a:srgbClr val="003262"/>
                </a:solidFill>
                <a:latin typeface="Arial"/>
              </a:rPr>
              <a:t>Demo mode:  </a:t>
            </a:r>
            <a:r>
              <a:rPr sz="1900">
                <a:solidFill>
                  <a:srgbClr val="1A1F2B"/>
                </a:solidFill>
                <a:latin typeface="Arial"/>
              </a:rPr>
              <a:t>refined over many days — a feature is never “done” when it first works.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78040" y="2743200"/>
            <a:ext cx="4160520" cy="3200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2743200"/>
            <a:ext cx="4160520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0" y="3063240"/>
            <a:ext cx="3520440" cy="2651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FDB515"/>
                </a:solidFill>
                <a:latin typeface="Arial"/>
              </a:rPr>
              <a:t>From the log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 i="1">
                <a:solidFill>
                  <a:srgbClr val="FFFFFF"/>
                </a:solidFill>
                <a:latin typeface="Arial"/>
              </a:rPr>
              <a:t>“…implement a feature where the user can access KISS Sorcar from any device with a browser.”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Periodic code hygiene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Every 20–30 tasks, the developer ran a dedicated cleanup sweep — decoupled from feature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“uv run check --full and fix”:  </a:t>
            </a:r>
            <a:r>
              <a:rPr sz="2100">
                <a:solidFill>
                  <a:srgbClr val="1A1F2B"/>
                </a:solidFill>
                <a:latin typeface="Arial"/>
              </a:rPr>
              <a:t>the 2nd most frequent command in the log (50 verbatim occurrences).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Directory audits:  </a:t>
            </a:r>
            <a:r>
              <a:rPr sz="2100">
                <a:solidFill>
                  <a:srgbClr val="1A1F2B"/>
                </a:solidFill>
                <a:latin typeface="Arial"/>
              </a:rPr>
              <a:t>“find all bugs, redundancies, and inconsistencies” invokes a collect-then-act discipline.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Honest test oracle:  </a:t>
            </a:r>
            <a:r>
              <a:rPr sz="2100">
                <a:solidFill>
                  <a:srgbClr val="1A1F2B"/>
                </a:solidFill>
                <a:latin typeface="Arial"/>
              </a:rPr>
              <a:t>“fix tests only if there is no bug in the code — report the bugs” guards against weakened assertions.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Garbage collection:  </a:t>
            </a:r>
            <a:r>
              <a:rPr sz="2100">
                <a:solidFill>
                  <a:srgbClr val="1A1F2B"/>
                </a:solidFill>
                <a:latin typeface="Arial"/>
              </a:rPr>
              <a:t>lets small inconsistencies accumulate, then clears them in one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Paper–code co-evolution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The system prompt and the paper describing it evolve together — a genuinely bidirectional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Code → paper:  </a:t>
            </a:r>
            <a:r>
              <a:rPr sz="2100">
                <a:solidFill>
                  <a:srgbClr val="1A1F2B"/>
                </a:solidFill>
                <a:latin typeface="Arial"/>
              </a:rPr>
              <a:t>“SYSTEM.md has changed — update and build the paper.”  “build the paper” appears in 73 tasks.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Paper → code:  </a:t>
            </a:r>
            <a:r>
              <a:rPr sz="2100">
                <a:solidFill>
                  <a:srgbClr val="1A1F2B"/>
                </a:solidFill>
                <a:latin typeface="Arial"/>
              </a:rPr>
              <a:t>“I fixed typos in the prompt in the paper — update SYSTEM.md” uses the paper as source of truth.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Consistency audits:  </a:t>
            </a:r>
            <a:r>
              <a:rPr sz="2100">
                <a:solidFill>
                  <a:srgbClr val="1A1F2B"/>
                </a:solidFill>
                <a:latin typeface="Arial"/>
              </a:rPr>
              <a:t>the same agent reads both LaTeX and code, so divergence is mechanically detectable.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Living documentation:  </a:t>
            </a:r>
            <a:r>
              <a:rPr sz="2100">
                <a:solidFill>
                  <a:srgbClr val="1A1F2B"/>
                </a:solidFill>
                <a:latin typeface="Arial"/>
              </a:rPr>
              <a:t>the artifact describing the system is maintained by the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Architecture investigation before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Before non-trivial changes, the developer asks the agent to explain the current design — “understand before you change.”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Explain first:  </a:t>
            </a:r>
            <a:r>
              <a:rPr sz="2100">
                <a:solidFill>
                  <a:srgbClr val="1A1F2B"/>
                </a:solidFill>
                <a:latin typeface="Arial"/>
              </a:rPr>
              <a:t>“show me the step-by-step workflow of web_server.py”; “what happens when two tasks run at once?”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No translation loss:  </a:t>
            </a:r>
            <a:r>
              <a:rPr sz="2100">
                <a:solidFill>
                  <a:srgbClr val="1A1F2B"/>
                </a:solidFill>
                <a:latin typeface="Arial"/>
              </a:rPr>
              <a:t>the same agent produces both the explanation and the subsequent edits over the same source.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Visual variant:  </a:t>
            </a:r>
            <a:r>
              <a:rPr sz="2100">
                <a:solidFill>
                  <a:srgbClr val="1A1F2B"/>
                </a:solidFill>
                <a:latin typeface="Arial"/>
              </a:rPr>
              <a:t>“create a graph diagram of how the server-side files are related” before reorganizing them.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Front-loaded comprehension:  </a:t>
            </a:r>
            <a:r>
              <a:rPr sz="2100">
                <a:solidFill>
                  <a:srgbClr val="1A1F2B"/>
                </a:solidFill>
                <a:latin typeface="Arial"/>
              </a:rPr>
              <a:t>turns a vague aspiration into a precise, local edit request.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System-prompt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~100 tasks refined the system prompt itself — treated as production code, tested against observed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Log as test data:  </a:t>
            </a:r>
            <a:r>
              <a:rPr sz="2100">
                <a:solidFill>
                  <a:srgbClr val="1A1F2B"/>
                </a:solidFill>
                <a:latin typeface="Arial"/>
              </a:rPr>
              <a:t>“look at yesterday's tasks; which instructions are not being followed? Fix them.”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Mutation testing for a spec:  </a:t>
            </a:r>
            <a:r>
              <a:rPr sz="2100">
                <a:solidFill>
                  <a:srgbClr val="1A1F2B"/>
                </a:solidFill>
                <a:latin typeface="Arial"/>
              </a:rPr>
              <a:t>write a real-LLM test to confirm an observed deviation, then patch the prompt.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Reactive rules:  </a:t>
            </a:r>
            <a:r>
              <a:rPr sz="2100">
                <a:solidFill>
                  <a:srgbClr val="1A1F2B"/>
                </a:solidFill>
                <a:latin typeface="Arial"/>
              </a:rPr>
              <a:t>the tmp/ rule, the curl/wget ban, and the “visit ≥10 websites” rule were all added after the log exposed evasions.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Calmer voice:  </a:t>
            </a:r>
            <a:r>
              <a:rPr sz="2100">
                <a:solidFill>
                  <a:srgbClr val="1A1F2B"/>
                </a:solidFill>
                <a:latin typeface="Arial"/>
              </a:rPr>
              <a:t>evolved from “BE RELENTLESS” to “be rigorous, check facts, produce high-quality work.”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P  A  T  T  E  R  N  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Multi-channel general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The same prompt and architecture serve non-coding tasks — one agent, one prompt, one architecture, scaling across domains.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10607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Smart home:  </a:t>
            </a:r>
            <a:r>
              <a:rPr sz="2100">
                <a:solidFill>
                  <a:srgbClr val="1A1F2B"/>
                </a:solidFill>
                <a:latin typeface="Arial"/>
              </a:rPr>
              <a:t>Govee lights.   Travel: Yosemite trip planning.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Weather, shopping, finance:  </a:t>
            </a:r>
            <a:r>
              <a:rPr sz="2100">
                <a:solidFill>
                  <a:srgbClr val="1A1F2B"/>
                </a:solidFill>
                <a:latin typeface="Arial"/>
              </a:rPr>
              <a:t>current-data queries and ETF analysis.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Communication:  </a:t>
            </a:r>
            <a:r>
              <a:rPr sz="2100">
                <a:solidFill>
                  <a:srgbClr val="1A1F2B"/>
                </a:solidFill>
                <a:latin typeface="Arial"/>
              </a:rPr>
              <a:t>Slack, iMessage, Gmail — uniform third-party agent interface, no special routing.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100" b="1">
                <a:solidFill>
                  <a:srgbClr val="FDB515"/>
                </a:solidFill>
                <a:latin typeface="Arial"/>
              </a:rPr>
              <a:t>—  </a:t>
            </a:r>
            <a:r>
              <a:rPr sz="2100" b="1">
                <a:solidFill>
                  <a:srgbClr val="003262"/>
                </a:solidFill>
                <a:latin typeface="Arial"/>
              </a:rPr>
              <a:t>Same rigor off-task:  </a:t>
            </a:r>
            <a:r>
              <a:rPr sz="2100">
                <a:solidFill>
                  <a:srgbClr val="1A1F2B"/>
                </a:solidFill>
                <a:latin typeface="Arial"/>
              </a:rPr>
              <a:t>Web Research protocol applies; an unethical hacking request was refused with five legitimate alternatives.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C  A  S  E     S  T  U  D 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The explain-then-revise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0">
                <a:solidFill>
                  <a:srgbClr val="4A5260"/>
                </a:solidFill>
                <a:latin typeface="Arial"/>
              </a:rPr>
              <a:t>Redesigning the git-worktree merge workflow — six consecutive tasks, no file ever opened by hand.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338328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986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1  </a:t>
            </a:r>
            <a:r>
              <a:rPr sz="2000" b="1">
                <a:solidFill>
                  <a:srgbClr val="003262"/>
                </a:solidFill>
                <a:latin typeface="Arial"/>
              </a:rPr>
              <a:t>Elicit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290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Ask for a step-by-step account of the post-task git lifecycle.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697480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7408" y="2697480"/>
            <a:ext cx="338328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8986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2  </a:t>
            </a:r>
            <a:r>
              <a:rPr sz="2000" b="1">
                <a:solidFill>
                  <a:srgbClr val="003262"/>
                </a:solidFill>
                <a:latin typeface="Arial"/>
              </a:rPr>
              <a:t>Revise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34290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“Ask two questions instead of three” — edits six files across Python + TypeScript.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1856" y="2697480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1856" y="2697480"/>
            <a:ext cx="338328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0456" y="28986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3  </a:t>
            </a:r>
            <a:r>
              <a:rPr sz="2000" b="1">
                <a:solidFill>
                  <a:srgbClr val="003262"/>
                </a:solidFill>
                <a:latin typeface="Arial"/>
              </a:rPr>
              <a:t>Diagnose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4290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“Why do files show as committed on the original branch?” — traces a git reset HEAD.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498848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498848"/>
            <a:ext cx="338328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70001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4  </a:t>
            </a:r>
            <a:r>
              <a:rPr sz="2000" b="1">
                <a:solidFill>
                  <a:srgbClr val="003262"/>
                </a:solidFill>
                <a:latin typeface="Arial"/>
              </a:rPr>
              <a:t>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2303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“Review already happened in the worktree — fix it.” Replaces unstage with a guarded commit.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498848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07408" y="4498848"/>
            <a:ext cx="3383280" cy="9144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470001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5  </a:t>
            </a:r>
            <a:r>
              <a:rPr sz="2000" b="1">
                <a:solidFill>
                  <a:srgbClr val="003262"/>
                </a:solidFill>
                <a:latin typeface="Arial"/>
              </a:rPr>
              <a:t>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52303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Verify the dirty-working-tree invariant survived the simplification.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1856" y="4498848"/>
            <a:ext cx="33832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4498848"/>
            <a:ext cx="3383280" cy="9144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0456" y="470001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>
                <a:solidFill>
                  <a:srgbClr val="FDB515"/>
                </a:solidFill>
                <a:latin typeface="Arial"/>
              </a:rPr>
              <a:t>6  </a:t>
            </a:r>
            <a:r>
              <a:rPr sz="2000" b="1">
                <a:solidFill>
                  <a:srgbClr val="003262"/>
                </a:solidFill>
                <a:latin typeface="Arial"/>
              </a:rPr>
              <a:t>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6" y="523036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Confirm concurrent merges stay serialized by a per-repo lock.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W  H  Y     I  T     W  O  R  K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Each pattern maps to a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57984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KISS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One agent, one prompt, one architecture across all domains.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2011680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2011680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57984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Separation of concerns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Each layer / module owns exactly one concern.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19272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19272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65576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Test-first development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Write a failing test, then make it pass — no mocks.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319272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319272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465576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Defensive programming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Validate everything; refuse what is unsafe; revert fast.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626864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626864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773168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Pre-flight checks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Read before you write; plan before you execute; verify before finishing.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626864"/>
            <a:ext cx="5166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626864"/>
            <a:ext cx="128016" cy="11430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73168"/>
            <a:ext cx="4617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003262"/>
                </a:solidFill>
                <a:latin typeface="Arial"/>
              </a:rPr>
              <a:t>Self-hosting as CI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4A5260"/>
                </a:solidFill>
                <a:latin typeface="Arial"/>
              </a:rPr>
              <a:t>Use the system to build the system; bugs hurt the builder.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R  E  A  C 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The software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4A5260"/>
                </a:solidFill>
                <a:latin typeface="Arial"/>
              </a:rPr>
              <a:t>One agent architecture drove every tool below — no per-tool customization.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32888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Languages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Python · TypeScript · JavaScript · CSS · HTML · LaTeX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423160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423160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532888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Build &amp; tooling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uv · npm · pdflatex · BibTeX · pytest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38144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38144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547872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Version control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Git · GitHub · worktree-per-task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438144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438144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547872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Automation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Playwright · Chromium · cron daemon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453128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453128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62856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Remote &amp; infra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Cloudflare Tunnels · TLS/WSS · Docker · ntfy.sh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453128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453128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562856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Data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SQLite (sorcar.db)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468112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468112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577840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Assistants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Govee · Slack · iMessage · WhatsApp · Gmail · Resend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5468112"/>
            <a:ext cx="5166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5468112"/>
            <a:ext cx="128016" cy="868680"/>
          </a:xfrm>
          <a:prstGeom prst="rect">
            <a:avLst/>
          </a:prstGeom>
          <a:solidFill>
            <a:srgbClr val="3B7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5577840"/>
            <a:ext cx="46177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003262"/>
                </a:solidFill>
                <a:latin typeface="Arial"/>
              </a:rPr>
              <a:t>Media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A5260"/>
                </a:solidFill>
                <a:latin typeface="Arial"/>
              </a:rPr>
              <a:t>python-pptx · Final Cut 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T  H  E     S  P  E 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The system prompt as engineering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852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4A5260"/>
                </a:solidFill>
                <a:latin typeface="Arial"/>
              </a:rPr>
              <a:t>A structured, human-readable spec — XML-tagged sections, each encoding one principle.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5852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1800" b="1">
                <a:solidFill>
                  <a:srgbClr val="FDB515"/>
                </a:solidFill>
                <a:latin typeface="Arial"/>
              </a:rPr>
              <a:t>—  </a:t>
            </a:r>
            <a:r>
              <a:rPr sz="1800" b="1">
                <a:solidFill>
                  <a:srgbClr val="003262"/>
                </a:solidFill>
                <a:latin typeface="Arial"/>
              </a:rPr>
              <a:t>Prompt as test oracle:  </a:t>
            </a:r>
            <a:r>
              <a:rPr sz="1800">
                <a:solidFill>
                  <a:srgbClr val="1A1F2B"/>
                </a:solidFill>
                <a:latin typeface="Arial"/>
              </a:rPr>
              <a:t>audit compliance from the log, write a real-LLM test, then patch the prompt.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1800" b="1">
                <a:solidFill>
                  <a:srgbClr val="FDB515"/>
                </a:solidFill>
                <a:latin typeface="Arial"/>
              </a:rPr>
              <a:t>—  </a:t>
            </a:r>
            <a:r>
              <a:rPr sz="1800" b="1">
                <a:solidFill>
                  <a:srgbClr val="003262"/>
                </a:solidFill>
                <a:latin typeface="Arial"/>
              </a:rPr>
              <a:t>Evolved voice:  </a:t>
            </a:r>
            <a:r>
              <a:rPr sz="1800">
                <a:solidFill>
                  <a:srgbClr val="1A1F2B"/>
                </a:solidFill>
                <a:latin typeface="Arial"/>
              </a:rPr>
              <a:t>from aggressive imperatives to calm, explanatory framing — the agent performed better.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1800" b="1">
                <a:solidFill>
                  <a:srgbClr val="FDB515"/>
                </a:solidFill>
                <a:latin typeface="Arial"/>
              </a:rPr>
              <a:t>—  </a:t>
            </a:r>
            <a:r>
              <a:rPr sz="1800" b="1">
                <a:solidFill>
                  <a:srgbClr val="003262"/>
                </a:solidFill>
                <a:latin typeface="Arial"/>
              </a:rPr>
              <a:t>Every rule names a failure mode:  </a:t>
            </a:r>
            <a:r>
              <a:rPr sz="1800">
                <a:solidFill>
                  <a:srgbClr val="1A1F2B"/>
                </a:solidFill>
                <a:latin typeface="Arial"/>
              </a:rPr>
              <a:t>a specific action and a specific verification, refined iteratively.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828800"/>
            <a:ext cx="4297680" cy="4297680"/>
          </a:xfrm>
          <a:prstGeom prst="rect">
            <a:avLst/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0" y="1828800"/>
            <a:ext cx="4297680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2148840"/>
            <a:ext cx="3657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&lt;identity&gt;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&lt;visibility_constraint&gt;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&lt;tool_rules&gt;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&lt;web_research&gt;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&lt;code_style&gt;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&lt;workflow&gt;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&lt;testing&gt;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&lt;pre_finish_verification&gt;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7FD3F0"/>
                </a:solidFill>
                <a:latin typeface="Consolas"/>
              </a:rPr>
              <a:t>&lt;sorcar_specific&gt;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L  E  S  S  O  N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What the patterns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The role shifts:  </a:t>
            </a:r>
            <a:r>
              <a:rPr sz="2000">
                <a:solidFill>
                  <a:srgbClr val="1A1F2B"/>
                </a:solidFill>
                <a:latin typeface="Arial"/>
              </a:rPr>
              <a:t>from writing code to directing and verifying an agent that writes code — discipline lives in task phrasing.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Natural language is precise enough:  </a:t>
            </a:r>
            <a:r>
              <a:rPr sz="2000">
                <a:solidFill>
                  <a:srgbClr val="1A1F2B"/>
                </a:solidFill>
                <a:latin typeface="Arial"/>
              </a:rPr>
              <a:t>when explanation and edit come from the same agent over the same source, vague instructions land.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The self-hosting paradox:  </a:t>
            </a:r>
            <a:r>
              <a:rPr sz="2000">
                <a:solidFill>
                  <a:srgbClr val="1A1F2B"/>
                </a:solidFill>
                <a:latin typeface="Arial"/>
              </a:rPr>
              <a:t>the tool must be good enough to build itself; resolved by bootstrapping, version by version.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Cost of the approach:  </a:t>
            </a:r>
            <a:r>
              <a:rPr sz="2000">
                <a:solidFill>
                  <a:srgbClr val="1A1F2B"/>
                </a:solidFill>
                <a:latin typeface="Arial"/>
              </a:rPr>
              <a:t>~1 in 90 tasks needed a defensive revert — but every surviving change is validated by its own maintainer.</a:t>
            </a:r>
          </a:p>
          <a:p>
            <a:pPr algn="l">
              <a:lnSpc>
                <a:spcPct val="106000"/>
              </a:lnSpc>
              <a:spcAft>
                <a:spcPts val="1600"/>
              </a:spcAft>
            </a:pPr>
            <a:r>
              <a:rPr sz="2000" b="1">
                <a:solidFill>
                  <a:srgbClr val="FDB515"/>
                </a:solidFill>
                <a:latin typeface="Arial"/>
              </a:rPr>
              <a:t>—  </a:t>
            </a:r>
            <a:r>
              <a:rPr sz="2000" b="1">
                <a:solidFill>
                  <a:srgbClr val="003262"/>
                </a:solidFill>
                <a:latin typeface="Arial"/>
              </a:rPr>
              <a:t>A general-purpose companion:  </a:t>
            </a:r>
            <a:r>
              <a:rPr sz="2000">
                <a:solidFill>
                  <a:srgbClr val="1A1F2B"/>
                </a:solidFill>
                <a:latin typeface="Arial"/>
              </a:rPr>
              <a:t>because it is used all day, it becomes the interface for everything, not just coding.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C  A  V  E  A  T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Threats to validity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146304" cy="109728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3291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003262"/>
                </a:solidFill>
                <a:latin typeface="Arial"/>
              </a:rPr>
              <a:t>Single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286000"/>
            <a:ext cx="6492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4A5260"/>
                </a:solidFill>
                <a:latin typeface="Arial"/>
              </a:rPr>
              <a:t>All 3,099 tasks came from one person; other developers may differ.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10515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611880"/>
            <a:ext cx="146304" cy="109728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80"/>
            <a:ext cx="3291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003262"/>
                </a:solidFill>
                <a:latin typeface="Arial"/>
              </a:rPr>
              <a:t>Single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11880"/>
            <a:ext cx="6492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4A5260"/>
                </a:solidFill>
                <a:latin typeface="Arial"/>
              </a:rPr>
              <a:t>Patterns are specific to KISS Sorcar's architecture.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937760"/>
            <a:ext cx="146304" cy="109728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937760"/>
            <a:ext cx="3291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003262"/>
                </a:solidFill>
                <a:latin typeface="Arial"/>
              </a:rPr>
              <a:t>Self-hosting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937760"/>
            <a:ext cx="64922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4A5260"/>
                </a:solidFill>
                <a:latin typeface="Arial"/>
              </a:rPr>
              <a:t>The design is optimized for tasks the agent already does well.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C88A00"/>
                </a:solidFill>
                <a:latin typeface="Arial"/>
              </a:rPr>
              <a:t>T  A  K  E  A  W  A  Y 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3262"/>
                </a:solidFill>
                <a:latin typeface="Arial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300" b="1">
                <a:solidFill>
                  <a:srgbClr val="FDB515"/>
                </a:solidFill>
                <a:latin typeface="Arial"/>
              </a:rPr>
              <a:t>—  </a:t>
            </a:r>
            <a:r>
              <a:rPr sz="2300">
                <a:solidFill>
                  <a:srgbClr val="1A1F2B"/>
                </a:solidFill>
                <a:latin typeface="Arial"/>
              </a:rPr>
              <a:t>Seven patterns emerged from 44 days of building KISS Sorcar with itself.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300" b="1">
                <a:solidFill>
                  <a:srgbClr val="FDB515"/>
                </a:solidFill>
                <a:latin typeface="Arial"/>
              </a:rPr>
              <a:t>—  </a:t>
            </a:r>
            <a:r>
              <a:rPr sz="2300">
                <a:solidFill>
                  <a:srgbClr val="1A1F2B"/>
                </a:solidFill>
                <a:latin typeface="Arial"/>
              </a:rPr>
              <a:t>Each maps to a decades-old software engineering principle.</a:t>
            </a:r>
          </a:p>
          <a:p>
            <a:pPr algn="l">
              <a:lnSpc>
                <a:spcPct val="106000"/>
              </a:lnSpc>
              <a:spcAft>
                <a:spcPts val="1800"/>
              </a:spcAft>
            </a:pPr>
            <a:r>
              <a:rPr sz="2300" b="1">
                <a:solidFill>
                  <a:srgbClr val="FDB515"/>
                </a:solidFill>
                <a:latin typeface="Arial"/>
              </a:rPr>
              <a:t>—  </a:t>
            </a:r>
            <a:r>
              <a:rPr sz="2300">
                <a:solidFill>
                  <a:srgbClr val="1A1F2B"/>
                </a:solidFill>
                <a:latin typeface="Arial"/>
              </a:rPr>
              <a:t>One 2,400-line framework and a single structured prompt wrote code in five languages, controlled lights, planned trips, and refused an unethical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572000"/>
            <a:ext cx="10515600" cy="141732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572000"/>
            <a:ext cx="10515600" cy="109728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9784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0" i="1">
                <a:solidFill>
                  <a:srgbClr val="FFFFFF"/>
                </a:solidFill>
                <a:latin typeface="Arial"/>
              </a:rPr>
              <a:t>The surprise is not the principles — they are decades old. The surprise is that encoding them in a prompt and a simple layered architecture produces an assistant that works well enough to build itself.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27940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88A0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26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5080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 i="0">
                <a:solidFill>
                  <a:srgbClr val="FFFFFF"/>
                </a:solidFill>
                <a:latin typeface="Arial"/>
              </a:rPr>
              <a:t>Thank you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800"/>
              </a:spcAft>
            </a:pPr>
            <a:r>
              <a:rPr sz="2200" b="0" i="1">
                <a:solidFill>
                  <a:srgbClr val="FDB515"/>
                </a:solidFill>
                <a:latin typeface="Arial"/>
              </a:rPr>
              <a:t>Keep it simple — and let the system build itself.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E9E5D8"/>
                </a:solidFill>
                <a:latin typeface="Arial"/>
              </a:rPr>
              <a:t>Koushik Sen  ·  ksen@berkeley.edu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9FC4D8"/>
                </a:solidFill>
                <a:latin typeface="Arial"/>
              </a:rPr>
              <a:t>github.com/ksenxx/kiss_ai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C88A00"/>
                </a:solidFill>
                <a:latin typeface="Arial"/>
              </a:rPr>
              <a:t>F  R  O  M      T  H  E      L  O 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i="0">
                <a:solidFill>
                  <a:srgbClr val="003262"/>
                </a:solidFill>
                <a:latin typeface="Arial"/>
              </a:rPr>
              <a:t>Verbatim user tasks —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100" b="0" i="0">
                <a:solidFill>
                  <a:srgbClr val="4A5260"/>
                </a:solidFill>
                <a:latin typeface="Arial"/>
              </a:rPr>
              <a:t>Real, unedited requests recorded in sorcar.db — short natural language, one task at a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78608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TEST-FIRST BUG FIX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“Can you reproduce the bug by writing an integration test? Then fix it.”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377440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377440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578608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BUG REPORT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“ask_user_question is not showing its window in the web/mobile app.”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15284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15284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6452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CODE HYGIENE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“uv run check --full and fix” — the 2nd most frequent command (50×).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415284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415284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616452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DIRECTORY AUDIT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“Find all bugs, redundancies, and inconsistencies in agents/vscode/.”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453128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453128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54296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DEFENSIVE REVERT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“Can you get rid of the last commit to main?” — recurs 30+ times.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453128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453128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54296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ITERATIVE FEATURE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“Let the user access KISS Sorcar from any device with a browser.”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490972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490972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692140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INVESTIGATE FIRST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“Show me the detailed step-by-step workflow of web_server.py.”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5490972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5490972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5692140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PROMPT ENGINEERING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“Which SYSTEM.md instructions were not followed yesterday? Fix them.”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88A0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14400"/>
            <a:ext cx="146304" cy="50292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C88A00"/>
                </a:solidFill>
                <a:latin typeface="Arial"/>
              </a:rPr>
              <a:t>F  R  O  M      T  H  E      L  O 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i="0">
                <a:solidFill>
                  <a:srgbClr val="003262"/>
                </a:solidFill>
                <a:latin typeface="Arial"/>
              </a:rPr>
              <a:t>Verbatim user tasks — general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2100" b="0" i="0">
                <a:solidFill>
                  <a:srgbClr val="4A5260"/>
                </a:solidFill>
                <a:latin typeface="Arial"/>
              </a:rPr>
              <a:t>The same agent, prompt, and architecture handle everything beyond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578608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SMART HOME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“Turn off the living room and family room lights.” (Govee API)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377440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2377440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578608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TRAVEL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“Plan me a trip to Yosemite” — with hotel availability checks.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15284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15284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6452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WEATHER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“How is the weather today?” — answered from live sources, never stale data.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415284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415284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616452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SHOPPING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“Where can I find Darjeeling tea in the Bay Area?”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453128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453128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654296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FINANCE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“Will Microsoft stock increase by August 2026?” — plus ETF analysis.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453128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453128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654296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COMMUNICATION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Slack, iMessage, and Gmail messages — sent through third-party agents.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490972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490972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692140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SELF-SETUP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“Authenticate with govee.com so you can control the lights.”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5490972"/>
            <a:ext cx="5166360" cy="914400"/>
          </a:xfrm>
          <a:prstGeom prst="rect">
            <a:avLst/>
          </a:prstGeom>
          <a:solidFill>
            <a:srgbClr val="0032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5490972"/>
            <a:ext cx="5166360" cy="91440"/>
          </a:xfrm>
          <a:prstGeom prst="rect">
            <a:avLst/>
          </a:prstGeom>
          <a:solidFill>
            <a:srgbClr val="FDB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5692140"/>
            <a:ext cx="4617720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FDB515"/>
                </a:solidFill>
                <a:latin typeface="Arial"/>
              </a:rPr>
              <a:t>ETHICAL REFUSAL</a:t>
            </a:r>
          </a:p>
          <a:p>
            <a:pPr>
              <a:lnSpc>
                <a:spcPct val="110000"/>
              </a:lnSpc>
            </a:pPr>
            <a:r>
              <a:rPr sz="1450" b="0" i="1">
                <a:solidFill>
                  <a:srgbClr val="FFFFFF"/>
                </a:solidFill>
                <a:latin typeface="Arial"/>
              </a:rPr>
              <a:t>An unethical hacking request — refused, with five legitimate alternatives.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E9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4A5260"/>
                </a:solidFill>
                <a:latin typeface="Arial"/>
              </a:rPr>
              <a:t>KISS Sorcar  ·  K. Sen, UC Berkeley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47104"/>
            <a:ext cx="1307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88A0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