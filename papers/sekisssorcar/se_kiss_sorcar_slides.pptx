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8" r:id="rId3"/>
    <p:sldId id="327" r:id="rId4"/>
    <p:sldId id="262" r:id="rId5"/>
    <p:sldId id="263" r:id="rId6"/>
    <p:sldId id="264" r:id="rId7"/>
    <p:sldId id="265" r:id="rId8"/>
    <p:sldId id="318" r:id="rId9"/>
    <p:sldId id="267" r:id="rId10"/>
    <p:sldId id="270" r:id="rId11"/>
    <p:sldId id="280" r:id="rId12"/>
    <p:sldId id="281" r:id="rId13"/>
    <p:sldId id="268" r:id="rId14"/>
    <p:sldId id="269" r:id="rId15"/>
    <p:sldId id="316" r:id="rId16"/>
    <p:sldId id="321" r:id="rId17"/>
    <p:sldId id="322" r:id="rId18"/>
    <p:sldId id="317" r:id="rId19"/>
    <p:sldId id="319" r:id="rId20"/>
    <p:sldId id="320" r:id="rId21"/>
    <p:sldId id="326" r:id="rId22"/>
    <p:sldId id="323" r:id="rId23"/>
    <p:sldId id="324" r:id="rId24"/>
    <p:sldId id="325" r:id="rId25"/>
    <p:sldId id="278" r:id="rId26"/>
    <p:sldId id="279" r:id="rId27"/>
    <p:sldId id="273" r:id="rId28"/>
    <p:sldId id="274" r:id="rId29"/>
    <p:sldId id="315" r:id="rId30"/>
    <p:sldId id="276" r:id="rId31"/>
    <p:sldId id="27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99"/>
    <p:restoredTop sz="94638"/>
  </p:normalViewPr>
  <p:slideViewPr>
    <p:cSldViewPr snapToGrid="0" snapToObjects="1">
      <p:cViewPr varScale="1">
        <p:scale>
          <a:sx n="167" d="100"/>
          <a:sy n="167" d="100"/>
        </p:scale>
        <p:origin x="192"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ECFE8D-BEA3-B44A-B465-73A601A4032C}" type="datetimeFigureOut">
              <a:rPr lang="en-US" smtClean="0"/>
              <a:t>6/30/26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4BDDFF-4A82-D346-9E49-4285293F8A26}" type="slidenum">
              <a:rPr lang="en-US" smtClean="0"/>
              <a:t>‹#›</a:t>
            </a:fld>
            <a:endParaRPr lang="en-US"/>
          </a:p>
        </p:txBody>
      </p:sp>
    </p:spTree>
    <p:extLst>
      <p:ext uri="{BB962C8B-B14F-4D97-AF65-F5344CB8AC3E}">
        <p14:creationId xmlns:p14="http://schemas.microsoft.com/office/powerpoint/2010/main" val="2380052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04BDDFF-4A82-D346-9E49-4285293F8A26}" type="slidenum">
              <a:rPr lang="en-US" smtClean="0"/>
              <a:t>8</a:t>
            </a:fld>
            <a:endParaRPr lang="en-US"/>
          </a:p>
        </p:txBody>
      </p:sp>
    </p:spTree>
    <p:extLst>
      <p:ext uri="{BB962C8B-B14F-4D97-AF65-F5344CB8AC3E}">
        <p14:creationId xmlns:p14="http://schemas.microsoft.com/office/powerpoint/2010/main" val="20941634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gif"/><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pic>
        <p:nvPicPr>
          <p:cNvPr id="8" name="Picture 7" descr="A QR Code">
            <a:extLst>
              <a:ext uri="{FF2B5EF4-FFF2-40B4-BE49-F238E27FC236}">
                <a16:creationId xmlns:a16="http://schemas.microsoft.com/office/drawing/2014/main" id="{97AF6850-4A6D-15D9-6E29-3BDC41898DB1}"/>
              </a:ext>
            </a:extLst>
          </p:cNvPr>
          <p:cNvPicPr>
            <a:picLocks noChangeAspect="1"/>
          </p:cNvPicPr>
          <p:nvPr/>
        </p:nvPicPr>
        <p:blipFill>
          <a:blip r:embed="rId2"/>
          <a:stretch>
            <a:fillRect/>
          </a:stretch>
        </p:blipFill>
        <p:spPr>
          <a:xfrm>
            <a:off x="10439400" y="411480"/>
            <a:ext cx="1554480" cy="1554480"/>
          </a:xfrm>
          <a:prstGeom prst="rect">
            <a:avLst/>
          </a:prstGeom>
        </p:spPr>
      </p:pic>
      <p:pic>
        <p:nvPicPr>
          <p:cNvPr id="9" name="Picture 8" descr="A QR Code">
            <a:extLst>
              <a:ext uri="{FF2B5EF4-FFF2-40B4-BE49-F238E27FC236}">
                <a16:creationId xmlns:a16="http://schemas.microsoft.com/office/drawing/2014/main" id="{5EE03E55-29EA-69BD-29ED-9B5D04212B9C}"/>
              </a:ext>
            </a:extLst>
          </p:cNvPr>
          <p:cNvPicPr>
            <a:picLocks noChangeAspect="1"/>
          </p:cNvPicPr>
          <p:nvPr/>
        </p:nvPicPr>
        <p:blipFill>
          <a:blip r:embed="rId3"/>
          <a:stretch>
            <a:fillRect/>
          </a:stretch>
        </p:blipFill>
        <p:spPr>
          <a:xfrm>
            <a:off x="10490200" y="2240280"/>
            <a:ext cx="1503680" cy="1503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703538"/>
            <a:ext cx="2084832" cy="1005403"/>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dirty="0">
                <a:solidFill>
                  <a:srgbClr val="003262"/>
                </a:solidFill>
                <a:latin typeface="Arial"/>
              </a:rPr>
              <a:t>~2,</a:t>
            </a:r>
            <a:r>
              <a:rPr lang="en-US" sz="4600" b="1" i="0" dirty="0">
                <a:solidFill>
                  <a:srgbClr val="003262"/>
                </a:solidFill>
                <a:latin typeface="Arial"/>
              </a:rPr>
              <a:t>9</a:t>
            </a:r>
            <a:r>
              <a:rPr sz="4600" b="1" i="0" dirty="0">
                <a:solidFill>
                  <a:srgbClr val="003262"/>
                </a:solidFill>
                <a:latin typeface="Arial"/>
              </a:rPr>
              <a:t>00</a:t>
            </a:r>
          </a:p>
          <a:p>
            <a:pPr algn="ctr">
              <a:lnSpc>
                <a:spcPct val="100000"/>
              </a:lnSpc>
              <a:spcBef>
                <a:spcPts val="0"/>
              </a:spcBef>
              <a:spcAft>
                <a:spcPts val="800"/>
              </a:spcAft>
            </a:pPr>
            <a:r>
              <a:rPr sz="1600" b="0" i="0" dirty="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5C31F6-477F-9936-D76D-93DEA17675DB}"/>
              </a:ext>
            </a:extLst>
          </p:cNvPr>
          <p:cNvPicPr>
            <a:picLocks noChangeAspect="1"/>
          </p:cNvPicPr>
          <p:nvPr/>
        </p:nvPicPr>
        <p:blipFill>
          <a:blip r:embed="rId2"/>
          <a:stretch>
            <a:fillRect/>
          </a:stretch>
        </p:blipFill>
        <p:spPr>
          <a:xfrm>
            <a:off x="2873650" y="0"/>
            <a:ext cx="6444699" cy="6858000"/>
          </a:xfrm>
          <a:prstGeom prst="rect">
            <a:avLst/>
          </a:prstGeom>
        </p:spPr>
      </p:pic>
    </p:spTree>
    <p:extLst>
      <p:ext uri="{BB962C8B-B14F-4D97-AF65-F5344CB8AC3E}">
        <p14:creationId xmlns:p14="http://schemas.microsoft.com/office/powerpoint/2010/main" val="1191554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Nine recurring usage patterns</a:t>
            </a:r>
          </a:p>
        </p:txBody>
      </p:sp>
      <p:sp>
        <p:nvSpPr>
          <p:cNvPr id="5" name="Rectangle 4"/>
          <p:cNvSpPr/>
          <p:nvPr/>
        </p:nvSpPr>
        <p:spPr>
          <a:xfrm>
            <a:off x="82296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
        <p:nvSpPr>
          <p:cNvPr id="36" name="Rectangle 28"/>
          <p:cNvSpPr/>
          <p:nvPr/>
        </p:nvSpPr>
        <p:spPr>
          <a:xfrm>
            <a:off x="617220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9"/>
          <p:cNvSpPr/>
          <p:nvPr/>
        </p:nvSpPr>
        <p:spPr>
          <a:xfrm>
            <a:off x="617220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0"/>
          <p:cNvSpPr txBox="1"/>
          <p:nvPr/>
        </p:nvSpPr>
        <p:spPr>
          <a:xfrm>
            <a:off x="617220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8</a:t>
            </a:r>
          </a:p>
        </p:txBody>
      </p:sp>
      <p:sp>
        <p:nvSpPr>
          <p:cNvPr id="39" name="TextBox 31"/>
          <p:cNvSpPr txBox="1"/>
          <p:nvPr/>
        </p:nvSpPr>
        <p:spPr>
          <a:xfrm>
            <a:off x="704088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Invariant specification and repair</a:t>
            </a:r>
          </a:p>
        </p:txBody>
      </p:sp>
      <p:sp>
        <p:nvSpPr>
          <p:cNvPr id="40" name="Rectangle 28"/>
          <p:cNvSpPr/>
          <p:nvPr/>
        </p:nvSpPr>
        <p:spPr>
          <a:xfrm>
            <a:off x="822960" y="55433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29"/>
          <p:cNvSpPr/>
          <p:nvPr/>
        </p:nvSpPr>
        <p:spPr>
          <a:xfrm>
            <a:off x="822960" y="55433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30"/>
          <p:cNvSpPr txBox="1"/>
          <p:nvPr/>
        </p:nvSpPr>
        <p:spPr>
          <a:xfrm>
            <a:off x="822960" y="55433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9</a:t>
            </a:r>
          </a:p>
        </p:txBody>
      </p:sp>
      <p:sp>
        <p:nvSpPr>
          <p:cNvPr id="43" name="TextBox 31"/>
          <p:cNvSpPr txBox="1"/>
          <p:nvPr/>
        </p:nvSpPr>
        <p:spPr>
          <a:xfrm>
            <a:off x="1691640" y="55433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Cross-model iterative review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Three-step protocol:  </a:t>
            </a:r>
            <a:r>
              <a:rPr sz="1700">
                <a:solidFill>
                  <a:srgbClr val="1A1F2B"/>
                </a:solidFill>
                <a:latin typeface="Arial"/>
              </a:rPr>
              <a:t>report → reproduce with an integration test → fix root cause and confirm the test passes.</a:t>
            </a:r>
          </a:p>
          <a:p>
            <a:pPr algn="l">
              <a:lnSpc>
                <a:spcPct val="106000"/>
              </a:lnSpc>
              <a:spcAft>
                <a:spcPts val="1400"/>
              </a:spcAft>
            </a:pPr>
            <a:r>
              <a:rPr sz="1700" b="1">
                <a:solidFill>
                  <a:srgbClr val="FDB515"/>
                </a:solidFill>
                <a:latin typeface="Arial"/>
              </a:rPr>
              <a:t>—  </a:t>
            </a:r>
            <a:r>
              <a:rPr sz="1700" b="1">
                <a:solidFill>
                  <a:srgbClr val="003262"/>
                </a:solidFill>
                <a:latin typeface="Arial"/>
              </a:rPr>
              <a:t>Evidence, not edits:  </a:t>
            </a:r>
            <a:r>
              <a:rPr sz="1700">
                <a:solidFill>
                  <a:srgbClr val="1A1F2B"/>
                </a:solidFill>
                <a:latin typeface="Arial"/>
              </a:rPr>
              <a:t>a test that fails before and passes after proves the bug was real and the fix addressed it.</a:t>
            </a:r>
          </a:p>
          <a:p>
            <a:pPr algn="l">
              <a:lnSpc>
                <a:spcPct val="106000"/>
              </a:lnSpc>
              <a:spcAft>
                <a:spcPts val="1400"/>
              </a:spcAft>
            </a:pPr>
            <a:r>
              <a:rPr sz="1700" b="1">
                <a:solidFill>
                  <a:srgbClr val="FDB515"/>
                </a:solidFill>
                <a:latin typeface="Arial"/>
              </a:rPr>
              <a:t>—  </a:t>
            </a:r>
            <a:r>
              <a:rPr sz="1700" b="1">
                <a:solidFill>
                  <a:srgbClr val="003262"/>
                </a:solidFill>
                <a:latin typeface="Arial"/>
              </a:rPr>
              <a:t>Concurrency sub-class:  </a:t>
            </a:r>
            <a:r>
              <a:rPr sz="1700">
                <a:solidFill>
                  <a:srgbClr val="1A1F2B"/>
                </a:solidFill>
                <a:latin typeface="Arial"/>
              </a:rPr>
              <a:t>race conditions exposed by running many tabs and a remote server against one repo.</a:t>
            </a:r>
          </a:p>
          <a:p>
            <a:pPr algn="l">
              <a:lnSpc>
                <a:spcPct val="106000"/>
              </a:lnSpc>
              <a:spcAft>
                <a:spcPts val="1400"/>
              </a:spcAft>
            </a:pPr>
            <a:r>
              <a:rPr sz="1700" b="1">
                <a:solidFill>
                  <a:srgbClr val="FDB515"/>
                </a:solidFill>
                <a:latin typeface="Arial"/>
              </a:rPr>
              <a:t>—  </a:t>
            </a:r>
            <a:r>
              <a:rPr sz="1700" b="1">
                <a:solidFill>
                  <a:srgbClr val="003262"/>
                </a:solidFill>
                <a:latin typeface="Arial"/>
              </a:rPr>
              <a:t>Defensive revert:  </a:t>
            </a:r>
            <a:r>
              <a:rPr sz="17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“Can you reproduce the bug by writing an integration test? Then fix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Remote web server:  </a:t>
            </a:r>
            <a:r>
              <a:rPr sz="1700">
                <a:solidFill>
                  <a:srgbClr val="1A1F2B"/>
                </a:solidFill>
                <a:latin typeface="Arial"/>
              </a:rPr>
              <a:t>started with one task, hardened over 60+ tasks — TLS, mobile layout, auth, URL discovery, robustness.</a:t>
            </a:r>
          </a:p>
          <a:p>
            <a:pPr algn="l">
              <a:lnSpc>
                <a:spcPct val="106000"/>
              </a:lnSpc>
              <a:spcAft>
                <a:spcPts val="1400"/>
              </a:spcAft>
            </a:pPr>
            <a:r>
              <a:rPr sz="1700" b="1">
                <a:solidFill>
                  <a:srgbClr val="FDB515"/>
                </a:solidFill>
                <a:latin typeface="Arial"/>
              </a:rPr>
              <a:t>—  </a:t>
            </a:r>
            <a:r>
              <a:rPr sz="1700" b="1">
                <a:solidFill>
                  <a:srgbClr val="003262"/>
                </a:solidFill>
                <a:latin typeface="Arial"/>
              </a:rPr>
              <a:t>Spec emerges from use:  </a:t>
            </a:r>
            <a:r>
              <a:rPr sz="1700">
                <a:solidFill>
                  <a:srgbClr val="1A1F2B"/>
                </a:solidFill>
                <a:latin typeface="Arial"/>
              </a:rPr>
              <a:t>no design document; each refinement was prompted by actually using the feature and hitting a limit.</a:t>
            </a:r>
          </a:p>
          <a:p>
            <a:pPr algn="l">
              <a:lnSpc>
                <a:spcPct val="106000"/>
              </a:lnSpc>
              <a:spcAft>
                <a:spcPts val="1400"/>
              </a:spcAft>
            </a:pPr>
            <a:r>
              <a:rPr sz="1700" b="1">
                <a:solidFill>
                  <a:srgbClr val="FDB515"/>
                </a:solidFill>
                <a:latin typeface="Arial"/>
              </a:rPr>
              <a:t>—  </a:t>
            </a:r>
            <a:r>
              <a:rPr sz="1700" b="1">
                <a:solidFill>
                  <a:srgbClr val="003262"/>
                </a:solidFill>
                <a:latin typeface="Arial"/>
              </a:rPr>
              <a:t>Interleaved with fixing:  </a:t>
            </a:r>
            <a:r>
              <a:rPr sz="1700">
                <a:solidFill>
                  <a:srgbClr val="1A1F2B"/>
                </a:solidFill>
                <a:latin typeface="Arial"/>
              </a:rPr>
              <a:t>~half the follow-ups in a feature session are themselves test-first bug reports.</a:t>
            </a:r>
          </a:p>
          <a:p>
            <a:pPr algn="l">
              <a:lnSpc>
                <a:spcPct val="106000"/>
              </a:lnSpc>
              <a:spcAft>
                <a:spcPts val="1400"/>
              </a:spcAft>
            </a:pPr>
            <a:r>
              <a:rPr sz="1700" b="1">
                <a:solidFill>
                  <a:srgbClr val="FDB515"/>
                </a:solidFill>
                <a:latin typeface="Arial"/>
              </a:rPr>
              <a:t>—  </a:t>
            </a:r>
            <a:r>
              <a:rPr sz="1700" b="1">
                <a:solidFill>
                  <a:srgbClr val="003262"/>
                </a:solidFill>
                <a:latin typeface="Arial"/>
              </a:rPr>
              <a:t>Demo mode:  </a:t>
            </a:r>
            <a:r>
              <a:rPr sz="17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“…implement a feature where the user can access KISS Sorcar from any device with a browser.”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evolved together — a self-hosted documentation loop.</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Code-to-paper:  </a:t>
            </a:r>
            <a:r>
              <a:rPr sz="2100">
                <a:solidFill>
                  <a:srgbClr val="1A1F2B"/>
                </a:solidFill>
                <a:latin typeface="Arial"/>
              </a:rPr>
              <a:t>“SYSTEM.md has changed — update and build the paper” (Tasks 84, 167, 233, 261, 274, 312, 665, 693, 766…).</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“check the paper against itself and the latest code” closes the loop —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Paper-to-code:  </a:t>
            </a:r>
            <a:r>
              <a:rPr sz="2100">
                <a:solidFill>
                  <a:srgbClr val="1A1F2B"/>
                </a:solidFill>
                <a:latin typeface="Arial"/>
              </a:rPr>
              <a:t>Task 700 used the paper as source of truth — typo fixes in the paper were propagated back into SYSTEM.md.</a:t>
            </a:r>
          </a:p>
          <a:p>
            <a:pPr algn="l">
              <a:lnSpc>
                <a:spcPct val="106000"/>
              </a:lnSpc>
              <a:spcAft>
                <a:spcPts val="1800"/>
              </a:spcAft>
            </a:pPr>
            <a:r>
              <a:rPr sz="2100" b="1">
                <a:solidFill>
                  <a:srgbClr val="FDB515"/>
                </a:solidFill>
                <a:latin typeface="Arial"/>
              </a:rPr>
              <a:t>—  </a:t>
            </a:r>
            <a:r>
              <a:rPr sz="2100" b="1">
                <a:solidFill>
                  <a:srgbClr val="003262"/>
                </a:solidFill>
                <a:latin typeface="Arial"/>
              </a:rPr>
              <a:t>High volume:  </a:t>
            </a:r>
            <a:r>
              <a:rPr sz="2100">
                <a:solidFill>
                  <a:srgbClr val="1A1F2B"/>
                </a:solidFill>
                <a:latin typeface="Arial"/>
              </a:rPr>
              <a:t>“build the paper” appears in 73 tasks — one of the highest-volume non-coding activities in the log.</a:t>
            </a:r>
          </a:p>
        </p:txBody>
      </p:sp>
      <p:pic>
        <p:nvPicPr>
          <p:cNvPr id="7" name="Picture 6" descr="A QR Code">
            <a:extLst>
              <a:ext uri="{FF2B5EF4-FFF2-40B4-BE49-F238E27FC236}">
                <a16:creationId xmlns:a16="http://schemas.microsoft.com/office/drawing/2014/main" id="{06955F7C-3B70-51DF-76F4-B154AEE9E2DF}"/>
              </a:ext>
            </a:extLst>
          </p:cNvPr>
          <p:cNvPicPr>
            <a:picLocks noChangeAspect="1"/>
          </p:cNvPicPr>
          <p:nvPr/>
        </p:nvPicPr>
        <p:blipFill>
          <a:blip r:embed="rId3"/>
          <a:stretch>
            <a:fillRect/>
          </a:stretch>
        </p:blipFill>
        <p:spPr>
          <a:xfrm>
            <a:off x="10567939" y="114560"/>
            <a:ext cx="1531359" cy="15313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Explain first:  </a:t>
            </a:r>
            <a:r>
              <a:rPr sz="2100" dirty="0">
                <a:solidFill>
                  <a:srgbClr val="1A1F2B"/>
                </a:solidFill>
                <a:latin typeface="Arial"/>
              </a:rPr>
              <a:t>“show me the step-by-step workflow of </a:t>
            </a:r>
            <a:r>
              <a:rPr sz="2100" dirty="0" err="1">
                <a:solidFill>
                  <a:srgbClr val="1A1F2B"/>
                </a:solidFill>
                <a:latin typeface="Arial"/>
              </a:rPr>
              <a:t>web_server.py</a:t>
            </a:r>
            <a:r>
              <a:rPr sz="2100" dirty="0">
                <a:solidFill>
                  <a:srgbClr val="1A1F2B"/>
                </a:solidFill>
                <a:latin typeface="Arial"/>
              </a:rPr>
              <a:t>”; “what happens when two tasks run at once?”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No translation loss:  </a:t>
            </a:r>
            <a:r>
              <a:rPr sz="2100" dirty="0">
                <a:solidFill>
                  <a:srgbClr val="1A1F2B"/>
                </a:solidFill>
                <a:latin typeface="Arial"/>
              </a:rPr>
              <a:t>the same agent produces both the explanation and the subsequent edits over the same source.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Visual variant:  </a:t>
            </a:r>
            <a:r>
              <a:rPr sz="2100" dirty="0">
                <a:solidFill>
                  <a:srgbClr val="1A1F2B"/>
                </a:solidFill>
                <a:latin typeface="Arial"/>
              </a:rPr>
              <a:t>“create a graph diagram of how the server-side files are related” before reorganizing them.</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Front-loaded comprehension:  </a:t>
            </a:r>
            <a:r>
              <a:rPr sz="2100" dirty="0">
                <a:solidFill>
                  <a:srgbClr val="1A1F2B"/>
                </a:solidFill>
                <a:latin typeface="Arial"/>
              </a:rPr>
              <a:t>turns a vague aspiration into a precise, local edit request.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extLst>
      <p:ext uri="{BB962C8B-B14F-4D97-AF65-F5344CB8AC3E}">
        <p14:creationId xmlns:p14="http://schemas.microsoft.com/office/powerpoint/2010/main" val="1837007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extLst>
      <p:ext uri="{BB962C8B-B14F-4D97-AF65-F5344CB8AC3E}">
        <p14:creationId xmlns:p14="http://schemas.microsoft.com/office/powerpoint/2010/main" val="2263860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extLst>
      <p:ext uri="{BB962C8B-B14F-4D97-AF65-F5344CB8AC3E}">
        <p14:creationId xmlns:p14="http://schemas.microsoft.com/office/powerpoint/2010/main" val="1471008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19191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Log as test data:  </a:t>
            </a:r>
            <a:r>
              <a:rPr sz="2100" dirty="0">
                <a:solidFill>
                  <a:srgbClr val="1A1F2B"/>
                </a:solidFill>
                <a:latin typeface="Arial"/>
              </a:rPr>
              <a:t>“</a:t>
            </a:r>
            <a:r>
              <a:rPr lang="en-US" sz="2100" dirty="0">
                <a:solidFill>
                  <a:srgbClr val="1A1F2B"/>
                </a:solidFill>
                <a:latin typeface="Arial"/>
              </a:rPr>
              <a:t>L</a:t>
            </a:r>
            <a:r>
              <a:rPr sz="2100" dirty="0">
                <a:solidFill>
                  <a:srgbClr val="1A1F2B"/>
                </a:solidFill>
                <a:latin typeface="Arial"/>
              </a:rPr>
              <a:t>ook at </a:t>
            </a:r>
            <a:r>
              <a:rPr lang="en-US" sz="2100" dirty="0">
                <a:solidFill>
                  <a:srgbClr val="1A1F2B"/>
                </a:solidFill>
                <a:latin typeface="Arial"/>
              </a:rPr>
              <a:t>this week’s</a:t>
            </a:r>
            <a:r>
              <a:rPr sz="2100" dirty="0">
                <a:solidFill>
                  <a:srgbClr val="1A1F2B"/>
                </a:solidFill>
                <a:latin typeface="Arial"/>
              </a:rPr>
              <a:t> tasks</a:t>
            </a:r>
            <a:r>
              <a:rPr lang="en-US" sz="2100" dirty="0">
                <a:solidFill>
                  <a:srgbClr val="1A1F2B"/>
                </a:solidFill>
                <a:latin typeface="Arial"/>
              </a:rPr>
              <a:t> and their trajectories</a:t>
            </a:r>
            <a:r>
              <a:rPr sz="2100" dirty="0">
                <a:solidFill>
                  <a:srgbClr val="1A1F2B"/>
                </a:solidFill>
                <a:latin typeface="Arial"/>
              </a:rPr>
              <a:t>; which instructions </a:t>
            </a:r>
            <a:r>
              <a:rPr lang="en-US" sz="2100" dirty="0">
                <a:solidFill>
                  <a:srgbClr val="1A1F2B"/>
                </a:solidFill>
                <a:latin typeface="Arial"/>
              </a:rPr>
              <a:t>in the system prompt </a:t>
            </a:r>
            <a:r>
              <a:rPr sz="2100" dirty="0">
                <a:solidFill>
                  <a:srgbClr val="1A1F2B"/>
                </a:solidFill>
                <a:latin typeface="Arial"/>
              </a:rPr>
              <a:t>are not being followed? </a:t>
            </a:r>
            <a:r>
              <a:rPr lang="en-US" sz="2100" dirty="0">
                <a:solidFill>
                  <a:srgbClr val="1A1F2B"/>
                </a:solidFill>
                <a:latin typeface="Arial"/>
              </a:rPr>
              <a:t>Write a test with a real task and real LLM call to reproduce each issue. </a:t>
            </a:r>
            <a:r>
              <a:rPr sz="2100" dirty="0">
                <a:solidFill>
                  <a:srgbClr val="1A1F2B"/>
                </a:solidFill>
                <a:latin typeface="Arial"/>
              </a:rPr>
              <a:t>Fix the</a:t>
            </a:r>
            <a:r>
              <a:rPr lang="en-US" sz="2100" dirty="0">
                <a:solidFill>
                  <a:srgbClr val="1A1F2B"/>
                </a:solidFill>
                <a:latin typeface="Arial"/>
              </a:rPr>
              <a:t> system prompt</a:t>
            </a:r>
            <a:r>
              <a:rPr sz="2100" dirty="0">
                <a:solidFill>
                  <a:srgbClr val="1A1F2B"/>
                </a:solidFill>
                <a:latin typeface="Arial"/>
              </a:rPr>
              <a:t>.</a:t>
            </a:r>
            <a:r>
              <a:rPr lang="en-US" sz="2100" dirty="0">
                <a:solidFill>
                  <a:srgbClr val="1A1F2B"/>
                </a:solidFill>
                <a:latin typeface="Arial"/>
              </a:rPr>
              <a:t> Test.</a:t>
            </a:r>
            <a:r>
              <a:rPr sz="2100" dirty="0">
                <a:solidFill>
                  <a:srgbClr val="1A1F2B"/>
                </a:solidFill>
                <a:latin typeface="Arial"/>
              </a:rPr>
              <a:t>”</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Mutation testing for a spec:  </a:t>
            </a:r>
            <a:r>
              <a:rPr sz="2100" dirty="0">
                <a:solidFill>
                  <a:srgbClr val="1A1F2B"/>
                </a:solidFill>
                <a:latin typeface="Arial"/>
              </a:rPr>
              <a:t>write a real-LLM test to confirm an observed deviation, then patch the prompt.</a:t>
            </a:r>
          </a:p>
        </p:txBody>
      </p:sp>
    </p:spTree>
    <p:extLst>
      <p:ext uri="{BB962C8B-B14F-4D97-AF65-F5344CB8AC3E}">
        <p14:creationId xmlns:p14="http://schemas.microsoft.com/office/powerpoint/2010/main" val="28794438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extLst>
      <p:ext uri="{BB962C8B-B14F-4D97-AF65-F5344CB8AC3E}">
        <p14:creationId xmlns:p14="http://schemas.microsoft.com/office/powerpoint/2010/main" val="389597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941F0-0FB9-B3B1-D039-513C6294D82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F56C5A3-78BB-F7C8-D75E-819B29CBD7BE}"/>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4C919C-C191-B0D7-D00E-5E4C806DB7C6}"/>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0C0B4FCF-D6BB-C044-3B99-4E58565E859A}"/>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CF187E9B-D0B4-D119-4D5B-AF8347E2A499}"/>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18DB912E-425F-E4EF-E7F6-D9B58B5028CE}"/>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3EAA8EAA-81E5-B4DA-9FA2-330933D59E04}"/>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2A6B2792-F052-96CA-B84E-F18594A1B68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39D6703-C0A8-9AEF-6523-7A28F8B2E040}"/>
              </a:ext>
            </a:extLst>
          </p:cNvPr>
          <p:cNvSpPr txBox="1"/>
          <p:nvPr/>
        </p:nvSpPr>
        <p:spPr>
          <a:xfrm>
            <a:off x="7498080" y="4042871"/>
            <a:ext cx="3520440" cy="692497"/>
          </a:xfrm>
          <a:prstGeom prst="rect">
            <a:avLst/>
          </a:prstGeom>
          <a:noFill/>
        </p:spPr>
        <p:txBody>
          <a:bodyPr wrap="square" lIns="0" tIns="0" rIns="0" bIns="0" anchor="ctr">
            <a:spAutoFit/>
          </a:bodyPr>
          <a:lstStyle/>
          <a:p>
            <a:r>
              <a:rPr lang="en-US" sz="1500" i="1" dirty="0">
                <a:solidFill>
                  <a:srgbClr val="FFFFFF"/>
                </a:solidFill>
                <a:latin typeface="Arial"/>
              </a:rPr>
              <a:t>“The Sorcar CLI MUST set </a:t>
            </a:r>
            <a:r>
              <a:rPr lang="en-US" sz="1500" i="1" dirty="0" err="1">
                <a:solidFill>
                  <a:srgbClr val="FFFFFF"/>
                </a:solidFill>
                <a:latin typeface="Arial"/>
              </a:rPr>
              <a:t>worktree</a:t>
            </a:r>
            <a:r>
              <a:rPr lang="en-US" sz="1500" i="1" dirty="0">
                <a:solidFill>
                  <a:srgbClr val="FFFFFF"/>
                </a:solidFill>
                <a:latin typeface="Arial"/>
              </a:rPr>
              <a:t> mode on, parallel mode on, and auto-commit on by default.</a:t>
            </a:r>
            <a:r>
              <a:rPr sz="1500" i="1" dirty="0">
                <a:solidFill>
                  <a:srgbClr val="FFFFFF"/>
                </a:solidFill>
                <a:latin typeface="Arial"/>
              </a:rPr>
              <a:t>”</a:t>
            </a:r>
          </a:p>
        </p:txBody>
      </p:sp>
    </p:spTree>
    <p:extLst>
      <p:ext uri="{BB962C8B-B14F-4D97-AF65-F5344CB8AC3E}">
        <p14:creationId xmlns:p14="http://schemas.microsoft.com/office/powerpoint/2010/main" val="2407732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52CEE-F829-C23B-F1F0-5D31110D2F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F3F116C-9CD8-711A-B41A-CA4285021745}"/>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54C1749-671E-E926-87C9-77A201A53EC5}"/>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992CDE05-E1F2-315A-60DF-4B183F694042}"/>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F5351F28-F970-C03F-6E32-A5BBB477DE9B}"/>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6F82916E-D6EF-4099-D5A3-AE98B1FA0C86}"/>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B312CF0A-9813-00CF-4C5A-0965E31CEE6A}"/>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6B97681A-5AEF-2CA9-ACDA-C01948110F5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765AA98-33B8-EAF1-5455-262AFF87DF6C}"/>
              </a:ext>
            </a:extLst>
          </p:cNvPr>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extLst>
      <p:ext uri="{BB962C8B-B14F-4D97-AF65-F5344CB8AC3E}">
        <p14:creationId xmlns:p14="http://schemas.microsoft.com/office/powerpoint/2010/main" val="199906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p:cNvSpPr txBox="1"/>
          <p:nvPr/>
        </p:nvSpPr>
        <p:spPr>
          <a:xfrm>
            <a:off x="822960" y="868680"/>
            <a:ext cx="10515600" cy="523220"/>
          </a:xfrm>
          <a:prstGeom prst="rect">
            <a:avLst/>
          </a:prstGeom>
          <a:noFill/>
        </p:spPr>
        <p:txBody>
          <a:bodyPr wrap="square" lIns="0" tIns="0" rIns="0" bIns="0" anchor="t">
            <a:spAutoFit/>
          </a:bodyPr>
          <a:lstStyle/>
          <a:p>
            <a:pPr algn="l">
              <a:lnSpc>
                <a:spcPct val="100000"/>
              </a:lnSpc>
              <a:spcBef>
                <a:spcPts val="0"/>
              </a:spcBef>
              <a:spcAft>
                <a:spcPts val="800"/>
              </a:spcAft>
            </a:pPr>
            <a:r>
              <a:rPr sz="3400" b="1" i="0" dirty="0">
                <a:solidFill>
                  <a:srgbClr val="003262"/>
                </a:solidFill>
                <a:latin typeface="Arial"/>
              </a:rPr>
              <a:t>Cross-model </a:t>
            </a:r>
            <a:r>
              <a:rPr lang="en-US" sz="3400" b="1" i="0" dirty="0">
                <a:solidFill>
                  <a:srgbClr val="003262"/>
                </a:solidFill>
                <a:latin typeface="Arial"/>
              </a:rPr>
              <a:t>workflow</a:t>
            </a:r>
            <a:endParaRPr sz="3400" b="1" i="0" dirty="0">
              <a:solidFill>
                <a:srgbClr val="003262"/>
              </a:solidFill>
              <a:latin typeface="Arial"/>
            </a:endParaRP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753208"/>
            <a:ext cx="3520440" cy="1271823"/>
          </a:xfrm>
          <a:prstGeom prst="rect">
            <a:avLst/>
          </a:prstGeom>
          <a:noFill/>
        </p:spPr>
        <p:txBody>
          <a:bodyPr wrap="square" lIns="0" tIns="0" rIns="0" bIns="0" anchor="ctr">
            <a:spAutoFit/>
          </a:bodyPr>
          <a:lstStyle/>
          <a:p>
            <a:pPr algn="l">
              <a:lnSpc>
                <a:spcPct val="112000"/>
              </a:lnSpc>
              <a:spcBef>
                <a:spcPts val="0"/>
              </a:spcBef>
              <a:spcAft>
                <a:spcPts val="800"/>
              </a:spcAft>
            </a:pPr>
            <a:r>
              <a:rPr sz="1500" b="0" i="1" dirty="0">
                <a:solidFill>
                  <a:srgbClr val="FFFFFF"/>
                </a:solidFill>
                <a:latin typeface="Arial"/>
              </a:rPr>
              <a:t>“Use claude-opus-4-7 for coding, bug fixing, and test creation. Use gpt-5.5 (not codex) for thorough review and debugging of the work done by the other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588DD-7D70-3E64-C61A-85754ACC671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86E39F2-C331-B6B7-E4E0-33075D29B97A}"/>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53886CF-E8BE-7A30-C52F-E33706C5B199}"/>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151AE738-2E3B-DBFE-483C-88DC24292357}"/>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01C0054D-3831-1183-D1B2-22DB4F444FB0}"/>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987BE29-1D3C-6091-99EF-D3A1F264D9EF}"/>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2A8DC7B-5D5F-C0E3-F562-4E0B8E08D850}"/>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03C8C57D-6829-85AC-9497-6F6E7DA0DC20}"/>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C333242E-1578-33E9-39B6-29B97D978515}"/>
              </a:ext>
            </a:extLst>
          </p:cNvPr>
          <p:cNvSpPr txBox="1"/>
          <p:nvPr/>
        </p:nvSpPr>
        <p:spPr>
          <a:xfrm>
            <a:off x="7498080" y="3494676"/>
            <a:ext cx="3520440" cy="1788888"/>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GLM-5.2 model for all tasks including coding, bug fixing, and test creation. ALWAYS use gpt-5.5-xhigh (not codex) to carefully and thoroughly review and debug the work done by GLM-5.2 for bugs and missing code. Then use claude-opus-4-7 to do the same thing.</a:t>
            </a:r>
            <a:r>
              <a:rPr sz="1500" b="0" i="1" dirty="0">
                <a:solidFill>
                  <a:srgbClr val="FFFFFF"/>
                </a:solidFill>
                <a:latin typeface="Arial"/>
              </a:rPr>
              <a:t>.”</a:t>
            </a:r>
          </a:p>
        </p:txBody>
      </p:sp>
    </p:spTree>
    <p:extLst>
      <p:ext uri="{BB962C8B-B14F-4D97-AF65-F5344CB8AC3E}">
        <p14:creationId xmlns:p14="http://schemas.microsoft.com/office/powerpoint/2010/main" val="1921977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3DC86-3741-4D6A-9B13-BD689AC005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50469C8-0D7C-8B7E-8D78-350774ACED67}"/>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AF2B2AD-6B41-AED6-2E87-048AD241326F}"/>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7DFA07A3-62E7-DF68-220B-9C35416517FB}"/>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16792656-1146-872B-CA7B-8303139AFCBC}"/>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7897EEF-A577-B010-EDF3-800885FF0299}"/>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58C6309-D1F6-4B54-7284-0019ED93C5BD}"/>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D07D300D-A657-8F69-5C19-9E6D6F8D38C1}"/>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D5ACE48-FB11-0F4F-7AAB-048451E42341}"/>
              </a:ext>
            </a:extLst>
          </p:cNvPr>
          <p:cNvSpPr txBox="1"/>
          <p:nvPr/>
        </p:nvSpPr>
        <p:spPr>
          <a:xfrm>
            <a:off x="7498080" y="3282137"/>
            <a:ext cx="3520440" cy="2564485"/>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the best model from ~/.kiss/</a:t>
            </a:r>
            <a:r>
              <a:rPr lang="en-US" sz="1500" i="1" dirty="0" err="1">
                <a:solidFill>
                  <a:srgbClr val="FFFFFF"/>
                </a:solidFill>
                <a:latin typeface="Arial"/>
              </a:rPr>
              <a:t>MODEL_INFO.json</a:t>
            </a:r>
            <a:r>
              <a:rPr lang="en-US" sz="1500" i="1" dirty="0">
                <a:solidFill>
                  <a:srgbClr val="FFFFFF"/>
                </a:solidFill>
                <a:latin typeface="Arial"/>
              </a:rPr>
              <a:t> for various sub tasks. Search the internet extensively to figure out which model is good for each sub-task. Here's what I've found works best in practice:</a:t>
            </a:r>
            <a:br>
              <a:rPr lang="en-US" sz="1500" i="1" dirty="0">
                <a:solidFill>
                  <a:srgbClr val="FFFFFF"/>
                </a:solidFill>
                <a:latin typeface="Arial"/>
              </a:rPr>
            </a:br>
            <a:r>
              <a:rPr lang="en-US" sz="1500" i="1" dirty="0">
                <a:solidFill>
                  <a:srgbClr val="FFFFFF"/>
                </a:solidFill>
                <a:latin typeface="Arial"/>
              </a:rPr>
              <a:t>claude-opus-4-7 — best for SWE work , gpt-5.5 — best for reviewing, and GLM-5.2 — for SWE tasks when budget is low.</a:t>
            </a:r>
            <a:r>
              <a:rPr sz="1500" i="1" dirty="0">
                <a:solidFill>
                  <a:srgbClr val="FFFFFF"/>
                </a:solidFill>
                <a:latin typeface="Arial"/>
              </a:rPr>
              <a:t>”</a:t>
            </a:r>
          </a:p>
        </p:txBody>
      </p:sp>
      <p:sp>
        <p:nvSpPr>
          <p:cNvPr id="10" name="TextBox 9">
            <a:extLst>
              <a:ext uri="{FF2B5EF4-FFF2-40B4-BE49-F238E27FC236}">
                <a16:creationId xmlns:a16="http://schemas.microsoft.com/office/drawing/2014/main" id="{D37A9380-B4F6-3CAF-46E2-5A0E8369CB62}"/>
              </a:ext>
            </a:extLst>
          </p:cNvPr>
          <p:cNvSpPr txBox="1"/>
          <p:nvPr/>
        </p:nvSpPr>
        <p:spPr>
          <a:xfrm>
            <a:off x="7444740" y="2871241"/>
            <a:ext cx="3520440" cy="237694"/>
          </a:xfrm>
          <a:prstGeom prst="rect">
            <a:avLst/>
          </a:prstGeom>
          <a:noFill/>
        </p:spPr>
        <p:txBody>
          <a:bodyPr wrap="square" lIns="0" tIns="0" rIns="0" bIns="0" anchor="ctr">
            <a:spAutoFit/>
          </a:bodyPr>
          <a:lstStyle/>
          <a:p>
            <a:pPr>
              <a:lnSpc>
                <a:spcPct val="112000"/>
              </a:lnSpc>
              <a:spcAft>
                <a:spcPts val="800"/>
              </a:spcAft>
            </a:pPr>
            <a:r>
              <a:rPr lang="en-US" sz="1500" b="0" i="1" dirty="0">
                <a:solidFill>
                  <a:srgbClr val="FFFFFF"/>
                </a:solidFill>
                <a:latin typeface="Arial"/>
              </a:rPr>
              <a:t>Sakan</a:t>
            </a:r>
            <a:r>
              <a:rPr lang="en-US" sz="1500" i="1" dirty="0">
                <a:solidFill>
                  <a:srgbClr val="FFFFFF"/>
                </a:solidFill>
                <a:latin typeface="Arial"/>
              </a:rPr>
              <a:t>a AI’s Fugu Ultra in 3 sentences</a:t>
            </a:r>
            <a:endParaRPr sz="1500" i="1" dirty="0">
              <a:solidFill>
                <a:srgbClr val="FFFFFF"/>
              </a:solidFill>
              <a:latin typeface="Arial"/>
            </a:endParaRPr>
          </a:p>
        </p:txBody>
      </p:sp>
    </p:spTree>
    <p:extLst>
      <p:ext uri="{BB962C8B-B14F-4D97-AF65-F5344CB8AC3E}">
        <p14:creationId xmlns:p14="http://schemas.microsoft.com/office/powerpoint/2010/main" val="15361258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dirty="0"/>
              <a:t>AI Discovery</a:t>
            </a:r>
            <a:r>
              <a:rPr lang="en-US" dirty="0"/>
              <a:t> and Auto research</a:t>
            </a:r>
            <a:endParaRPr dirty="0"/>
          </a:p>
        </p:txBody>
      </p:sp>
      <p:sp>
        <p:nvSpPr>
          <p:cNvPr id="3" name="Content Placeholder 2"/>
          <p:cNvSpPr>
            <a:spLocks noGrp="1"/>
          </p:cNvSpPr>
          <p:nvPr>
            <p:ph idx="1"/>
          </p:nvPr>
        </p:nvSpPr>
        <p:spPr>
          <a:xfrm>
            <a:off x="457200" y="1600200"/>
            <a:ext cx="11521440" cy="4525963"/>
          </a:xfrm>
        </p:spPr>
        <p:txBody>
          <a:bodyPr>
            <a:normAutofit fontScale="77500" lnSpcReduction="20000"/>
          </a:bodyPr>
          <a:lstStyle/>
          <a:p>
            <a:r>
              <a:rPr dirty="0"/>
              <a:t>Evolutionary search over programs: source code, prompts, or model recipes as the genotype; an LLM mutates/recombines parents and an automated evaluator scores each offspring, with the fittest fed back as parents for the next generation.</a:t>
            </a:r>
          </a:p>
          <a:p>
            <a:r>
              <a:rPr dirty="0" err="1"/>
              <a:t>FunSearch</a:t>
            </a:r>
            <a:r>
              <a:rPr dirty="0"/>
              <a:t>: island-based population + execution-feedback → cap-set, bin-packing. </a:t>
            </a:r>
            <a:r>
              <a:rPr dirty="0" err="1"/>
              <a:t>AlphaEvolve</a:t>
            </a:r>
            <a:r>
              <a:rPr dirty="0"/>
              <a:t> scaled the recipe to math, hardware, Google infrastructure.</a:t>
            </a:r>
          </a:p>
          <a:p>
            <a:r>
              <a:rPr dirty="0" err="1"/>
              <a:t>OpenEvolve</a:t>
            </a:r>
            <a:r>
              <a:rPr dirty="0"/>
              <a:t> added MAP-Elites quality-diversity; </a:t>
            </a:r>
            <a:r>
              <a:rPr dirty="0" err="1"/>
              <a:t>ShinkaEvolve</a:t>
            </a:r>
            <a:r>
              <a:rPr dirty="0"/>
              <a:t> added parent-sampling, code-novelty rejection, and bandit-based LLM-ensemble selection.</a:t>
            </a:r>
          </a:p>
          <a:p>
            <a:r>
              <a:rPr dirty="0"/>
              <a:t>ADRS transferred the loop to systems-performance research; GEPA showed the same skeleton optimizes prompts when fitness is trajectory-level reflection.</a:t>
            </a:r>
          </a:p>
          <a:p>
            <a:r>
              <a:rPr dirty="0"/>
              <a:t>Common contract — NL objective, code/prompt as mutation unit, automated evaluator, journal, anti-reward-hacking &amp; generalization clauses — is exactly what KISS Sorcar's AI Discovery template inherits.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A9FCD-5DCC-0FAA-470D-8E3AAE6818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55924-0620-A3DF-CDCA-F196629B439C}"/>
              </a:ext>
            </a:extLst>
          </p:cNvPr>
          <p:cNvSpPr>
            <a:spLocks noGrp="1"/>
          </p:cNvSpPr>
          <p:nvPr>
            <p:ph type="title"/>
          </p:nvPr>
        </p:nvSpPr>
        <p:spPr>
          <a:xfrm>
            <a:off x="457199" y="274638"/>
            <a:ext cx="11321143" cy="1143000"/>
          </a:xfrm>
        </p:spPr>
        <p:txBody>
          <a:bodyPr/>
          <a:lstStyle/>
          <a:p>
            <a:r>
              <a:rPr lang="en-US" dirty="0"/>
              <a:t>AI Discovery as a Prompt in KISS Sorcar</a:t>
            </a:r>
          </a:p>
        </p:txBody>
      </p:sp>
      <p:sp>
        <p:nvSpPr>
          <p:cNvPr id="3" name="Content Placeholder 2">
            <a:extLst>
              <a:ext uri="{FF2B5EF4-FFF2-40B4-BE49-F238E27FC236}">
                <a16:creationId xmlns:a16="http://schemas.microsoft.com/office/drawing/2014/main" id="{31257DA8-D9AB-4B93-E0BA-C7C6C0D2DC99}"/>
              </a:ext>
            </a:extLst>
          </p:cNvPr>
          <p:cNvSpPr>
            <a:spLocks noGrp="1"/>
          </p:cNvSpPr>
          <p:nvPr>
            <p:ph idx="1"/>
          </p:nvPr>
        </p:nvSpPr>
        <p:spPr>
          <a:xfrm>
            <a:off x="457200" y="1600200"/>
            <a:ext cx="11321142" cy="4525963"/>
          </a:xfrm>
        </p:spPr>
        <p:txBody>
          <a:bodyPr>
            <a:normAutofit fontScale="70000" lnSpcReduction="20000"/>
          </a:bodyPr>
          <a:lstStyle/>
          <a:p>
            <a:r>
              <a:rPr lang="en-US" dirty="0"/>
              <a:t>Can you discover the lightest and fastest AI model that will give the best accuracy and recall on the data at &lt;&lt;/path/to/data&gt;&gt; at the cheapest price? Analyze the data and search the internet extensively to propose the first few models. Implement and experiment with each of your proposals. Note down the ideas you used to optimize the accuracy/recall and speed/cost metrics achieved in a file, so that you can use the file to not repeat ideas that have already been tried and/or failed. You can also use the file to combine ideas that have been successful in the past. Separate 20% of the data for evals, and your discovery strategy must not look at the evals data. Use 'lambda' CLI to train your models on GPUs and evaluate if needed. Total budget for Lambda Labs is $1000. Experiment with a smaller subset of data and fewer parameters in a model to do experiments quickly and then extrapolate. Use internet search extensively at every step. MAKE SURE THAT YOU DO NOT DO REWARD HACKING OR CHEATING IN THE MODELS OR AGENTS YOU ARE IMPLEMENTING TO FIT DATA. YOUR SOLUTION MUST GENERALIZE BEYOND THE DATA PROVIDED. Do not STOP until accuracy/recall reaches 95% on evals and you can process each query in less than 600 seconds and under 50 USD per query amortized over all queries. Create an html report with diagrams and illustrations in ./reports and open it in the user's default browser?</a:t>
            </a:r>
          </a:p>
        </p:txBody>
      </p:sp>
    </p:spTree>
    <p:extLst>
      <p:ext uri="{BB962C8B-B14F-4D97-AF65-F5344CB8AC3E}">
        <p14:creationId xmlns:p14="http://schemas.microsoft.com/office/powerpoint/2010/main" val="28154905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1BEEE-2F00-3D29-BBAF-16F6B622EBEB}"/>
              </a:ext>
            </a:extLst>
          </p:cNvPr>
          <p:cNvSpPr>
            <a:spLocks noGrp="1"/>
          </p:cNvSpPr>
          <p:nvPr>
            <p:ph type="title"/>
          </p:nvPr>
        </p:nvSpPr>
        <p:spPr>
          <a:xfrm>
            <a:off x="457200" y="274638"/>
            <a:ext cx="11506200" cy="1143000"/>
          </a:xfrm>
        </p:spPr>
        <p:txBody>
          <a:bodyPr/>
          <a:lstStyle/>
          <a:p>
            <a:r>
              <a:rPr lang="en-US" dirty="0"/>
              <a:t>Advantages: AI Discovery as Prompt</a:t>
            </a:r>
          </a:p>
        </p:txBody>
      </p:sp>
      <p:sp>
        <p:nvSpPr>
          <p:cNvPr id="3" name="Content Placeholder 2">
            <a:extLst>
              <a:ext uri="{FF2B5EF4-FFF2-40B4-BE49-F238E27FC236}">
                <a16:creationId xmlns:a16="http://schemas.microsoft.com/office/drawing/2014/main" id="{87AA9985-CE28-D30E-AD40-9B010F6D1E77}"/>
              </a:ext>
            </a:extLst>
          </p:cNvPr>
          <p:cNvSpPr>
            <a:spLocks noGrp="1"/>
          </p:cNvSpPr>
          <p:nvPr>
            <p:ph idx="1"/>
          </p:nvPr>
        </p:nvSpPr>
        <p:spPr>
          <a:xfrm>
            <a:off x="457200" y="1600200"/>
            <a:ext cx="11506200" cy="4983162"/>
          </a:xfrm>
        </p:spPr>
        <p:txBody>
          <a:bodyPr/>
          <a:lstStyle/>
          <a:p>
            <a:r>
              <a:rPr lang="en-US" dirty="0"/>
              <a:t>Rapidly prototype and change discovery algorithms</a:t>
            </a:r>
          </a:p>
          <a:p>
            <a:r>
              <a:rPr lang="en-US" dirty="0"/>
              <a:t>No need to use a specialized AI discovery software such as </a:t>
            </a:r>
            <a:r>
              <a:rPr lang="en-US" dirty="0" err="1"/>
              <a:t>AlphaEvolve</a:t>
            </a:r>
            <a:r>
              <a:rPr lang="en-US" dirty="0"/>
              <a:t>, </a:t>
            </a:r>
            <a:r>
              <a:rPr lang="en-US" dirty="0" err="1"/>
              <a:t>OpenEvolve</a:t>
            </a:r>
            <a:r>
              <a:rPr lang="en-US" dirty="0"/>
              <a:t>, </a:t>
            </a:r>
            <a:r>
              <a:rPr lang="en-US" dirty="0" err="1"/>
              <a:t>ShinkaEvolve</a:t>
            </a:r>
            <a:r>
              <a:rPr lang="en-US" dirty="0"/>
              <a:t>, GEPA, </a:t>
            </a:r>
            <a:r>
              <a:rPr lang="en-US" dirty="0" err="1"/>
              <a:t>SkyDiscover</a:t>
            </a:r>
            <a:endParaRPr lang="en-US" dirty="0"/>
          </a:p>
          <a:p>
            <a:r>
              <a:rPr lang="en-US" dirty="0"/>
              <a:t>Even optimize the AI discovery prompt for each domain using AI discovery</a:t>
            </a:r>
          </a:p>
        </p:txBody>
      </p:sp>
    </p:spTree>
    <p:extLst>
      <p:ext uri="{BB962C8B-B14F-4D97-AF65-F5344CB8AC3E}">
        <p14:creationId xmlns:p14="http://schemas.microsoft.com/office/powerpoint/2010/main" val="2545656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997E9-2044-46E5-2FA2-5481DE35D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DA7AA-8D7A-EA40-F2BE-12DA2BCF4E11}"/>
              </a:ext>
            </a:extLst>
          </p:cNvPr>
          <p:cNvSpPr>
            <a:spLocks noGrp="1"/>
          </p:cNvSpPr>
          <p:nvPr>
            <p:ph type="title"/>
          </p:nvPr>
        </p:nvSpPr>
        <p:spPr>
          <a:xfrm>
            <a:off x="457199" y="274638"/>
            <a:ext cx="11321143" cy="1143000"/>
          </a:xfrm>
        </p:spPr>
        <p:txBody>
          <a:bodyPr/>
          <a:lstStyle/>
          <a:p>
            <a:r>
              <a:rPr lang="en-US" dirty="0"/>
              <a:t>Code Optimization as a Prompt in KISS Sorcar</a:t>
            </a:r>
          </a:p>
        </p:txBody>
      </p:sp>
      <p:sp>
        <p:nvSpPr>
          <p:cNvPr id="3" name="Content Placeholder 2">
            <a:extLst>
              <a:ext uri="{FF2B5EF4-FFF2-40B4-BE49-F238E27FC236}">
                <a16:creationId xmlns:a16="http://schemas.microsoft.com/office/drawing/2014/main" id="{328C7502-709E-741E-84CF-D301C5BEEC57}"/>
              </a:ext>
            </a:extLst>
          </p:cNvPr>
          <p:cNvSpPr>
            <a:spLocks noGrp="1"/>
          </p:cNvSpPr>
          <p:nvPr>
            <p:ph idx="1"/>
          </p:nvPr>
        </p:nvSpPr>
        <p:spPr>
          <a:xfrm>
            <a:off x="457200" y="1600200"/>
            <a:ext cx="11321142" cy="4525963"/>
          </a:xfrm>
        </p:spPr>
        <p:txBody>
          <a:bodyPr>
            <a:normAutofit fontScale="70000" lnSpcReduction="20000"/>
          </a:bodyPr>
          <a:lstStyle/>
          <a:p>
            <a:r>
              <a:rPr lang="en-US" dirty="0"/>
              <a:t>Can you run the command &lt;&lt;command&gt;&gt; in the background and monitor its output in real time to optimize the code at &lt;&lt;</a:t>
            </a:r>
            <a:r>
              <a:rPr lang="en-US" dirty="0" err="1"/>
              <a:t>folder_name_or_url</a:t>
            </a:r>
            <a:r>
              <a:rPr lang="en-US" dirty="0"/>
              <a:t>&gt;&gt; with respect to the following metrics: &lt;&lt;speed, accuracy, recall, cost&gt;&gt;. You can add diagnostic code which will print the metrics, such as running time at a finer level of granularity. Check for opportunities to optimize the code on the basis of the metrics information. If you discover any opportunities to optimize the metric based on the code, logs, events, and the command output, optimize the code and run the command again. Note down the ideas you used to optimize the code and the metric you achieved in a file, so that you can use the file to not repeat ideas that have already been tried and failed. You can also use the file to combine ideas that have been successful in the past. Repeat the process. Do not forget to remove the diagnostic code after the optimization is complete. You MUST NOT STOP until the metrics achieve the following values: &lt;&lt;</a:t>
            </a:r>
            <a:r>
              <a:rPr lang="en-US" dirty="0" err="1"/>
              <a:t>give_concrete_values_for_metrics</a:t>
            </a:r>
            <a:r>
              <a:rPr lang="en-US" dirty="0"/>
              <a:t>&gt;&gt;. Use the internet extensively to get new ideas for optimization. Create an html report with diagrams and illustrations in ./reports and open it in the user's default browser?</a:t>
            </a:r>
          </a:p>
        </p:txBody>
      </p:sp>
    </p:spTree>
    <p:extLst>
      <p:ext uri="{BB962C8B-B14F-4D97-AF65-F5344CB8AC3E}">
        <p14:creationId xmlns:p14="http://schemas.microsoft.com/office/powerpoint/2010/main" val="17682090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10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10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10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10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10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10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10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10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10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10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10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10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10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10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10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10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2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2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2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2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2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2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2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2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2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200">
                <a:solidFill>
                  <a:srgbClr val="374151"/>
                </a:solidFill>
              </a:defRPr>
            </a:pPr>
            <a:r>
              <a:t>• Prevents premature commitment to a plan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dirty="0">
                <a:solidFill>
                  <a:srgbClr val="FDB515"/>
                </a:solidFill>
                <a:latin typeface="Arial"/>
              </a:rPr>
              <a:t>—  </a:t>
            </a:r>
            <a:r>
              <a:rPr sz="2300" dirty="0">
                <a:solidFill>
                  <a:srgbClr val="1A1F2B"/>
                </a:solidFill>
                <a:latin typeface="Arial"/>
              </a:rPr>
              <a:t>Nine patterns emerged from 44 days of building KISS Sorcar with itself.</a:t>
            </a:r>
          </a:p>
          <a:p>
            <a:pPr algn="l">
              <a:lnSpc>
                <a:spcPct val="106000"/>
              </a:lnSpc>
              <a:spcAft>
                <a:spcPts val="1800"/>
              </a:spcAft>
            </a:pPr>
            <a:r>
              <a:rPr sz="2300" b="1" dirty="0">
                <a:solidFill>
                  <a:srgbClr val="FDB515"/>
                </a:solidFill>
                <a:latin typeface="Arial"/>
              </a:rPr>
              <a:t>—  </a:t>
            </a:r>
            <a:r>
              <a:rPr sz="2300" dirty="0">
                <a:solidFill>
                  <a:srgbClr val="1A1F2B"/>
                </a:solidFill>
                <a:latin typeface="Arial"/>
              </a:rPr>
              <a:t>Each maps to a decades-old software engineering principle.</a:t>
            </a:r>
          </a:p>
          <a:p>
            <a:pPr algn="l">
              <a:lnSpc>
                <a:spcPct val="106000"/>
              </a:lnSpc>
              <a:spcAft>
                <a:spcPts val="1800"/>
              </a:spcAft>
            </a:pPr>
            <a:r>
              <a:rPr sz="2300" b="1" dirty="0">
                <a:solidFill>
                  <a:srgbClr val="FDB515"/>
                </a:solidFill>
                <a:latin typeface="Arial"/>
              </a:rPr>
              <a:t>—  </a:t>
            </a:r>
            <a:r>
              <a:rPr sz="2300" dirty="0">
                <a:solidFill>
                  <a:srgbClr val="1A1F2B"/>
                </a:solidFill>
                <a:latin typeface="Arial"/>
              </a:rPr>
              <a:t>One 2,</a:t>
            </a:r>
            <a:r>
              <a:rPr lang="en-US" sz="2300" dirty="0">
                <a:solidFill>
                  <a:srgbClr val="1A1F2B"/>
                </a:solidFill>
                <a:latin typeface="Arial"/>
              </a:rPr>
              <a:t>9</a:t>
            </a:r>
            <a:r>
              <a:rPr sz="2300" dirty="0">
                <a:solidFill>
                  <a:srgbClr val="1A1F2B"/>
                </a:solidFill>
                <a:latin typeface="Arial"/>
              </a:rPr>
              <a:t>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733</TotalTime>
  <Words>3966</Words>
  <Application>Microsoft Macintosh PowerPoint</Application>
  <PresentationFormat>Widescreen</PresentationFormat>
  <Paragraphs>269</Paragraphs>
  <Slides>31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Discovery and Auto research</vt:lpstr>
      <vt:lpstr>AI Discovery as a Prompt in KISS Sorcar</vt:lpstr>
      <vt:lpstr>Advantages: AI Discovery as Prompt</vt:lpstr>
      <vt:lpstr>Code Optimization as a Prompt in KISS Sorcar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28</cp:revision>
  <cp:lastPrinted>2026-06-30T23:28:20Z</cp:lastPrinted>
  <dcterms:created xsi:type="dcterms:W3CDTF">2013-01-27T09:14:16Z</dcterms:created>
  <dcterms:modified xsi:type="dcterms:W3CDTF">2026-07-01T00:40:12Z</dcterms:modified>
  <cp:category/>
</cp:coreProperties>
</file>