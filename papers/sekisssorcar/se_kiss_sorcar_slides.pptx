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318" r:id="rId35"/>
    <p:sldId id="267" r:id="rId12"/>
    <p:sldId id="268" r:id="rId13"/>
    <p:sldId id="269" r:id="rId14"/>
    <p:sldId id="316" r:id="rId33"/>
    <p:sldId id="317" r:id="rId34"/>
    <p:sldId id="278" r:id="rId15"/>
    <p:sldId id="279" r:id="rId16"/>
    <p:sldId id="270" r:id="rId17"/>
    <p:sldId id="280" r:id="rId18"/>
    <p:sldId id="281" r:id="rId19"/>
    <p:sldId id="271" r:id="rId20"/>
    <p:sldId id="272" r:id="rId21"/>
    <p:sldId id="273" r:id="rId22"/>
    <p:sldId id="274" r:id="rId23"/>
    <p:sldId id="275" r:id="rId24"/>
    <p:sldId id="315" r:id="rId25"/>
    <p:sldId id="308"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17"/>
    <p:restoredTop sz="94638"/>
  </p:normalViewPr>
  <p:slideViewPr>
    <p:cSldViewPr snapToGrid="0" snapToObjects="1">
      <p:cViewPr varScale="1">
        <p:scale>
          <a:sx n="167" d="100"/>
          <a:sy n="167" d="100"/>
        </p:scale>
        <p:origin x="192"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odal.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26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5603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74519"/>
            <a:ext cx="2011680" cy="508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868680"/>
            <a:ext cx="10515600" cy="457200"/>
          </a:xfrm>
          <a:prstGeom prst="rect">
            <a:avLst/>
          </a:prstGeom>
          <a:noFill/>
        </p:spPr>
        <p:txBody>
          <a:bodyPr wrap="square" lIns="0" tIns="0" rIns="0" bIns="0" anchor="t">
            <a:spAutoFit/>
          </a:bodyPr>
          <a:lstStyle/>
          <a:p>
            <a:pPr algn="l">
              <a:lnSpc>
                <a:spcPct val="100000"/>
              </a:lnSpc>
              <a:spcBef>
                <a:spcPts val="0"/>
              </a:spcBef>
              <a:spcAft>
                <a:spcPts val="800"/>
              </a:spcAft>
            </a:pPr>
            <a:r>
              <a:rPr sz="1400" b="1" i="0">
                <a:solidFill>
                  <a:srgbClr val="FDB515"/>
                </a:solidFill>
                <a:latin typeface="Arial"/>
              </a:rPr>
              <a:t>C  A  S  E     S  T  U  D  Y</a:t>
            </a:r>
          </a:p>
        </p:txBody>
      </p:sp>
      <p:sp>
        <p:nvSpPr>
          <p:cNvPr id="5" name="TextBox 4"/>
          <p:cNvSpPr txBox="1"/>
          <p:nvPr/>
        </p:nvSpPr>
        <p:spPr>
          <a:xfrm>
            <a:off x="822960" y="2148840"/>
            <a:ext cx="10607040" cy="2377440"/>
          </a:xfrm>
          <a:prstGeom prst="rect">
            <a:avLst/>
          </a:prstGeom>
          <a:noFill/>
        </p:spPr>
        <p:txBody>
          <a:bodyPr wrap="square" lIns="0" tIns="0" rIns="0" bIns="0" anchor="t">
            <a:spAutoFit/>
          </a:bodyPr>
          <a:lstStyle/>
          <a:p>
            <a:pPr algn="l">
              <a:lnSpc>
                <a:spcPct val="102000"/>
              </a:lnSpc>
              <a:spcBef>
                <a:spcPts val="0"/>
              </a:spcBef>
              <a:spcAft>
                <a:spcPts val="800"/>
              </a:spcAft>
            </a:pPr>
            <a:r>
              <a:rPr sz="5200" b="1" i="0">
                <a:solidFill>
                  <a:srgbClr val="FFFFFF"/>
                </a:solidFill>
                <a:latin typeface="Arial"/>
              </a:rPr>
              <a:t>Software Engineering KISS Sorcar</a:t>
            </a:r>
          </a:p>
          <a:p>
            <a:pPr algn="l">
              <a:lnSpc>
                <a:spcPct val="102000"/>
              </a:lnSpc>
              <a:spcBef>
                <a:spcPts val="200"/>
              </a:spcBef>
              <a:spcAft>
                <a:spcPts val="800"/>
              </a:spcAft>
            </a:pPr>
            <a:r>
              <a:rPr sz="5200" b="1" i="0">
                <a:solidFill>
                  <a:srgbClr val="FDB515"/>
                </a:solidFill>
                <a:latin typeface="Arial"/>
              </a:rPr>
              <a:t>with KISS Sorcar</a:t>
            </a:r>
          </a:p>
        </p:txBody>
      </p:sp>
      <p:sp>
        <p:nvSpPr>
          <p:cNvPr id="6" name="TextBox 5"/>
          <p:cNvSpPr txBox="1"/>
          <p:nvPr/>
        </p:nvSpPr>
        <p:spPr>
          <a:xfrm>
            <a:off x="822960" y="4800600"/>
            <a:ext cx="10515600" cy="640080"/>
          </a:xfrm>
          <a:prstGeom prst="rect">
            <a:avLst/>
          </a:prstGeom>
          <a:noFill/>
        </p:spPr>
        <p:txBody>
          <a:bodyPr wrap="square" lIns="0" tIns="0" rIns="0" bIns="0" anchor="t">
            <a:spAutoFit/>
          </a:bodyPr>
          <a:lstStyle/>
          <a:p>
            <a:pPr algn="l">
              <a:lnSpc>
                <a:spcPct val="100000"/>
              </a:lnSpc>
              <a:spcBef>
                <a:spcPts val="0"/>
              </a:spcBef>
              <a:spcAft>
                <a:spcPts val="800"/>
              </a:spcAft>
            </a:pPr>
            <a:r>
              <a:rPr sz="2000" b="0" i="1">
                <a:solidFill>
                  <a:srgbClr val="E9E5D8"/>
                </a:solidFill>
                <a:latin typeface="Arial"/>
              </a:rPr>
              <a:t>Building a self-hosting AI assistant and IDE — and analyzing 3,099 tasks it ran on its own code</a:t>
            </a:r>
          </a:p>
        </p:txBody>
      </p:sp>
      <p:sp>
        <p:nvSpPr>
          <p:cNvPr id="7" name="TextBox 6"/>
          <p:cNvSpPr txBox="1"/>
          <p:nvPr/>
        </p:nvSpPr>
        <p:spPr>
          <a:xfrm>
            <a:off x="822960" y="5623560"/>
            <a:ext cx="10515600" cy="822960"/>
          </a:xfrm>
          <a:prstGeom prst="rect">
            <a:avLst/>
          </a:prstGeom>
          <a:noFill/>
        </p:spPr>
        <p:txBody>
          <a:bodyPr wrap="square" lIns="0" tIns="0" rIns="0" bIns="0" anchor="t">
            <a:spAutoFit/>
          </a:bodyPr>
          <a:lstStyle/>
          <a:p>
            <a:pPr algn="l">
              <a:lnSpc>
                <a:spcPct val="100000"/>
              </a:lnSpc>
              <a:spcBef>
                <a:spcPts val="0"/>
              </a:spcBef>
              <a:spcAft>
                <a:spcPts val="800"/>
              </a:spcAft>
            </a:pPr>
            <a:r>
              <a:rPr sz="2200" b="1" i="0">
                <a:solidFill>
                  <a:srgbClr val="FFFFFF"/>
                </a:solidFill>
                <a:latin typeface="Arial"/>
              </a:rPr>
              <a:t>Koushik Sen</a:t>
            </a:r>
          </a:p>
          <a:p>
            <a:pPr algn="l">
              <a:lnSpc>
                <a:spcPct val="100000"/>
              </a:lnSpc>
              <a:spcBef>
                <a:spcPts val="0"/>
              </a:spcBef>
              <a:spcAft>
                <a:spcPts val="800"/>
              </a:spcAft>
            </a:pPr>
            <a:r>
              <a:rPr sz="1600" b="0" i="0">
                <a:solidFill>
                  <a:srgbClr val="E9E5D8"/>
                </a:solidFill>
                <a:latin typeface="Arial"/>
              </a:rPr>
              <a:t>EECS Department, UC Berkeley  ·  ksen@berkeley.edu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F2B"/>
        </a:solidFill>
        <a:effectLst/>
      </p:bgPr>
    </p:bg>
    <p:spTree>
      <p:nvGrpSpPr>
        <p:cNvPr id="1" name=""/>
        <p:cNvGrpSpPr/>
        <p:nvPr/>
      </p:nvGrpSpPr>
      <p:grpSpPr>
        <a:xfrm>
          <a:off x="0" y="0"/>
          <a:ext cx="0" cy="0"/>
          <a:chOff x="0" y="0"/>
          <a:chExt cx="0" cy="0"/>
        </a:xfrm>
      </p:grpSpPr>
      <p:sp>
        <p:nvSpPr>
          <p:cNvPr id="2" name="Rectangle 1"/>
          <p:cNvSpPr/>
          <p:nvPr/>
        </p:nvSpPr>
        <p:spPr>
          <a:xfrm>
            <a:off x="822960" y="1920240"/>
            <a:ext cx="146304" cy="201168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1828800"/>
            <a:ext cx="9692640" cy="2560320"/>
          </a:xfrm>
          <a:prstGeom prst="rect">
            <a:avLst/>
          </a:prstGeom>
          <a:noFill/>
        </p:spPr>
        <p:txBody>
          <a:bodyPr wrap="square" lIns="0" tIns="0" rIns="0" bIns="0" anchor="ctr">
            <a:spAutoFit/>
          </a:bodyPr>
          <a:lstStyle/>
          <a:p>
            <a:pPr algn="l">
              <a:lnSpc>
                <a:spcPct val="108000"/>
              </a:lnSpc>
              <a:spcBef>
                <a:spcPts val="0"/>
              </a:spcBef>
              <a:spcAft>
                <a:spcPts val="800"/>
              </a:spcAft>
            </a:pPr>
            <a:r>
              <a:rPr sz="4000" b="0" i="1">
                <a:solidFill>
                  <a:srgbClr val="FFFFFF"/>
                </a:solidFill>
                <a:latin typeface="Arial"/>
              </a:rPr>
              <a:t>“Everything should be made as simple as possible, but not simpler.”</a:t>
            </a:r>
          </a:p>
          <a:p>
            <a:pPr algn="l">
              <a:lnSpc>
                <a:spcPct val="100000"/>
              </a:lnSpc>
              <a:spcBef>
                <a:spcPts val="1800"/>
              </a:spcBef>
              <a:spcAft>
                <a:spcPts val="800"/>
              </a:spcAft>
            </a:pPr>
            <a:r>
              <a:rPr sz="2200" b="1" i="0">
                <a:solidFill>
                  <a:srgbClr val="FDB515"/>
                </a:solidFill>
                <a:latin typeface="Arial"/>
              </a:rPr>
              <a:t>Albert Einstein</a:t>
            </a:r>
          </a:p>
        </p:txBody>
      </p:sp>
      <p:sp>
        <p:nvSpPr>
          <p:cNvPr id="4" name="TextBox 3"/>
          <p:cNvSpPr txBox="1"/>
          <p:nvPr/>
        </p:nvSpPr>
        <p:spPr>
          <a:xfrm>
            <a:off x="1280160" y="4937760"/>
            <a:ext cx="9692640" cy="914400"/>
          </a:xfrm>
          <a:prstGeom prst="rect">
            <a:avLst/>
          </a:prstGeom>
          <a:noFill/>
        </p:spPr>
        <p:txBody>
          <a:bodyPr wrap="square" lIns="0" tIns="0" rIns="0" bIns="0" anchor="t">
            <a:spAutoFit/>
          </a:bodyPr>
          <a:lstStyle/>
          <a:p>
            <a:pPr algn="l">
              <a:lnSpc>
                <a:spcPct val="100000"/>
              </a:lnSpc>
              <a:spcBef>
                <a:spcPts val="0"/>
              </a:spcBef>
              <a:spcAft>
                <a:spcPts val="800"/>
              </a:spcAft>
            </a:pPr>
            <a:r>
              <a:rPr sz="1900" b="0" i="1">
                <a:solidFill>
                  <a:srgbClr val="E9E5D8"/>
                </a:solidFill>
                <a:latin typeface="Arial"/>
              </a:rPr>
              <a:t>The KISS philosophy — each component does one thing, each concern lives in one place, no unnecessary abstraction.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T  H  E     B  I  G     I  D  E  A</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We built it with itself</a:t>
            </a:r>
          </a:p>
        </p:txBody>
      </p:sp>
      <p:sp>
        <p:nvSpPr>
          <p:cNvPr id="5" name="TextBox 4"/>
          <p:cNvSpPr txBox="1"/>
          <p:nvPr/>
        </p:nvSpPr>
        <p:spPr>
          <a:xfrm>
            <a:off x="822960" y="1783080"/>
            <a:ext cx="10515600" cy="86868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From the second month on, every code change, bug fix, feature, and paper draft was produced by KISS Sorcar operating on its own repository. Self-hosting turns the system into a continuous stress test.</a:t>
            </a:r>
          </a:p>
        </p:txBody>
      </p:sp>
      <p:sp>
        <p:nvSpPr>
          <p:cNvPr id="6" name="Rectangle 5"/>
          <p:cNvSpPr/>
          <p:nvPr/>
        </p:nvSpPr>
        <p:spPr>
          <a:xfrm>
            <a:off x="822960" y="3108960"/>
            <a:ext cx="2542032" cy="2011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3108960"/>
            <a:ext cx="2542032"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3429000"/>
            <a:ext cx="2084832" cy="1554480"/>
          </a:xfrm>
          <a:prstGeom prst="rect">
            <a:avLst/>
          </a:prstGeom>
          <a:noFill/>
        </p:spPr>
        <p:txBody>
          <a:bodyPr wrap="square" lIns="0" tIns="0" rIns="0" bIns="0" anchor="ctr">
            <a:spAutoFit/>
          </a:bodyPr>
          <a:lstStyle/>
          <a:p>
            <a:pPr algn="ctr">
              <a:lnSpc>
                <a:spcPct val="100000"/>
              </a:lnSpc>
              <a:spcBef>
                <a:spcPts val="0"/>
              </a:spcBef>
              <a:spcAft>
                <a:spcPts val="400"/>
              </a:spcAft>
            </a:pPr>
            <a:r>
              <a:rPr sz="6000" b="1" i="0">
                <a:solidFill>
                  <a:srgbClr val="003262"/>
                </a:solidFill>
                <a:latin typeface="Arial"/>
              </a:rPr>
              <a:t>3,099</a:t>
            </a:r>
          </a:p>
          <a:p>
            <a:pPr algn="ctr">
              <a:lnSpc>
                <a:spcPct val="100000"/>
              </a:lnSpc>
              <a:spcBef>
                <a:spcPts val="0"/>
              </a:spcBef>
              <a:spcAft>
                <a:spcPts val="800"/>
              </a:spcAft>
            </a:pPr>
            <a:r>
              <a:rPr sz="1600" b="0" i="0">
                <a:solidFill>
                  <a:srgbClr val="4A5260"/>
                </a:solidFill>
                <a:latin typeface="Arial"/>
              </a:rPr>
              <a:t>tasks issued</a:t>
            </a:r>
          </a:p>
        </p:txBody>
      </p:sp>
      <p:sp>
        <p:nvSpPr>
          <p:cNvPr id="9" name="Rectangle 8"/>
          <p:cNvSpPr/>
          <p:nvPr/>
        </p:nvSpPr>
        <p:spPr>
          <a:xfrm>
            <a:off x="3547872" y="3108960"/>
            <a:ext cx="2542032" cy="2011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47872" y="3108960"/>
            <a:ext cx="2542032" cy="10972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76472" y="3429000"/>
            <a:ext cx="2084832" cy="1554480"/>
          </a:xfrm>
          <a:prstGeom prst="rect">
            <a:avLst/>
          </a:prstGeom>
          <a:noFill/>
        </p:spPr>
        <p:txBody>
          <a:bodyPr wrap="square" lIns="0" tIns="0" rIns="0" bIns="0" anchor="ctr">
            <a:spAutoFit/>
          </a:bodyPr>
          <a:lstStyle/>
          <a:p>
            <a:pPr algn="ctr">
              <a:lnSpc>
                <a:spcPct val="100000"/>
              </a:lnSpc>
              <a:spcBef>
                <a:spcPts val="0"/>
              </a:spcBef>
              <a:spcAft>
                <a:spcPts val="400"/>
              </a:spcAft>
            </a:pPr>
            <a:r>
              <a:rPr sz="6000" b="1" i="0">
                <a:solidFill>
                  <a:srgbClr val="003262"/>
                </a:solidFill>
                <a:latin typeface="Arial"/>
              </a:rPr>
              <a:t>44</a:t>
            </a:r>
          </a:p>
          <a:p>
            <a:pPr algn="ctr">
              <a:lnSpc>
                <a:spcPct val="100000"/>
              </a:lnSpc>
              <a:spcBef>
                <a:spcPts val="0"/>
              </a:spcBef>
              <a:spcAft>
                <a:spcPts val="800"/>
              </a:spcAft>
            </a:pPr>
            <a:r>
              <a:rPr sz="1600" b="0" i="0">
                <a:solidFill>
                  <a:srgbClr val="4A5260"/>
                </a:solidFill>
                <a:latin typeface="Arial"/>
              </a:rPr>
              <a:t>days of development</a:t>
            </a:r>
          </a:p>
        </p:txBody>
      </p:sp>
      <p:sp>
        <p:nvSpPr>
          <p:cNvPr id="12" name="Rectangle 11"/>
          <p:cNvSpPr/>
          <p:nvPr/>
        </p:nvSpPr>
        <p:spPr>
          <a:xfrm>
            <a:off x="6272784" y="3108960"/>
            <a:ext cx="2542032" cy="2011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72784" y="3108960"/>
            <a:ext cx="2542032"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01384" y="3429000"/>
            <a:ext cx="2084832" cy="1554480"/>
          </a:xfrm>
          <a:prstGeom prst="rect">
            <a:avLst/>
          </a:prstGeom>
          <a:noFill/>
        </p:spPr>
        <p:txBody>
          <a:bodyPr wrap="square" lIns="0" tIns="0" rIns="0" bIns="0" anchor="ctr">
            <a:spAutoFit/>
          </a:bodyPr>
          <a:lstStyle/>
          <a:p>
            <a:pPr algn="ctr">
              <a:lnSpc>
                <a:spcPct val="100000"/>
              </a:lnSpc>
              <a:spcBef>
                <a:spcPts val="0"/>
              </a:spcBef>
              <a:spcAft>
                <a:spcPts val="400"/>
              </a:spcAft>
            </a:pPr>
            <a:r>
              <a:rPr sz="6000" b="1" i="0">
                <a:solidFill>
                  <a:srgbClr val="003262"/>
                </a:solidFill>
                <a:latin typeface="Arial"/>
              </a:rPr>
              <a:t>877</a:t>
            </a:r>
          </a:p>
          <a:p>
            <a:pPr algn="ctr">
              <a:lnSpc>
                <a:spcPct val="100000"/>
              </a:lnSpc>
              <a:spcBef>
                <a:spcPts val="0"/>
              </a:spcBef>
              <a:spcAft>
                <a:spcPts val="800"/>
              </a:spcAft>
            </a:pPr>
            <a:r>
              <a:rPr sz="1600" b="0" i="0">
                <a:solidFill>
                  <a:srgbClr val="4A5260"/>
                </a:solidFill>
                <a:latin typeface="Arial"/>
              </a:rPr>
              <a:t>chat sessions</a:t>
            </a:r>
          </a:p>
        </p:txBody>
      </p:sp>
      <p:sp>
        <p:nvSpPr>
          <p:cNvPr id="15" name="Rectangle 14"/>
          <p:cNvSpPr/>
          <p:nvPr/>
        </p:nvSpPr>
        <p:spPr>
          <a:xfrm>
            <a:off x="8997696" y="3108960"/>
            <a:ext cx="2542032" cy="2011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997696" y="3108960"/>
            <a:ext cx="2542032" cy="10972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26296" y="3429000"/>
            <a:ext cx="2084832" cy="1554480"/>
          </a:xfrm>
          <a:prstGeom prst="rect">
            <a:avLst/>
          </a:prstGeom>
          <a:noFill/>
        </p:spPr>
        <p:txBody>
          <a:bodyPr wrap="square" lIns="0" tIns="0" rIns="0" bIns="0" anchor="ctr">
            <a:spAutoFit/>
          </a:bodyPr>
          <a:lstStyle/>
          <a:p>
            <a:pPr algn="ctr">
              <a:lnSpc>
                <a:spcPct val="100000"/>
              </a:lnSpc>
              <a:spcBef>
                <a:spcPts val="0"/>
              </a:spcBef>
              <a:spcAft>
                <a:spcPts val="400"/>
              </a:spcAft>
            </a:pPr>
            <a:r>
              <a:rPr sz="4600" b="1" i="0">
                <a:solidFill>
                  <a:srgbClr val="003262"/>
                </a:solidFill>
                <a:latin typeface="Arial"/>
              </a:rPr>
              <a:t>~2,400</a:t>
            </a:r>
          </a:p>
          <a:p>
            <a:pPr algn="ctr">
              <a:lnSpc>
                <a:spcPct val="100000"/>
              </a:lnSpc>
              <a:spcBef>
                <a:spcPts val="0"/>
              </a:spcBef>
              <a:spcAft>
                <a:spcPts val="800"/>
              </a:spcAft>
            </a:pPr>
            <a:r>
              <a:rPr sz="1600" b="0" i="0">
                <a:solidFill>
                  <a:srgbClr val="4A5260"/>
                </a:solidFill>
                <a:latin typeface="Arial"/>
              </a:rPr>
              <a:t>lines of agent code</a:t>
            </a:r>
          </a:p>
        </p:txBody>
      </p:sp>
      <p:sp>
        <p:nvSpPr>
          <p:cNvPr id="18" name="Rectangle 17"/>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0" name="TextBox 19"/>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A  R  C  H  I  T  E  C  T  U  R  E</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A five-layer agent hierarchy</a:t>
            </a:r>
          </a:p>
        </p:txBody>
      </p:sp>
      <p:sp>
        <p:nvSpPr>
          <p:cNvPr id="5" name="TextBox 4"/>
          <p:cNvSpPr txBox="1"/>
          <p:nvPr/>
        </p:nvSpPr>
        <p:spPr>
          <a:xfrm>
            <a:off x="822960" y="1783080"/>
            <a:ext cx="10515600" cy="502920"/>
          </a:xfrm>
          <a:prstGeom prst="rect">
            <a:avLst/>
          </a:prstGeom>
          <a:noFill/>
        </p:spPr>
        <p:txBody>
          <a:bodyPr wrap="square" lIns="0" tIns="0" rIns="0" bIns="0" anchor="t">
            <a:spAutoFit/>
          </a:bodyPr>
          <a:lstStyle/>
          <a:p>
            <a:pPr algn="l">
              <a:lnSpc>
                <a:spcPct val="100000"/>
              </a:lnSpc>
              <a:spcBef>
                <a:spcPts val="0"/>
              </a:spcBef>
              <a:spcAft>
                <a:spcPts val="800"/>
              </a:spcAft>
            </a:pPr>
            <a:r>
              <a:rPr sz="2000" b="0" i="0">
                <a:solidFill>
                  <a:srgbClr val="4A5260"/>
                </a:solidFill>
                <a:latin typeface="Arial"/>
              </a:rPr>
              <a:t>Each layer adds exactly one concern — ~2,400 lines total.</a:t>
            </a:r>
          </a:p>
        </p:txBody>
      </p:sp>
      <p:sp>
        <p:nvSpPr>
          <p:cNvPr id="6" name="Rectangle 5"/>
          <p:cNvSpPr/>
          <p:nvPr/>
        </p:nvSpPr>
        <p:spPr>
          <a:xfrm>
            <a:off x="822960" y="2423160"/>
            <a:ext cx="10515600" cy="676656"/>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2423160"/>
            <a:ext cx="146304" cy="676656"/>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2423160"/>
            <a:ext cx="3017520" cy="676656"/>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1.  KISS Agent</a:t>
            </a:r>
          </a:p>
        </p:txBody>
      </p:sp>
      <p:sp>
        <p:nvSpPr>
          <p:cNvPr id="9" name="TextBox 8"/>
          <p:cNvSpPr txBox="1"/>
          <p:nvPr/>
        </p:nvSpPr>
        <p:spPr>
          <a:xfrm>
            <a:off x="4297680" y="2423160"/>
            <a:ext cx="6766560" cy="676656"/>
          </a:xfrm>
          <a:prstGeom prst="rect">
            <a:avLst/>
          </a:prstGeom>
          <a:noFill/>
        </p:spPr>
        <p:txBody>
          <a:bodyPr wrap="square" lIns="0" tIns="0" rIns="0" bIns="0" anchor="ctr">
            <a:spAutoFit/>
          </a:bodyPr>
          <a:lstStyle/>
          <a:p>
            <a:pPr algn="l">
              <a:lnSpc>
                <a:spcPct val="100000"/>
              </a:lnSpc>
              <a:spcBef>
                <a:spcPts val="0"/>
              </a:spcBef>
              <a:spcAft>
                <a:spcPts val="800"/>
              </a:spcAft>
            </a:pPr>
            <a:r>
              <a:rPr sz="1700" b="0" i="0">
                <a:solidFill>
                  <a:srgbClr val="4A5260"/>
                </a:solidFill>
                <a:latin typeface="Arial"/>
              </a:rPr>
              <a:t>Budget-tracked ReAct loop</a:t>
            </a:r>
          </a:p>
        </p:txBody>
      </p:sp>
      <p:sp>
        <p:nvSpPr>
          <p:cNvPr id="10" name="Rectangle 9"/>
          <p:cNvSpPr/>
          <p:nvPr/>
        </p:nvSpPr>
        <p:spPr>
          <a:xfrm>
            <a:off x="822960" y="3218688"/>
            <a:ext cx="10515600" cy="676656"/>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3218688"/>
            <a:ext cx="146304" cy="676656"/>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3218688"/>
            <a:ext cx="3017520" cy="676656"/>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2.  Relentless Agent</a:t>
            </a:r>
          </a:p>
        </p:txBody>
      </p:sp>
      <p:sp>
        <p:nvSpPr>
          <p:cNvPr id="13" name="TextBox 12"/>
          <p:cNvSpPr txBox="1"/>
          <p:nvPr/>
        </p:nvSpPr>
        <p:spPr>
          <a:xfrm>
            <a:off x="4297680" y="3218688"/>
            <a:ext cx="6766560" cy="676656"/>
          </a:xfrm>
          <a:prstGeom prst="rect">
            <a:avLst/>
          </a:prstGeom>
          <a:noFill/>
        </p:spPr>
        <p:txBody>
          <a:bodyPr wrap="square" lIns="0" tIns="0" rIns="0" bIns="0" anchor="ctr">
            <a:spAutoFit/>
          </a:bodyPr>
          <a:lstStyle/>
          <a:p>
            <a:pPr algn="l">
              <a:lnSpc>
                <a:spcPct val="100000"/>
              </a:lnSpc>
              <a:spcBef>
                <a:spcPts val="0"/>
              </a:spcBef>
              <a:spcAft>
                <a:spcPts val="800"/>
              </a:spcAft>
            </a:pPr>
            <a:r>
              <a:rPr sz="1700" b="0" i="0">
                <a:solidFill>
                  <a:srgbClr val="4A5260"/>
                </a:solidFill>
                <a:latin typeface="Arial"/>
              </a:rPr>
              <a:t>Automatic continuation across sub-sessions via summarization</a:t>
            </a:r>
          </a:p>
        </p:txBody>
      </p:sp>
      <p:sp>
        <p:nvSpPr>
          <p:cNvPr id="14" name="Rectangle 13"/>
          <p:cNvSpPr/>
          <p:nvPr/>
        </p:nvSpPr>
        <p:spPr>
          <a:xfrm>
            <a:off x="822960" y="4014216"/>
            <a:ext cx="10515600" cy="676656"/>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4014216"/>
            <a:ext cx="146304" cy="676656"/>
          </a:xfrm>
          <a:prstGeom prst="rect">
            <a:avLst/>
          </a:prstGeom>
          <a:solidFill>
            <a:srgbClr val="559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4014216"/>
            <a:ext cx="3017520" cy="676656"/>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3.  Sorcar Agent</a:t>
            </a:r>
          </a:p>
        </p:txBody>
      </p:sp>
      <p:sp>
        <p:nvSpPr>
          <p:cNvPr id="17" name="TextBox 16"/>
          <p:cNvSpPr txBox="1"/>
          <p:nvPr/>
        </p:nvSpPr>
        <p:spPr>
          <a:xfrm>
            <a:off x="4297680" y="4014216"/>
            <a:ext cx="6766560" cy="676656"/>
          </a:xfrm>
          <a:prstGeom prst="rect">
            <a:avLst/>
          </a:prstGeom>
          <a:noFill/>
        </p:spPr>
        <p:txBody>
          <a:bodyPr wrap="square" lIns="0" tIns="0" rIns="0" bIns="0" anchor="ctr">
            <a:spAutoFit/>
          </a:bodyPr>
          <a:lstStyle/>
          <a:p>
            <a:pPr algn="l">
              <a:lnSpc>
                <a:spcPct val="100000"/>
              </a:lnSpc>
              <a:spcBef>
                <a:spcPts val="0"/>
              </a:spcBef>
              <a:spcAft>
                <a:spcPts val="800"/>
              </a:spcAft>
            </a:pPr>
            <a:r>
              <a:rPr sz="1700" b="0" i="0">
                <a:solidFill>
                  <a:srgbClr val="4A5260"/>
                </a:solidFill>
                <a:latin typeface="Arial"/>
              </a:rPr>
              <a:t>Coding tools, browser automation, parallel sub-agents</a:t>
            </a:r>
          </a:p>
        </p:txBody>
      </p:sp>
      <p:sp>
        <p:nvSpPr>
          <p:cNvPr id="18" name="Rectangle 17"/>
          <p:cNvSpPr/>
          <p:nvPr/>
        </p:nvSpPr>
        <p:spPr>
          <a:xfrm>
            <a:off x="822960" y="4809744"/>
            <a:ext cx="10515600" cy="676656"/>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4809744"/>
            <a:ext cx="146304" cy="676656"/>
          </a:xfrm>
          <a:prstGeom prst="rect">
            <a:avLst/>
          </a:prstGeom>
          <a:solidFill>
            <a:srgbClr val="2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4809744"/>
            <a:ext cx="3017520" cy="676656"/>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4.  Chat Sorcar Agent</a:t>
            </a:r>
          </a:p>
        </p:txBody>
      </p:sp>
      <p:sp>
        <p:nvSpPr>
          <p:cNvPr id="21" name="TextBox 20"/>
          <p:cNvSpPr txBox="1"/>
          <p:nvPr/>
        </p:nvSpPr>
        <p:spPr>
          <a:xfrm>
            <a:off x="4297680" y="4809744"/>
            <a:ext cx="6766560" cy="676656"/>
          </a:xfrm>
          <a:prstGeom prst="rect">
            <a:avLst/>
          </a:prstGeom>
          <a:noFill/>
        </p:spPr>
        <p:txBody>
          <a:bodyPr wrap="square" lIns="0" tIns="0" rIns="0" bIns="0" anchor="ctr">
            <a:spAutoFit/>
          </a:bodyPr>
          <a:lstStyle/>
          <a:p>
            <a:pPr algn="l">
              <a:lnSpc>
                <a:spcPct val="100000"/>
              </a:lnSpc>
              <a:spcBef>
                <a:spcPts val="0"/>
              </a:spcBef>
              <a:spcAft>
                <a:spcPts val="800"/>
              </a:spcAft>
            </a:pPr>
            <a:r>
              <a:rPr sz="1700" b="0" i="0">
                <a:solidFill>
                  <a:srgbClr val="4A5260"/>
                </a:solidFill>
                <a:latin typeface="Arial"/>
              </a:rPr>
              <a:t>Persistent multi-turn chat</a:t>
            </a:r>
          </a:p>
        </p:txBody>
      </p:sp>
      <p:sp>
        <p:nvSpPr>
          <p:cNvPr id="22" name="Rectangle 21"/>
          <p:cNvSpPr/>
          <p:nvPr/>
        </p:nvSpPr>
        <p:spPr>
          <a:xfrm>
            <a:off x="822960" y="5605272"/>
            <a:ext cx="10515600" cy="676656"/>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2960" y="5605272"/>
            <a:ext cx="146304" cy="676656"/>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5605272"/>
            <a:ext cx="3017520" cy="676656"/>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5.  Worktree Sorcar Agent</a:t>
            </a:r>
          </a:p>
        </p:txBody>
      </p:sp>
      <p:sp>
        <p:nvSpPr>
          <p:cNvPr id="25" name="TextBox 24"/>
          <p:cNvSpPr txBox="1"/>
          <p:nvPr/>
        </p:nvSpPr>
        <p:spPr>
          <a:xfrm>
            <a:off x="4297680" y="5605272"/>
            <a:ext cx="6766560" cy="676656"/>
          </a:xfrm>
          <a:prstGeom prst="rect">
            <a:avLst/>
          </a:prstGeom>
          <a:noFill/>
        </p:spPr>
        <p:txBody>
          <a:bodyPr wrap="square" lIns="0" tIns="0" rIns="0" bIns="0" anchor="ctr">
            <a:spAutoFit/>
          </a:bodyPr>
          <a:lstStyle/>
          <a:p>
            <a:pPr algn="l">
              <a:lnSpc>
                <a:spcPct val="100000"/>
              </a:lnSpc>
              <a:spcBef>
                <a:spcPts val="0"/>
              </a:spcBef>
              <a:spcAft>
                <a:spcPts val="800"/>
              </a:spcAft>
            </a:pPr>
            <a:r>
              <a:rPr sz="1700" b="0" i="0">
                <a:solidFill>
                  <a:srgbClr val="4A5260"/>
                </a:solidFill>
                <a:latin typeface="Arial"/>
              </a:rPr>
              <a:t>Git worktree isolation per task</a:t>
            </a:r>
          </a:p>
        </p:txBody>
      </p:sp>
      <p:sp>
        <p:nvSpPr>
          <p:cNvPr id="26" name="Rectangle 25"/>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8" name="TextBox 27"/>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M  E  T  H  O  D  O  L  O  G  Y</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Mining the system's own usage log</a:t>
            </a:r>
          </a:p>
        </p:txBody>
      </p:sp>
      <p:sp>
        <p:nvSpPr>
          <p:cNvPr id="5" name="TextBox 4"/>
          <p:cNvSpPr txBox="1"/>
          <p:nvPr/>
        </p:nvSpPr>
        <p:spPr>
          <a:xfrm>
            <a:off x="822960" y="1920240"/>
            <a:ext cx="10607040" cy="420624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Single source of truth:  </a:t>
            </a:r>
            <a:r>
              <a:rPr sz="2100">
                <a:solidFill>
                  <a:srgbClr val="1A1F2B"/>
                </a:solidFill>
                <a:latin typeface="Arial"/>
              </a:rPr>
              <a:t>every task flows through the Chat Sorcar Agent into ~/.kiss/sorcar.db — a complete, unfiltered record.</a:t>
            </a:r>
          </a:p>
          <a:p>
            <a:pPr algn="l">
              <a:lnSpc>
                <a:spcPct val="106000"/>
              </a:lnSpc>
              <a:spcAft>
                <a:spcPts val="1800"/>
              </a:spcAft>
            </a:pPr>
            <a:r>
              <a:rPr sz="2100" b="1">
                <a:solidFill>
                  <a:srgbClr val="FDB515"/>
                </a:solidFill>
                <a:latin typeface="Arial"/>
              </a:rPr>
              <a:t>—  </a:t>
            </a:r>
            <a:r>
              <a:rPr sz="2100" b="1">
                <a:solidFill>
                  <a:srgbClr val="003262"/>
                </a:solidFill>
                <a:latin typeface="Arial"/>
              </a:rPr>
              <a:t>Small schema:  </a:t>
            </a:r>
            <a:r>
              <a:rPr sz="2100">
                <a:solidFill>
                  <a:srgbClr val="1A1F2B"/>
                </a:solidFill>
                <a:latin typeface="Arial"/>
              </a:rPr>
              <a:t>task_history, events, frequent_tasks, model_usage, file_usage tables capture prompts, trajectories, cost, and files.</a:t>
            </a:r>
          </a:p>
          <a:p>
            <a:pPr algn="l">
              <a:lnSpc>
                <a:spcPct val="106000"/>
              </a:lnSpc>
              <a:spcAft>
                <a:spcPts val="1800"/>
              </a:spcAft>
            </a:pPr>
            <a:r>
              <a:rPr sz="2100" b="1">
                <a:solidFill>
                  <a:srgbClr val="FDB515"/>
                </a:solidFill>
                <a:latin typeface="Arial"/>
              </a:rPr>
              <a:t>—  </a:t>
            </a:r>
            <a:r>
              <a:rPr sz="2100" b="1">
                <a:solidFill>
                  <a:srgbClr val="003262"/>
                </a:solidFill>
                <a:latin typeface="Arial"/>
              </a:rPr>
              <a:t>Three extraction methods:  </a:t>
            </a:r>
            <a:r>
              <a:rPr sz="2100">
                <a:solidFill>
                  <a:srgbClr val="1A1F2B"/>
                </a:solidFill>
                <a:latin typeface="Arial"/>
              </a:rPr>
              <a:t>cluster by frequency, full-text LIKE queries over descriptions, and manual reading of representatives.</a:t>
            </a:r>
          </a:p>
          <a:p>
            <a:pPr algn="l">
              <a:lnSpc>
                <a:spcPct val="106000"/>
              </a:lnSpc>
              <a:spcAft>
                <a:spcPts val="1800"/>
              </a:spcAft>
            </a:pPr>
            <a:r>
              <a:rPr sz="2100" b="1">
                <a:solidFill>
                  <a:srgbClr val="FDB515"/>
                </a:solidFill>
                <a:latin typeface="Arial"/>
              </a:rPr>
              <a:t>—  </a:t>
            </a:r>
            <a:r>
              <a:rPr sz="2100" b="1">
                <a:solidFill>
                  <a:srgbClr val="003262"/>
                </a:solidFill>
                <a:latin typeface="Arial"/>
              </a:rPr>
              <a:t>Scale:  </a:t>
            </a:r>
            <a:r>
              <a:rPr sz="2100">
                <a:solidFill>
                  <a:srgbClr val="1A1F2B"/>
                </a:solidFill>
                <a:latin typeface="Arial"/>
              </a:rPr>
              <a:t>3,099 tasks across 44 days group into 877 sessions — ~3.5 tasks per session, confirming an iterative workflow.</a:t>
            </a:r>
          </a:p>
        </p:txBody>
      </p:sp>
      <p:sp>
        <p:nvSpPr>
          <p:cNvPr id="6" name="Rectangle 5"/>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8" name="TextBox 7"/>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W  H  A  T     T  H  E     D  E  V  E  L  O  P  E  R     D  I  D</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Task distribution (3,099 tasks)</a:t>
            </a:r>
          </a:p>
        </p:txBody>
      </p:sp>
      <p:sp>
        <p:nvSpPr>
          <p:cNvPr id="5" name="Rectangle 4"/>
          <p:cNvSpPr/>
          <p:nvPr/>
        </p:nvSpPr>
        <p:spPr>
          <a:xfrm>
            <a:off x="822960" y="1874519"/>
            <a:ext cx="10515600" cy="47548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874519"/>
            <a:ext cx="6858000" cy="475488"/>
          </a:xfrm>
          <a:prstGeom prst="rect">
            <a:avLst/>
          </a:prstGeom>
          <a:noFill/>
        </p:spPr>
        <p:txBody>
          <a:bodyPr wrap="square" lIns="0" tIns="0" rIns="0" bIns="0" anchor="ctr">
            <a:spAutoFit/>
          </a:bodyPr>
          <a:lstStyle/>
          <a:p>
            <a:pPr algn="l">
              <a:lnSpc>
                <a:spcPct val="100000"/>
              </a:lnSpc>
              <a:spcBef>
                <a:spcPts val="0"/>
              </a:spcBef>
              <a:spcAft>
                <a:spcPts val="800"/>
              </a:spcAft>
            </a:pPr>
            <a:r>
              <a:rPr sz="1700" b="1" i="0">
                <a:solidFill>
                  <a:srgbClr val="FFFFFF"/>
                </a:solidFill>
                <a:latin typeface="Arial"/>
              </a:rPr>
              <a:t>Category</a:t>
            </a:r>
          </a:p>
        </p:txBody>
      </p:sp>
      <p:sp>
        <p:nvSpPr>
          <p:cNvPr id="7" name="TextBox 6"/>
          <p:cNvSpPr txBox="1"/>
          <p:nvPr/>
        </p:nvSpPr>
        <p:spPr>
          <a:xfrm>
            <a:off x="8138160" y="1874519"/>
            <a:ext cx="1463040" cy="475488"/>
          </a:xfrm>
          <a:prstGeom prst="rect">
            <a:avLst/>
          </a:prstGeom>
          <a:noFill/>
        </p:spPr>
        <p:txBody>
          <a:bodyPr wrap="square" lIns="0" tIns="0" rIns="0" bIns="0" anchor="ctr">
            <a:spAutoFit/>
          </a:bodyPr>
          <a:lstStyle/>
          <a:p>
            <a:pPr algn="r">
              <a:lnSpc>
                <a:spcPct val="100000"/>
              </a:lnSpc>
              <a:spcBef>
                <a:spcPts val="0"/>
              </a:spcBef>
              <a:spcAft>
                <a:spcPts val="800"/>
              </a:spcAft>
            </a:pPr>
            <a:r>
              <a:rPr sz="1700" b="1" i="0">
                <a:solidFill>
                  <a:srgbClr val="FFFFFF"/>
                </a:solidFill>
                <a:latin typeface="Arial"/>
              </a:rPr>
              <a:t>Count</a:t>
            </a:r>
          </a:p>
        </p:txBody>
      </p:sp>
      <p:sp>
        <p:nvSpPr>
          <p:cNvPr id="8" name="TextBox 7"/>
          <p:cNvSpPr txBox="1"/>
          <p:nvPr/>
        </p:nvSpPr>
        <p:spPr>
          <a:xfrm>
            <a:off x="9601200" y="1874519"/>
            <a:ext cx="1463040" cy="475488"/>
          </a:xfrm>
          <a:prstGeom prst="rect">
            <a:avLst/>
          </a:prstGeom>
          <a:noFill/>
        </p:spPr>
        <p:txBody>
          <a:bodyPr wrap="square" lIns="0" tIns="0" rIns="0" bIns="0" anchor="ctr">
            <a:spAutoFit/>
          </a:bodyPr>
          <a:lstStyle/>
          <a:p>
            <a:pPr algn="r">
              <a:lnSpc>
                <a:spcPct val="100000"/>
              </a:lnSpc>
              <a:spcBef>
                <a:spcPts val="0"/>
              </a:spcBef>
              <a:spcAft>
                <a:spcPts val="800"/>
              </a:spcAft>
            </a:pPr>
            <a:r>
              <a:rPr sz="1700" b="1" i="0">
                <a:solidFill>
                  <a:srgbClr val="FDB515"/>
                </a:solidFill>
                <a:latin typeface="Arial"/>
              </a:rPr>
              <a:t>Share</a:t>
            </a:r>
          </a:p>
        </p:txBody>
      </p:sp>
      <p:sp>
        <p:nvSpPr>
          <p:cNvPr id="9" name="Rectangle 8"/>
          <p:cNvSpPr/>
          <p:nvPr/>
        </p:nvSpPr>
        <p:spPr>
          <a:xfrm>
            <a:off x="822960" y="2350007"/>
            <a:ext cx="105156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50007"/>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Bug finding, reproducing &amp; fixing</a:t>
            </a:r>
          </a:p>
        </p:txBody>
      </p:sp>
      <p:sp>
        <p:nvSpPr>
          <p:cNvPr id="11" name="TextBox 10"/>
          <p:cNvSpPr txBox="1"/>
          <p:nvPr/>
        </p:nvSpPr>
        <p:spPr>
          <a:xfrm>
            <a:off x="8138160" y="2350007"/>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~620</a:t>
            </a:r>
          </a:p>
        </p:txBody>
      </p:sp>
      <p:sp>
        <p:nvSpPr>
          <p:cNvPr id="12" name="TextBox 11"/>
          <p:cNvSpPr txBox="1"/>
          <p:nvPr/>
        </p:nvSpPr>
        <p:spPr>
          <a:xfrm>
            <a:off x="9601200" y="2350007"/>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20%</a:t>
            </a:r>
          </a:p>
        </p:txBody>
      </p:sp>
      <p:sp>
        <p:nvSpPr>
          <p:cNvPr id="13" name="Rectangle 12"/>
          <p:cNvSpPr/>
          <p:nvPr/>
        </p:nvSpPr>
        <p:spPr>
          <a:xfrm>
            <a:off x="822960" y="2752343"/>
            <a:ext cx="10515600" cy="402336"/>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2752343"/>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Feature implementation</a:t>
            </a:r>
          </a:p>
        </p:txBody>
      </p:sp>
      <p:sp>
        <p:nvSpPr>
          <p:cNvPr id="15" name="TextBox 14"/>
          <p:cNvSpPr txBox="1"/>
          <p:nvPr/>
        </p:nvSpPr>
        <p:spPr>
          <a:xfrm>
            <a:off x="8138160" y="2752343"/>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~520</a:t>
            </a:r>
          </a:p>
        </p:txBody>
      </p:sp>
      <p:sp>
        <p:nvSpPr>
          <p:cNvPr id="16" name="TextBox 15"/>
          <p:cNvSpPr txBox="1"/>
          <p:nvPr/>
        </p:nvSpPr>
        <p:spPr>
          <a:xfrm>
            <a:off x="9601200" y="2752343"/>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17%</a:t>
            </a:r>
          </a:p>
        </p:txBody>
      </p:sp>
      <p:sp>
        <p:nvSpPr>
          <p:cNvPr id="17" name="Rectangle 16"/>
          <p:cNvSpPr/>
          <p:nvPr/>
        </p:nvSpPr>
        <p:spPr>
          <a:xfrm>
            <a:off x="822960" y="3154679"/>
            <a:ext cx="105156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3154679"/>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UI / UX refinement</a:t>
            </a:r>
          </a:p>
        </p:txBody>
      </p:sp>
      <p:sp>
        <p:nvSpPr>
          <p:cNvPr id="19" name="TextBox 18"/>
          <p:cNvSpPr txBox="1"/>
          <p:nvPr/>
        </p:nvSpPr>
        <p:spPr>
          <a:xfrm>
            <a:off x="8138160" y="3154679"/>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~360</a:t>
            </a:r>
          </a:p>
        </p:txBody>
      </p:sp>
      <p:sp>
        <p:nvSpPr>
          <p:cNvPr id="20" name="TextBox 19"/>
          <p:cNvSpPr txBox="1"/>
          <p:nvPr/>
        </p:nvSpPr>
        <p:spPr>
          <a:xfrm>
            <a:off x="9601200" y="3154679"/>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12%</a:t>
            </a:r>
          </a:p>
        </p:txBody>
      </p:sp>
      <p:sp>
        <p:nvSpPr>
          <p:cNvPr id="21" name="Rectangle 20"/>
          <p:cNvSpPr/>
          <p:nvPr/>
        </p:nvSpPr>
        <p:spPr>
          <a:xfrm>
            <a:off x="822960" y="3557015"/>
            <a:ext cx="10515600" cy="402336"/>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3557015"/>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Paper writing &amp; building</a:t>
            </a:r>
          </a:p>
        </p:txBody>
      </p:sp>
      <p:sp>
        <p:nvSpPr>
          <p:cNvPr id="23" name="TextBox 22"/>
          <p:cNvSpPr txBox="1"/>
          <p:nvPr/>
        </p:nvSpPr>
        <p:spPr>
          <a:xfrm>
            <a:off x="8138160" y="3557015"/>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~310</a:t>
            </a:r>
          </a:p>
        </p:txBody>
      </p:sp>
      <p:sp>
        <p:nvSpPr>
          <p:cNvPr id="24" name="TextBox 23"/>
          <p:cNvSpPr txBox="1"/>
          <p:nvPr/>
        </p:nvSpPr>
        <p:spPr>
          <a:xfrm>
            <a:off x="9601200" y="3557015"/>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10%</a:t>
            </a:r>
          </a:p>
        </p:txBody>
      </p:sp>
      <p:sp>
        <p:nvSpPr>
          <p:cNvPr id="25" name="Rectangle 24"/>
          <p:cNvSpPr/>
          <p:nvPr/>
        </p:nvSpPr>
        <p:spPr>
          <a:xfrm>
            <a:off x="822960" y="3959351"/>
            <a:ext cx="105156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3959351"/>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Code quality / refactoring</a:t>
            </a:r>
          </a:p>
        </p:txBody>
      </p:sp>
      <p:sp>
        <p:nvSpPr>
          <p:cNvPr id="27" name="TextBox 26"/>
          <p:cNvSpPr txBox="1"/>
          <p:nvPr/>
        </p:nvSpPr>
        <p:spPr>
          <a:xfrm>
            <a:off x="8138160" y="3959351"/>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~250</a:t>
            </a:r>
          </a:p>
        </p:txBody>
      </p:sp>
      <p:sp>
        <p:nvSpPr>
          <p:cNvPr id="28" name="TextBox 27"/>
          <p:cNvSpPr txBox="1"/>
          <p:nvPr/>
        </p:nvSpPr>
        <p:spPr>
          <a:xfrm>
            <a:off x="9601200" y="3959351"/>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8%</a:t>
            </a:r>
          </a:p>
        </p:txBody>
      </p:sp>
      <p:sp>
        <p:nvSpPr>
          <p:cNvPr id="29" name="Rectangle 28"/>
          <p:cNvSpPr/>
          <p:nvPr/>
        </p:nvSpPr>
        <p:spPr>
          <a:xfrm>
            <a:off x="822960" y="4361687"/>
            <a:ext cx="10515600" cy="402336"/>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51560" y="4361687"/>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Testing &amp; CI</a:t>
            </a:r>
          </a:p>
        </p:txBody>
      </p:sp>
      <p:sp>
        <p:nvSpPr>
          <p:cNvPr id="31" name="TextBox 30"/>
          <p:cNvSpPr txBox="1"/>
          <p:nvPr/>
        </p:nvSpPr>
        <p:spPr>
          <a:xfrm>
            <a:off x="8138160" y="4361687"/>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~210</a:t>
            </a:r>
          </a:p>
        </p:txBody>
      </p:sp>
      <p:sp>
        <p:nvSpPr>
          <p:cNvPr id="32" name="TextBox 31"/>
          <p:cNvSpPr txBox="1"/>
          <p:nvPr/>
        </p:nvSpPr>
        <p:spPr>
          <a:xfrm>
            <a:off x="9601200" y="4361687"/>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7%</a:t>
            </a:r>
          </a:p>
        </p:txBody>
      </p:sp>
      <p:sp>
        <p:nvSpPr>
          <p:cNvPr id="33" name="Rectangle 32"/>
          <p:cNvSpPr/>
          <p:nvPr/>
        </p:nvSpPr>
        <p:spPr>
          <a:xfrm>
            <a:off x="822960" y="4764023"/>
            <a:ext cx="105156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51560" y="4764023"/>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General assistance (weather, travel, stocks…)</a:t>
            </a:r>
          </a:p>
        </p:txBody>
      </p:sp>
      <p:sp>
        <p:nvSpPr>
          <p:cNvPr id="35" name="TextBox 34"/>
          <p:cNvSpPr txBox="1"/>
          <p:nvPr/>
        </p:nvSpPr>
        <p:spPr>
          <a:xfrm>
            <a:off x="8138160" y="4764023"/>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~210</a:t>
            </a:r>
          </a:p>
        </p:txBody>
      </p:sp>
      <p:sp>
        <p:nvSpPr>
          <p:cNvPr id="36" name="TextBox 35"/>
          <p:cNvSpPr txBox="1"/>
          <p:nvPr/>
        </p:nvSpPr>
        <p:spPr>
          <a:xfrm>
            <a:off x="9601200" y="4764023"/>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7%</a:t>
            </a:r>
          </a:p>
        </p:txBody>
      </p:sp>
      <p:sp>
        <p:nvSpPr>
          <p:cNvPr id="37" name="Rectangle 36"/>
          <p:cNvSpPr/>
          <p:nvPr/>
        </p:nvSpPr>
        <p:spPr>
          <a:xfrm>
            <a:off x="822960" y="5166359"/>
            <a:ext cx="10515600" cy="402336"/>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1560" y="5166359"/>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Git operations</a:t>
            </a:r>
          </a:p>
        </p:txBody>
      </p:sp>
      <p:sp>
        <p:nvSpPr>
          <p:cNvPr id="39" name="TextBox 38"/>
          <p:cNvSpPr txBox="1"/>
          <p:nvPr/>
        </p:nvSpPr>
        <p:spPr>
          <a:xfrm>
            <a:off x="8138160" y="5166359"/>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~155</a:t>
            </a:r>
          </a:p>
        </p:txBody>
      </p:sp>
      <p:sp>
        <p:nvSpPr>
          <p:cNvPr id="40" name="TextBox 39"/>
          <p:cNvSpPr txBox="1"/>
          <p:nvPr/>
        </p:nvSpPr>
        <p:spPr>
          <a:xfrm>
            <a:off x="9601200" y="5166359"/>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5%</a:t>
            </a:r>
          </a:p>
        </p:txBody>
      </p:sp>
      <p:sp>
        <p:nvSpPr>
          <p:cNvPr id="41" name="Rectangle 40"/>
          <p:cNvSpPr/>
          <p:nvPr/>
        </p:nvSpPr>
        <p:spPr>
          <a:xfrm>
            <a:off x="822960" y="5568695"/>
            <a:ext cx="105156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51560" y="5568695"/>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Greetings &amp; identity</a:t>
            </a:r>
          </a:p>
        </p:txBody>
      </p:sp>
      <p:sp>
        <p:nvSpPr>
          <p:cNvPr id="43" name="TextBox 42"/>
          <p:cNvSpPr txBox="1"/>
          <p:nvPr/>
        </p:nvSpPr>
        <p:spPr>
          <a:xfrm>
            <a:off x="8138160" y="5568695"/>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~150</a:t>
            </a:r>
          </a:p>
        </p:txBody>
      </p:sp>
      <p:sp>
        <p:nvSpPr>
          <p:cNvPr id="44" name="TextBox 43"/>
          <p:cNvSpPr txBox="1"/>
          <p:nvPr/>
        </p:nvSpPr>
        <p:spPr>
          <a:xfrm>
            <a:off x="9601200" y="5568695"/>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5%</a:t>
            </a:r>
          </a:p>
        </p:txBody>
      </p:sp>
      <p:sp>
        <p:nvSpPr>
          <p:cNvPr id="45" name="Rectangle 44"/>
          <p:cNvSpPr/>
          <p:nvPr/>
        </p:nvSpPr>
        <p:spPr>
          <a:xfrm>
            <a:off x="822960" y="5971031"/>
            <a:ext cx="10515600" cy="402336"/>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1560" y="5971031"/>
            <a:ext cx="6949440" cy="402336"/>
          </a:xfrm>
          <a:prstGeom prst="rect">
            <a:avLst/>
          </a:prstGeom>
          <a:noFill/>
        </p:spPr>
        <p:txBody>
          <a:bodyPr wrap="square" lIns="0" tIns="0" rIns="0" bIns="0" anchor="ctr">
            <a:spAutoFit/>
          </a:bodyPr>
          <a:lstStyle/>
          <a:p>
            <a:pPr algn="l">
              <a:lnSpc>
                <a:spcPct val="100000"/>
              </a:lnSpc>
              <a:spcBef>
                <a:spcPts val="0"/>
              </a:spcBef>
              <a:spcAft>
                <a:spcPts val="800"/>
              </a:spcAft>
            </a:pPr>
            <a:r>
              <a:rPr sz="1500" b="0" i="0">
                <a:solidFill>
                  <a:srgbClr val="1A1F2B"/>
                </a:solidFill>
                <a:latin typeface="Arial"/>
              </a:rPr>
              <a:t>Communication / smart-home / other</a:t>
            </a:r>
          </a:p>
        </p:txBody>
      </p:sp>
      <p:sp>
        <p:nvSpPr>
          <p:cNvPr id="47" name="TextBox 46"/>
          <p:cNvSpPr txBox="1"/>
          <p:nvPr/>
        </p:nvSpPr>
        <p:spPr>
          <a:xfrm>
            <a:off x="8138160" y="5971031"/>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0" i="0">
                <a:solidFill>
                  <a:srgbClr val="4A5260"/>
                </a:solidFill>
                <a:latin typeface="Arial"/>
              </a:rPr>
              <a:t>~290</a:t>
            </a:r>
          </a:p>
        </p:txBody>
      </p:sp>
      <p:sp>
        <p:nvSpPr>
          <p:cNvPr id="48" name="TextBox 47"/>
          <p:cNvSpPr txBox="1"/>
          <p:nvPr/>
        </p:nvSpPr>
        <p:spPr>
          <a:xfrm>
            <a:off x="9601200" y="5971031"/>
            <a:ext cx="1463040" cy="402336"/>
          </a:xfrm>
          <a:prstGeom prst="rect">
            <a:avLst/>
          </a:prstGeom>
          <a:noFill/>
        </p:spPr>
        <p:txBody>
          <a:bodyPr wrap="square" lIns="0" tIns="0" rIns="0" bIns="0" anchor="ctr">
            <a:spAutoFit/>
          </a:bodyPr>
          <a:lstStyle/>
          <a:p>
            <a:pPr algn="r">
              <a:lnSpc>
                <a:spcPct val="100000"/>
              </a:lnSpc>
              <a:spcBef>
                <a:spcPts val="0"/>
              </a:spcBef>
              <a:spcAft>
                <a:spcPts val="800"/>
              </a:spcAft>
            </a:pPr>
            <a:r>
              <a:rPr sz="1500" b="1" i="0">
                <a:solidFill>
                  <a:srgbClr val="C88A00"/>
                </a:solidFill>
                <a:latin typeface="Arial"/>
              </a:rPr>
              <a:t>10%</a:t>
            </a:r>
          </a:p>
        </p:txBody>
      </p:sp>
      <p:sp>
        <p:nvSpPr>
          <p:cNvPr id="49" name="Rectangle 48"/>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51" name="TextBox 50"/>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F  I  N  D  I  N  G  S</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Nine recurring usage patterns</a:t>
            </a:r>
          </a:p>
        </p:txBody>
      </p:sp>
      <p:sp>
        <p:nvSpPr>
          <p:cNvPr id="5" name="Rectangle 4"/>
          <p:cNvSpPr/>
          <p:nvPr/>
        </p:nvSpPr>
        <p:spPr>
          <a:xfrm>
            <a:off x="822960" y="192024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920240"/>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20240"/>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1</a:t>
            </a:r>
          </a:p>
        </p:txBody>
      </p:sp>
      <p:sp>
        <p:nvSpPr>
          <p:cNvPr id="8" name="TextBox 7"/>
          <p:cNvSpPr txBox="1"/>
          <p:nvPr/>
        </p:nvSpPr>
        <p:spPr>
          <a:xfrm>
            <a:off x="1691640" y="1920240"/>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Test-first bug fixing</a:t>
            </a:r>
          </a:p>
        </p:txBody>
      </p:sp>
      <p:sp>
        <p:nvSpPr>
          <p:cNvPr id="9" name="Rectangle 8"/>
          <p:cNvSpPr/>
          <p:nvPr/>
        </p:nvSpPr>
        <p:spPr>
          <a:xfrm>
            <a:off x="6172200" y="192024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1920240"/>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1920240"/>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2</a:t>
            </a:r>
          </a:p>
        </p:txBody>
      </p:sp>
      <p:sp>
        <p:nvSpPr>
          <p:cNvPr id="12" name="TextBox 11"/>
          <p:cNvSpPr txBox="1"/>
          <p:nvPr/>
        </p:nvSpPr>
        <p:spPr>
          <a:xfrm>
            <a:off x="7040880" y="1920240"/>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Iterative feature construction</a:t>
            </a:r>
          </a:p>
        </p:txBody>
      </p:sp>
      <p:sp>
        <p:nvSpPr>
          <p:cNvPr id="13" name="Rectangle 12"/>
          <p:cNvSpPr/>
          <p:nvPr/>
        </p:nvSpPr>
        <p:spPr>
          <a:xfrm>
            <a:off x="822960" y="2826005"/>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2826005"/>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826005"/>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3</a:t>
            </a:r>
          </a:p>
        </p:txBody>
      </p:sp>
      <p:sp>
        <p:nvSpPr>
          <p:cNvPr id="16" name="TextBox 15"/>
          <p:cNvSpPr txBox="1"/>
          <p:nvPr/>
        </p:nvSpPr>
        <p:spPr>
          <a:xfrm>
            <a:off x="1691640" y="2826005"/>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Periodic code hygiene</a:t>
            </a:r>
          </a:p>
        </p:txBody>
      </p:sp>
      <p:sp>
        <p:nvSpPr>
          <p:cNvPr id="17" name="Rectangle 16"/>
          <p:cNvSpPr/>
          <p:nvPr/>
        </p:nvSpPr>
        <p:spPr>
          <a:xfrm>
            <a:off x="6172200" y="2826005"/>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2826005"/>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72200" y="2826005"/>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4</a:t>
            </a:r>
          </a:p>
        </p:txBody>
      </p:sp>
      <p:sp>
        <p:nvSpPr>
          <p:cNvPr id="20" name="TextBox 19"/>
          <p:cNvSpPr txBox="1"/>
          <p:nvPr/>
        </p:nvSpPr>
        <p:spPr>
          <a:xfrm>
            <a:off x="7040880" y="2826005"/>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Paper–code co-evolution</a:t>
            </a:r>
          </a:p>
        </p:txBody>
      </p:sp>
      <p:sp>
        <p:nvSpPr>
          <p:cNvPr id="21" name="Rectangle 20"/>
          <p:cNvSpPr/>
          <p:nvPr/>
        </p:nvSpPr>
        <p:spPr>
          <a:xfrm>
            <a:off x="822960" y="373177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3731770"/>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731770"/>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5</a:t>
            </a:r>
          </a:p>
        </p:txBody>
      </p:sp>
      <p:sp>
        <p:nvSpPr>
          <p:cNvPr id="24" name="TextBox 23"/>
          <p:cNvSpPr txBox="1"/>
          <p:nvPr/>
        </p:nvSpPr>
        <p:spPr>
          <a:xfrm>
            <a:off x="1691640" y="3731770"/>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Architecture investigation before change</a:t>
            </a:r>
          </a:p>
        </p:txBody>
      </p:sp>
      <p:sp>
        <p:nvSpPr>
          <p:cNvPr id="25" name="Rectangle 24"/>
          <p:cNvSpPr/>
          <p:nvPr/>
        </p:nvSpPr>
        <p:spPr>
          <a:xfrm>
            <a:off x="6172200" y="373177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72200" y="3731770"/>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72200" y="3731770"/>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6</a:t>
            </a:r>
          </a:p>
        </p:txBody>
      </p:sp>
      <p:sp>
        <p:nvSpPr>
          <p:cNvPr id="28" name="TextBox 27"/>
          <p:cNvSpPr txBox="1"/>
          <p:nvPr/>
        </p:nvSpPr>
        <p:spPr>
          <a:xfrm>
            <a:off x="7040880" y="3731770"/>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System-prompt engineering</a:t>
            </a:r>
          </a:p>
        </p:txBody>
      </p:sp>
      <p:sp>
        <p:nvSpPr>
          <p:cNvPr id="29" name="Rectangle 28"/>
          <p:cNvSpPr/>
          <p:nvPr/>
        </p:nvSpPr>
        <p:spPr>
          <a:xfrm>
            <a:off x="822960" y="4637535"/>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 y="4637535"/>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4637535"/>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7</a:t>
            </a:r>
          </a:p>
        </p:txBody>
      </p:sp>
      <p:sp>
        <p:nvSpPr>
          <p:cNvPr id="32" name="TextBox 31"/>
          <p:cNvSpPr txBox="1"/>
          <p:nvPr/>
        </p:nvSpPr>
        <p:spPr>
          <a:xfrm>
            <a:off x="1691640" y="4637535"/>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Multi-channel general assistance</a:t>
            </a:r>
          </a:p>
        </p:txBody>
      </p:sp>
      <p:sp>
        <p:nvSpPr>
          <p:cNvPr id="33" name="Rectangle 32"/>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35" name="TextBox 34"/>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07</a:t>
            </a:r>
          </a:p>
        </p:txBody>
      </p:sp>
      <p:sp>
        <p:nvSpPr>
          <p:cNvPr id="29" name="Rectangle 28"/>
          <p:cNvSpPr/>
          <p:nvPr/>
        </p:nvSpPr>
        <p:spPr>
          <a:xfrm>
            <a:off x="6172200" y="4637535"/>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72200" y="4637535"/>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4637535"/>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8</a:t>
            </a:r>
          </a:p>
        </p:txBody>
      </p:sp>
      <p:sp>
        <p:nvSpPr>
          <p:cNvPr id="32" name="TextBox 31"/>
          <p:cNvSpPr txBox="1"/>
          <p:nvPr/>
        </p:nvSpPr>
        <p:spPr>
          <a:xfrm>
            <a:off x="7040880" y="4637535"/>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Invariant specification and repair</a:t>
            </a:r>
          </a:p>
        </p:txBody>
      </p:sp>
      <p:sp>
        <p:nvSpPr>
          <p:cNvPr id="29" name="Rectangle 28"/>
          <p:cNvSpPr/>
          <p:nvPr/>
        </p:nvSpPr>
        <p:spPr>
          <a:xfrm>
            <a:off x="822960" y="554330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 y="5543300"/>
            <a:ext cx="640080" cy="8686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543300"/>
            <a:ext cx="640080" cy="868680"/>
          </a:xfrm>
          <a:prstGeom prst="rect">
            <a:avLst/>
          </a:prstGeom>
          <a:noFill/>
        </p:spPr>
        <p:txBody>
          <a:bodyPr wrap="square" lIns="0" tIns="0" rIns="0" bIns="0" anchor="ctr">
            <a:spAutoFit/>
          </a:bodyPr>
          <a:lstStyle/>
          <a:p>
            <a:pPr algn="ctr">
              <a:lnSpc>
                <a:spcPct val="100000"/>
              </a:lnSpc>
              <a:spcBef>
                <a:spcPts val="0"/>
              </a:spcBef>
              <a:spcAft>
                <a:spcPts val="800"/>
              </a:spcAft>
            </a:pPr>
            <a:r>
              <a:rPr sz="3000" b="1" i="0">
                <a:solidFill>
                  <a:srgbClr val="FDB515"/>
                </a:solidFill>
                <a:latin typeface="Arial"/>
              </a:rPr>
              <a:t>9</a:t>
            </a:r>
          </a:p>
        </p:txBody>
      </p:sp>
      <p:sp>
        <p:nvSpPr>
          <p:cNvPr id="32" name="TextBox 31"/>
          <p:cNvSpPr txBox="1"/>
          <p:nvPr/>
        </p:nvSpPr>
        <p:spPr>
          <a:xfrm>
            <a:off x="1691640" y="5543300"/>
            <a:ext cx="4069080" cy="868680"/>
          </a:xfrm>
          <a:prstGeom prst="rect">
            <a:avLst/>
          </a:prstGeom>
          <a:noFill/>
        </p:spPr>
        <p:txBody>
          <a:bodyPr wrap="square" lIns="0" tIns="0" rIns="0" bIns="0" anchor="ctr">
            <a:spAutoFit/>
          </a:bodyPr>
          <a:lstStyle/>
          <a:p>
            <a:pPr algn="l">
              <a:lnSpc>
                <a:spcPct val="100000"/>
              </a:lnSpc>
              <a:spcBef>
                <a:spcPts val="0"/>
              </a:spcBef>
              <a:spcAft>
                <a:spcPts val="800"/>
              </a:spcAft>
            </a:pPr>
            <a:r>
              <a:rPr sz="2000" b="1" i="0">
                <a:solidFill>
                  <a:srgbClr val="003262"/>
                </a:solidFill>
                <a:latin typeface="Arial"/>
              </a:rPr>
              <a:t>Cross-model iterative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1</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Test-first bug fixing</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The most common pattern (~20% of tasks): report a bug, write a test that reproduces it, then fix the root cause and verify.</a:t>
            </a:r>
          </a:p>
        </p:txBody>
      </p:sp>
      <p:sp>
        <p:nvSpPr>
          <p:cNvPr id="6" name="TextBox 5"/>
          <p:cNvSpPr txBox="1"/>
          <p:nvPr/>
        </p:nvSpPr>
        <p:spPr>
          <a:xfrm>
            <a:off x="822960" y="2743200"/>
            <a:ext cx="6126480" cy="3383280"/>
          </a:xfrm>
          <a:prstGeom prst="rect">
            <a:avLst/>
          </a:prstGeom>
          <a:noFill/>
        </p:spPr>
        <p:txBody>
          <a:bodyPr wrap="square" lIns="0" tIns="0" rIns="0" bIns="0" anchor="t">
            <a:spAutoFit/>
          </a:bodyPr>
          <a:lstStyle/>
          <a:p>
            <a:pPr algn="l">
              <a:lnSpc>
                <a:spcPct val="106000"/>
              </a:lnSpc>
              <a:spcAft>
                <a:spcPts val="1400"/>
              </a:spcAft>
            </a:pPr>
            <a:r>
              <a:rPr sz="1900" b="1">
                <a:solidFill>
                  <a:srgbClr val="FDB515"/>
                </a:solidFill>
                <a:latin typeface="Arial"/>
              </a:rPr>
              <a:t>—  </a:t>
            </a:r>
            <a:r>
              <a:rPr sz="1900" b="1">
                <a:solidFill>
                  <a:srgbClr val="003262"/>
                </a:solidFill>
                <a:latin typeface="Arial"/>
              </a:rPr>
              <a:t>Three-step protocol:  </a:t>
            </a:r>
            <a:r>
              <a:rPr sz="1900">
                <a:solidFill>
                  <a:srgbClr val="1A1F2B"/>
                </a:solidFill>
                <a:latin typeface="Arial"/>
              </a:rPr>
              <a:t>report → reproduce with an integration test → fix root cause and confirm the test passes.</a:t>
            </a:r>
          </a:p>
          <a:p>
            <a:pPr algn="l">
              <a:lnSpc>
                <a:spcPct val="106000"/>
              </a:lnSpc>
              <a:spcAft>
                <a:spcPts val="1400"/>
              </a:spcAft>
            </a:pPr>
            <a:r>
              <a:rPr sz="1900" b="1">
                <a:solidFill>
                  <a:srgbClr val="FDB515"/>
                </a:solidFill>
                <a:latin typeface="Arial"/>
              </a:rPr>
              <a:t>—  </a:t>
            </a:r>
            <a:r>
              <a:rPr sz="1900" b="1">
                <a:solidFill>
                  <a:srgbClr val="003262"/>
                </a:solidFill>
                <a:latin typeface="Arial"/>
              </a:rPr>
              <a:t>Evidence, not edits:  </a:t>
            </a:r>
            <a:r>
              <a:rPr sz="1900">
                <a:solidFill>
                  <a:srgbClr val="1A1F2B"/>
                </a:solidFill>
                <a:latin typeface="Arial"/>
              </a:rPr>
              <a:t>a test that fails before and passes after proves the bug was real and the fix addressed it.</a:t>
            </a:r>
          </a:p>
          <a:p>
            <a:pPr algn="l">
              <a:lnSpc>
                <a:spcPct val="106000"/>
              </a:lnSpc>
              <a:spcAft>
                <a:spcPts val="1400"/>
              </a:spcAft>
            </a:pPr>
            <a:r>
              <a:rPr sz="1900" b="1">
                <a:solidFill>
                  <a:srgbClr val="FDB515"/>
                </a:solidFill>
                <a:latin typeface="Arial"/>
              </a:rPr>
              <a:t>—  </a:t>
            </a:r>
            <a:r>
              <a:rPr sz="1900" b="1">
                <a:solidFill>
                  <a:srgbClr val="003262"/>
                </a:solidFill>
                <a:latin typeface="Arial"/>
              </a:rPr>
              <a:t>Concurrency sub-class:  </a:t>
            </a:r>
            <a:r>
              <a:rPr sz="1900">
                <a:solidFill>
                  <a:srgbClr val="1A1F2B"/>
                </a:solidFill>
                <a:latin typeface="Arial"/>
              </a:rPr>
              <a:t>race conditions exposed by running many tabs and a remote server against one repo.</a:t>
            </a:r>
          </a:p>
          <a:p>
            <a:pPr algn="l">
              <a:lnSpc>
                <a:spcPct val="106000"/>
              </a:lnSpc>
              <a:spcAft>
                <a:spcPts val="1400"/>
              </a:spcAft>
            </a:pPr>
            <a:r>
              <a:rPr sz="1900" b="1">
                <a:solidFill>
                  <a:srgbClr val="FDB515"/>
                </a:solidFill>
                <a:latin typeface="Arial"/>
              </a:rPr>
              <a:t>—  </a:t>
            </a:r>
            <a:r>
              <a:rPr sz="1900" b="1">
                <a:solidFill>
                  <a:srgbClr val="003262"/>
                </a:solidFill>
                <a:latin typeface="Arial"/>
              </a:rPr>
              <a:t>Defensive revert:  </a:t>
            </a:r>
            <a:r>
              <a:rPr sz="1900">
                <a:solidFill>
                  <a:srgbClr val="1A1F2B"/>
                </a:solidFill>
                <a:latin typeface="Arial"/>
              </a:rPr>
              <a:t>“get rid of the last commit” recurs 30+ times — undo first, re-attempt fresh.</a:t>
            </a:r>
          </a:p>
        </p:txBody>
      </p:sp>
      <p:sp>
        <p:nvSpPr>
          <p:cNvPr id="7" name="Rectangle 6"/>
          <p:cNvSpPr/>
          <p:nvPr/>
        </p:nvSpPr>
        <p:spPr>
          <a:xfrm>
            <a:off x="7178040" y="2743200"/>
            <a:ext cx="4160520" cy="3200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78040" y="2743200"/>
            <a:ext cx="416052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0" y="3063240"/>
            <a:ext cx="3520440" cy="265176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FDB515"/>
                </a:solidFill>
                <a:latin typeface="Arial"/>
              </a:rPr>
              <a:t>From the log</a:t>
            </a:r>
          </a:p>
          <a:p>
            <a:pPr algn="l">
              <a:lnSpc>
                <a:spcPct val="112000"/>
              </a:lnSpc>
              <a:spcBef>
                <a:spcPts val="0"/>
              </a:spcBef>
              <a:spcAft>
                <a:spcPts val="800"/>
              </a:spcAft>
            </a:pPr>
            <a:r>
              <a:rPr sz="1900" b="0" i="1">
                <a:solidFill>
                  <a:srgbClr val="FFFFFF"/>
                </a:solidFill>
                <a:latin typeface="Arial"/>
              </a:rPr>
              <a:t>“Can you reproduce the bug by writing an integration test? Then fix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2</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Iterative feature construction</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Features were never built in one task. Describe → observe → refine, often across 5–20 tasks in a single chat session.</a:t>
            </a:r>
          </a:p>
        </p:txBody>
      </p:sp>
      <p:sp>
        <p:nvSpPr>
          <p:cNvPr id="6" name="TextBox 5"/>
          <p:cNvSpPr txBox="1"/>
          <p:nvPr/>
        </p:nvSpPr>
        <p:spPr>
          <a:xfrm>
            <a:off x="822960" y="2743200"/>
            <a:ext cx="6126480" cy="3383280"/>
          </a:xfrm>
          <a:prstGeom prst="rect">
            <a:avLst/>
          </a:prstGeom>
          <a:noFill/>
        </p:spPr>
        <p:txBody>
          <a:bodyPr wrap="square" lIns="0" tIns="0" rIns="0" bIns="0" anchor="t">
            <a:spAutoFit/>
          </a:bodyPr>
          <a:lstStyle/>
          <a:p>
            <a:pPr algn="l">
              <a:lnSpc>
                <a:spcPct val="106000"/>
              </a:lnSpc>
              <a:spcAft>
                <a:spcPts val="1400"/>
              </a:spcAft>
            </a:pPr>
            <a:r>
              <a:rPr sz="1900" b="1">
                <a:solidFill>
                  <a:srgbClr val="FDB515"/>
                </a:solidFill>
                <a:latin typeface="Arial"/>
              </a:rPr>
              <a:t>—  </a:t>
            </a:r>
            <a:r>
              <a:rPr sz="1900" b="1">
                <a:solidFill>
                  <a:srgbClr val="003262"/>
                </a:solidFill>
                <a:latin typeface="Arial"/>
              </a:rPr>
              <a:t>Remote web server:  </a:t>
            </a:r>
            <a:r>
              <a:rPr sz="1900">
                <a:solidFill>
                  <a:srgbClr val="1A1F2B"/>
                </a:solidFill>
                <a:latin typeface="Arial"/>
              </a:rPr>
              <a:t>started with one task, hardened over 60+ tasks — TLS, mobile layout, auth, URL discovery, robustness.</a:t>
            </a:r>
          </a:p>
          <a:p>
            <a:pPr algn="l">
              <a:lnSpc>
                <a:spcPct val="106000"/>
              </a:lnSpc>
              <a:spcAft>
                <a:spcPts val="1400"/>
              </a:spcAft>
            </a:pPr>
            <a:r>
              <a:rPr sz="1900" b="1">
                <a:solidFill>
                  <a:srgbClr val="FDB515"/>
                </a:solidFill>
                <a:latin typeface="Arial"/>
              </a:rPr>
              <a:t>—  </a:t>
            </a:r>
            <a:r>
              <a:rPr sz="1900" b="1">
                <a:solidFill>
                  <a:srgbClr val="003262"/>
                </a:solidFill>
                <a:latin typeface="Arial"/>
              </a:rPr>
              <a:t>Spec emerges from use:  </a:t>
            </a:r>
            <a:r>
              <a:rPr sz="1900">
                <a:solidFill>
                  <a:srgbClr val="1A1F2B"/>
                </a:solidFill>
                <a:latin typeface="Arial"/>
              </a:rPr>
              <a:t>no design document; each refinement was prompted by actually using the feature and hitting a limit.</a:t>
            </a:r>
          </a:p>
          <a:p>
            <a:pPr algn="l">
              <a:lnSpc>
                <a:spcPct val="106000"/>
              </a:lnSpc>
              <a:spcAft>
                <a:spcPts val="1400"/>
              </a:spcAft>
            </a:pPr>
            <a:r>
              <a:rPr sz="1900" b="1">
                <a:solidFill>
                  <a:srgbClr val="FDB515"/>
                </a:solidFill>
                <a:latin typeface="Arial"/>
              </a:rPr>
              <a:t>—  </a:t>
            </a:r>
            <a:r>
              <a:rPr sz="1900" b="1">
                <a:solidFill>
                  <a:srgbClr val="003262"/>
                </a:solidFill>
                <a:latin typeface="Arial"/>
              </a:rPr>
              <a:t>Interleaved with fixing:  </a:t>
            </a:r>
            <a:r>
              <a:rPr sz="1900">
                <a:solidFill>
                  <a:srgbClr val="1A1F2B"/>
                </a:solidFill>
                <a:latin typeface="Arial"/>
              </a:rPr>
              <a:t>~half the follow-ups in a feature session are themselves test-first bug reports.</a:t>
            </a:r>
          </a:p>
          <a:p>
            <a:pPr algn="l">
              <a:lnSpc>
                <a:spcPct val="106000"/>
              </a:lnSpc>
              <a:spcAft>
                <a:spcPts val="1400"/>
              </a:spcAft>
            </a:pPr>
            <a:r>
              <a:rPr sz="1900" b="1">
                <a:solidFill>
                  <a:srgbClr val="FDB515"/>
                </a:solidFill>
                <a:latin typeface="Arial"/>
              </a:rPr>
              <a:t>—  </a:t>
            </a:r>
            <a:r>
              <a:rPr sz="1900" b="1">
                <a:solidFill>
                  <a:srgbClr val="003262"/>
                </a:solidFill>
                <a:latin typeface="Arial"/>
              </a:rPr>
              <a:t>Demo mode:  </a:t>
            </a:r>
            <a:r>
              <a:rPr sz="1900">
                <a:solidFill>
                  <a:srgbClr val="1A1F2B"/>
                </a:solidFill>
                <a:latin typeface="Arial"/>
              </a:rPr>
              <a:t>refined over many days — a feature is never “done” when it first works.</a:t>
            </a:r>
          </a:p>
        </p:txBody>
      </p:sp>
      <p:sp>
        <p:nvSpPr>
          <p:cNvPr id="7" name="Rectangle 6"/>
          <p:cNvSpPr/>
          <p:nvPr/>
        </p:nvSpPr>
        <p:spPr>
          <a:xfrm>
            <a:off x="7178040" y="2743200"/>
            <a:ext cx="4160520" cy="3200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78040" y="2743200"/>
            <a:ext cx="416052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0" y="3063240"/>
            <a:ext cx="3520440" cy="265176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FDB515"/>
                </a:solidFill>
                <a:latin typeface="Arial"/>
              </a:rPr>
              <a:t>From the log</a:t>
            </a:r>
          </a:p>
          <a:p>
            <a:pPr algn="l">
              <a:lnSpc>
                <a:spcPct val="112000"/>
              </a:lnSpc>
              <a:spcBef>
                <a:spcPts val="0"/>
              </a:spcBef>
              <a:spcAft>
                <a:spcPts val="800"/>
              </a:spcAft>
            </a:pPr>
            <a:r>
              <a:rPr sz="1900" b="0" i="1">
                <a:solidFill>
                  <a:srgbClr val="FFFFFF"/>
                </a:solidFill>
                <a:latin typeface="Arial"/>
              </a:rPr>
              <a:t>“…implement a feature where the user can access KISS Sorcar from any device with a browser.”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3</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Periodic code hygiene</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Every 20–30 tasks, the developer ran a dedicated cleanup sweep — decoupled from feature work.</a:t>
            </a:r>
          </a:p>
        </p:txBody>
      </p:sp>
      <p:sp>
        <p:nvSpPr>
          <p:cNvPr id="6" name="TextBox 5"/>
          <p:cNvSpPr txBox="1"/>
          <p:nvPr/>
        </p:nvSpPr>
        <p:spPr>
          <a:xfrm>
            <a:off x="822960" y="2743200"/>
            <a:ext cx="10607040" cy="338328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“uv run check --full and fix”:  </a:t>
            </a:r>
            <a:r>
              <a:rPr sz="2100">
                <a:solidFill>
                  <a:srgbClr val="1A1F2B"/>
                </a:solidFill>
                <a:latin typeface="Arial"/>
              </a:rPr>
              <a:t>the 2nd most frequent command in the log (50 verbatim occurrences).</a:t>
            </a:r>
          </a:p>
          <a:p>
            <a:pPr algn="l">
              <a:lnSpc>
                <a:spcPct val="106000"/>
              </a:lnSpc>
              <a:spcAft>
                <a:spcPts val="1800"/>
              </a:spcAft>
            </a:pPr>
            <a:r>
              <a:rPr sz="2100" b="1">
                <a:solidFill>
                  <a:srgbClr val="FDB515"/>
                </a:solidFill>
                <a:latin typeface="Arial"/>
              </a:rPr>
              <a:t>—  </a:t>
            </a:r>
            <a:r>
              <a:rPr sz="2100" b="1">
                <a:solidFill>
                  <a:srgbClr val="003262"/>
                </a:solidFill>
                <a:latin typeface="Arial"/>
              </a:rPr>
              <a:t>Directory audits:  </a:t>
            </a:r>
            <a:r>
              <a:rPr sz="2100">
                <a:solidFill>
                  <a:srgbClr val="1A1F2B"/>
                </a:solidFill>
                <a:latin typeface="Arial"/>
              </a:rPr>
              <a:t>“find all bugs, redundancies, and inconsistencies” invokes a collect-then-act discipline.</a:t>
            </a:r>
          </a:p>
          <a:p>
            <a:pPr algn="l">
              <a:lnSpc>
                <a:spcPct val="106000"/>
              </a:lnSpc>
              <a:spcAft>
                <a:spcPts val="1800"/>
              </a:spcAft>
            </a:pPr>
            <a:r>
              <a:rPr sz="2100" b="1">
                <a:solidFill>
                  <a:srgbClr val="FDB515"/>
                </a:solidFill>
                <a:latin typeface="Arial"/>
              </a:rPr>
              <a:t>—  </a:t>
            </a:r>
            <a:r>
              <a:rPr sz="2100" b="1">
                <a:solidFill>
                  <a:srgbClr val="003262"/>
                </a:solidFill>
                <a:latin typeface="Arial"/>
              </a:rPr>
              <a:t>Honest test oracle:  </a:t>
            </a:r>
            <a:r>
              <a:rPr sz="2100">
                <a:solidFill>
                  <a:srgbClr val="1A1F2B"/>
                </a:solidFill>
                <a:latin typeface="Arial"/>
              </a:rPr>
              <a:t>“fix tests only if there is no bug in the code — report the bugs” guards against weakened assertions.</a:t>
            </a:r>
          </a:p>
          <a:p>
            <a:pPr algn="l">
              <a:lnSpc>
                <a:spcPct val="106000"/>
              </a:lnSpc>
              <a:spcAft>
                <a:spcPts val="1800"/>
              </a:spcAft>
            </a:pPr>
            <a:r>
              <a:rPr sz="2100" b="1">
                <a:solidFill>
                  <a:srgbClr val="FDB515"/>
                </a:solidFill>
                <a:latin typeface="Arial"/>
              </a:rPr>
              <a:t>—  </a:t>
            </a:r>
            <a:r>
              <a:rPr sz="2100" b="1">
                <a:solidFill>
                  <a:srgbClr val="003262"/>
                </a:solidFill>
                <a:latin typeface="Arial"/>
              </a:rPr>
              <a:t>Garbage collection:  </a:t>
            </a:r>
            <a:r>
              <a:rPr sz="2100">
                <a:solidFill>
                  <a:srgbClr val="1A1F2B"/>
                </a:solidFill>
                <a:latin typeface="Arial"/>
              </a:rPr>
              <a:t>lets small inconsistencies accumulate, then clears them in one pass.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5</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Architecture investigation before change</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Before non-trivial changes, the developer asks the agent to explain the current design — “understand before you change.”</a:t>
            </a:r>
          </a:p>
        </p:txBody>
      </p:sp>
      <p:sp>
        <p:nvSpPr>
          <p:cNvPr id="6" name="TextBox 5"/>
          <p:cNvSpPr txBox="1"/>
          <p:nvPr/>
        </p:nvSpPr>
        <p:spPr>
          <a:xfrm>
            <a:off x="822960" y="2743200"/>
            <a:ext cx="10607040" cy="338328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Explain first:  </a:t>
            </a:r>
            <a:r>
              <a:rPr sz="2100">
                <a:solidFill>
                  <a:srgbClr val="1A1F2B"/>
                </a:solidFill>
                <a:latin typeface="Arial"/>
              </a:rPr>
              <a:t>“show me the step-by-step workflow of web_server.py”; “what happens when two tasks run at once?”</a:t>
            </a:r>
          </a:p>
          <a:p>
            <a:pPr algn="l">
              <a:lnSpc>
                <a:spcPct val="106000"/>
              </a:lnSpc>
              <a:spcAft>
                <a:spcPts val="1800"/>
              </a:spcAft>
            </a:pPr>
            <a:r>
              <a:rPr sz="2100" b="1">
                <a:solidFill>
                  <a:srgbClr val="FDB515"/>
                </a:solidFill>
                <a:latin typeface="Arial"/>
              </a:rPr>
              <a:t>—  </a:t>
            </a:r>
            <a:r>
              <a:rPr sz="2100" b="1">
                <a:solidFill>
                  <a:srgbClr val="003262"/>
                </a:solidFill>
                <a:latin typeface="Arial"/>
              </a:rPr>
              <a:t>No translation loss:  </a:t>
            </a:r>
            <a:r>
              <a:rPr sz="2100">
                <a:solidFill>
                  <a:srgbClr val="1A1F2B"/>
                </a:solidFill>
                <a:latin typeface="Arial"/>
              </a:rPr>
              <a:t>the same agent produces both the explanation and the subsequent edits over the same source.</a:t>
            </a:r>
          </a:p>
          <a:p>
            <a:pPr algn="l">
              <a:lnSpc>
                <a:spcPct val="106000"/>
              </a:lnSpc>
              <a:spcAft>
                <a:spcPts val="1800"/>
              </a:spcAft>
            </a:pPr>
            <a:r>
              <a:rPr sz="2100" b="1">
                <a:solidFill>
                  <a:srgbClr val="FDB515"/>
                </a:solidFill>
                <a:latin typeface="Arial"/>
              </a:rPr>
              <a:t>—  </a:t>
            </a:r>
            <a:r>
              <a:rPr sz="2100" b="1">
                <a:solidFill>
                  <a:srgbClr val="003262"/>
                </a:solidFill>
                <a:latin typeface="Arial"/>
              </a:rPr>
              <a:t>Visual variant:  </a:t>
            </a:r>
            <a:r>
              <a:rPr sz="2100">
                <a:solidFill>
                  <a:srgbClr val="1A1F2B"/>
                </a:solidFill>
                <a:latin typeface="Arial"/>
              </a:rPr>
              <a:t>“create a graph diagram of how the server-side files are related” before reorganizing them.</a:t>
            </a:r>
          </a:p>
          <a:p>
            <a:pPr algn="l">
              <a:lnSpc>
                <a:spcPct val="106000"/>
              </a:lnSpc>
              <a:spcAft>
                <a:spcPts val="1800"/>
              </a:spcAft>
            </a:pPr>
            <a:r>
              <a:rPr sz="2100" b="1">
                <a:solidFill>
                  <a:srgbClr val="FDB515"/>
                </a:solidFill>
                <a:latin typeface="Arial"/>
              </a:rPr>
              <a:t>—  </a:t>
            </a:r>
            <a:r>
              <a:rPr sz="2100" b="1">
                <a:solidFill>
                  <a:srgbClr val="003262"/>
                </a:solidFill>
                <a:latin typeface="Arial"/>
              </a:rPr>
              <a:t>Front-loaded comprehension:  </a:t>
            </a:r>
            <a:r>
              <a:rPr sz="2100">
                <a:solidFill>
                  <a:srgbClr val="1A1F2B"/>
                </a:solidFill>
                <a:latin typeface="Arial"/>
              </a:rPr>
              <a:t>turns a vague aspiration into a precise, local edit request.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6</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System-prompt engineering</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~100 tasks refined the system prompt itself — treated as production code, tested against observed behavior.</a:t>
            </a:r>
          </a:p>
        </p:txBody>
      </p:sp>
      <p:sp>
        <p:nvSpPr>
          <p:cNvPr id="6" name="TextBox 5"/>
          <p:cNvSpPr txBox="1"/>
          <p:nvPr/>
        </p:nvSpPr>
        <p:spPr>
          <a:xfrm>
            <a:off x="822960" y="2743200"/>
            <a:ext cx="10607040" cy="338328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Log as test data:  </a:t>
            </a:r>
            <a:r>
              <a:rPr sz="2100">
                <a:solidFill>
                  <a:srgbClr val="1A1F2B"/>
                </a:solidFill>
                <a:latin typeface="Arial"/>
              </a:rPr>
              <a:t>“look at yesterday's tasks; which instructions are not being followed? Fix them.”</a:t>
            </a:r>
          </a:p>
          <a:p>
            <a:pPr algn="l">
              <a:lnSpc>
                <a:spcPct val="106000"/>
              </a:lnSpc>
              <a:spcAft>
                <a:spcPts val="1800"/>
              </a:spcAft>
            </a:pPr>
            <a:r>
              <a:rPr sz="2100" b="1">
                <a:solidFill>
                  <a:srgbClr val="FDB515"/>
                </a:solidFill>
                <a:latin typeface="Arial"/>
              </a:rPr>
              <a:t>—  </a:t>
            </a:r>
            <a:r>
              <a:rPr sz="2100" b="1">
                <a:solidFill>
                  <a:srgbClr val="003262"/>
                </a:solidFill>
                <a:latin typeface="Arial"/>
              </a:rPr>
              <a:t>Mutation testing for a spec:  </a:t>
            </a:r>
            <a:r>
              <a:rPr sz="2100">
                <a:solidFill>
                  <a:srgbClr val="1A1F2B"/>
                </a:solidFill>
                <a:latin typeface="Arial"/>
              </a:rPr>
              <a:t>write a real-LLM test to confirm an observed deviation, then patch the prompt.</a:t>
            </a:r>
          </a:p>
          <a:p>
            <a:pPr algn="l">
              <a:lnSpc>
                <a:spcPct val="106000"/>
              </a:lnSpc>
              <a:spcAft>
                <a:spcPts val="1800"/>
              </a:spcAft>
            </a:pPr>
            <a:r>
              <a:rPr sz="2100" b="1">
                <a:solidFill>
                  <a:srgbClr val="FDB515"/>
                </a:solidFill>
                <a:latin typeface="Arial"/>
              </a:rPr>
              <a:t>—  </a:t>
            </a:r>
            <a:r>
              <a:rPr sz="2100" b="1">
                <a:solidFill>
                  <a:srgbClr val="003262"/>
                </a:solidFill>
                <a:latin typeface="Arial"/>
              </a:rPr>
              <a:t>Reactive rules:  </a:t>
            </a:r>
            <a:r>
              <a:rPr sz="2100">
                <a:solidFill>
                  <a:srgbClr val="1A1F2B"/>
                </a:solidFill>
                <a:latin typeface="Arial"/>
              </a:rPr>
              <a:t>the tmp/ rule, the curl/wget ban, and the “visit ≥10 websites” rule were all added after the log exposed evasions.</a:t>
            </a:r>
          </a:p>
          <a:p>
            <a:pPr algn="l">
              <a:lnSpc>
                <a:spcPct val="106000"/>
              </a:lnSpc>
              <a:spcAft>
                <a:spcPts val="1800"/>
              </a:spcAft>
            </a:pPr>
            <a:r>
              <a:rPr sz="2100" b="1">
                <a:solidFill>
                  <a:srgbClr val="FDB515"/>
                </a:solidFill>
                <a:latin typeface="Arial"/>
              </a:rPr>
              <a:t>—  </a:t>
            </a:r>
            <a:r>
              <a:rPr sz="2100" b="1">
                <a:solidFill>
                  <a:srgbClr val="003262"/>
                </a:solidFill>
                <a:latin typeface="Arial"/>
              </a:rPr>
              <a:t>Calmer voice:  </a:t>
            </a:r>
            <a:r>
              <a:rPr sz="2100">
                <a:solidFill>
                  <a:srgbClr val="1A1F2B"/>
                </a:solidFill>
                <a:latin typeface="Arial"/>
              </a:rPr>
              <a:t>evolved from “BE RELENTLESS” to “be rigorous, check facts, produce high-quality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7</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Multi-channel general assistance</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The same prompt and architecture serve non-coding tasks — one agent, one prompt, one architecture, scaling across domains.</a:t>
            </a:r>
          </a:p>
        </p:txBody>
      </p:sp>
      <p:sp>
        <p:nvSpPr>
          <p:cNvPr id="6" name="TextBox 5"/>
          <p:cNvSpPr txBox="1"/>
          <p:nvPr/>
        </p:nvSpPr>
        <p:spPr>
          <a:xfrm>
            <a:off x="822960" y="2743200"/>
            <a:ext cx="10607040" cy="338328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Smart home:  </a:t>
            </a:r>
            <a:r>
              <a:rPr sz="2100">
                <a:solidFill>
                  <a:srgbClr val="1A1F2B"/>
                </a:solidFill>
                <a:latin typeface="Arial"/>
              </a:rPr>
              <a:t>Govee lights.   Travel: Yosemite trip planning.</a:t>
            </a:r>
          </a:p>
          <a:p>
            <a:pPr algn="l">
              <a:lnSpc>
                <a:spcPct val="106000"/>
              </a:lnSpc>
              <a:spcAft>
                <a:spcPts val="1800"/>
              </a:spcAft>
            </a:pPr>
            <a:r>
              <a:rPr sz="2100" b="1">
                <a:solidFill>
                  <a:srgbClr val="FDB515"/>
                </a:solidFill>
                <a:latin typeface="Arial"/>
              </a:rPr>
              <a:t>—  </a:t>
            </a:r>
            <a:r>
              <a:rPr sz="2100" b="1">
                <a:solidFill>
                  <a:srgbClr val="003262"/>
                </a:solidFill>
                <a:latin typeface="Arial"/>
              </a:rPr>
              <a:t>Weather, shopping, finance:  </a:t>
            </a:r>
            <a:r>
              <a:rPr sz="2100">
                <a:solidFill>
                  <a:srgbClr val="1A1F2B"/>
                </a:solidFill>
                <a:latin typeface="Arial"/>
              </a:rPr>
              <a:t>current-data queries and ETF analysis.</a:t>
            </a:r>
          </a:p>
          <a:p>
            <a:pPr algn="l">
              <a:lnSpc>
                <a:spcPct val="106000"/>
              </a:lnSpc>
              <a:spcAft>
                <a:spcPts val="1800"/>
              </a:spcAft>
            </a:pPr>
            <a:r>
              <a:rPr sz="2100" b="1">
                <a:solidFill>
                  <a:srgbClr val="FDB515"/>
                </a:solidFill>
                <a:latin typeface="Arial"/>
              </a:rPr>
              <a:t>—  </a:t>
            </a:r>
            <a:r>
              <a:rPr sz="2100" b="1">
                <a:solidFill>
                  <a:srgbClr val="003262"/>
                </a:solidFill>
                <a:latin typeface="Arial"/>
              </a:rPr>
              <a:t>Communication:  </a:t>
            </a:r>
            <a:r>
              <a:rPr sz="2100">
                <a:solidFill>
                  <a:srgbClr val="1A1F2B"/>
                </a:solidFill>
                <a:latin typeface="Arial"/>
              </a:rPr>
              <a:t>Slack, iMessage, Gmail — uniform third-party agent interface, no special routing.</a:t>
            </a:r>
          </a:p>
          <a:p>
            <a:pPr algn="l">
              <a:lnSpc>
                <a:spcPct val="106000"/>
              </a:lnSpc>
              <a:spcAft>
                <a:spcPts val="1800"/>
              </a:spcAft>
            </a:pPr>
            <a:r>
              <a:rPr sz="2100" b="1">
                <a:solidFill>
                  <a:srgbClr val="FDB515"/>
                </a:solidFill>
                <a:latin typeface="Arial"/>
              </a:rPr>
              <a:t>—  </a:t>
            </a:r>
            <a:r>
              <a:rPr sz="2100" b="1">
                <a:solidFill>
                  <a:srgbClr val="003262"/>
                </a:solidFill>
                <a:latin typeface="Arial"/>
              </a:rPr>
              <a:t>Same rigor off-task:  </a:t>
            </a:r>
            <a:r>
              <a:rPr sz="2100">
                <a:solidFill>
                  <a:srgbClr val="1A1F2B"/>
                </a:solidFill>
                <a:latin typeface="Arial"/>
              </a:rPr>
              <a:t>Web Research protocol applies; an unethical hacking request was refused with five legitimate alternatives.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r>
              <a:rPr sz="1300" b="1" i="0">
                <a:solidFill>
                  <a:srgbClr val="C88A00"/>
                </a:solidFill>
                <a:latin typeface="Arial"/>
              </a:rPr>
              <a:t>F  R  O  M      T  H  E      L  O  G</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r>
              <a:rPr sz="3400" b="1" i="0">
                <a:solidFill>
                  <a:srgbClr val="003262"/>
                </a:solidFill>
                <a:latin typeface="Arial"/>
              </a:rPr>
              <a:t>Verbatim user tasks — engineering</a:t>
            </a:r>
          </a:p>
        </p:txBody>
      </p:sp>
      <p:sp>
        <p:nvSpPr>
          <p:cNvPr id="5" name="TextBox 4"/>
          <p:cNvSpPr txBox="1"/>
          <p:nvPr/>
        </p:nvSpPr>
        <p:spPr>
          <a:xfrm>
            <a:off x="822960" y="1783080"/>
            <a:ext cx="10607040" cy="502920"/>
          </a:xfrm>
          <a:prstGeom prst="rect">
            <a:avLst/>
          </a:prstGeom>
          <a:noFill/>
        </p:spPr>
        <p:txBody>
          <a:bodyPr wrap="square" lIns="0" tIns="0" rIns="0" bIns="0" anchor="t">
            <a:spAutoFit/>
          </a:bodyPr>
          <a:lstStyle/>
          <a:p>
            <a:pPr>
              <a:lnSpc>
                <a:spcPct val="112000"/>
              </a:lnSpc>
            </a:pPr>
            <a:r>
              <a:rPr sz="2100" b="0" i="0">
                <a:solidFill>
                  <a:srgbClr val="4A5260"/>
                </a:solidFill>
                <a:latin typeface="Arial"/>
              </a:rPr>
              <a:t>Real, unedited requests recorded in sorcar.db — short natural language, one task at a time.</a:t>
            </a:r>
          </a:p>
        </p:txBody>
      </p:sp>
      <p:sp>
        <p:nvSpPr>
          <p:cNvPr id="6" name="Rectangle 5"/>
          <p:cNvSpPr/>
          <p:nvPr/>
        </p:nvSpPr>
        <p:spPr>
          <a:xfrm>
            <a:off x="822960" y="2377440"/>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2377440"/>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578608"/>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TEST-FIRST BUG FIX</a:t>
            </a:r>
          </a:p>
          <a:p>
            <a:pPr>
              <a:lnSpc>
                <a:spcPct val="110000"/>
              </a:lnSpc>
            </a:pPr>
            <a:r>
              <a:rPr sz="1450" b="0" i="1">
                <a:solidFill>
                  <a:srgbClr val="FFFFFF"/>
                </a:solidFill>
                <a:latin typeface="Arial"/>
              </a:rPr>
              <a:t>“Can you reproduce the bug by writing an integration test? Then fix it.”</a:t>
            </a:r>
          </a:p>
        </p:txBody>
      </p:sp>
      <p:sp>
        <p:nvSpPr>
          <p:cNvPr id="9" name="Rectangle 8"/>
          <p:cNvSpPr/>
          <p:nvPr/>
        </p:nvSpPr>
        <p:spPr>
          <a:xfrm>
            <a:off x="6172200" y="2377440"/>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2377440"/>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578608"/>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BUG REPORT</a:t>
            </a:r>
          </a:p>
          <a:p>
            <a:pPr>
              <a:lnSpc>
                <a:spcPct val="110000"/>
              </a:lnSpc>
            </a:pPr>
            <a:r>
              <a:rPr sz="1450" b="0" i="1">
                <a:solidFill>
                  <a:srgbClr val="FFFFFF"/>
                </a:solidFill>
                <a:latin typeface="Arial"/>
              </a:rPr>
              <a:t>“ask_user_question is not showing its window in the web/mobile app.”</a:t>
            </a:r>
          </a:p>
        </p:txBody>
      </p:sp>
      <p:sp>
        <p:nvSpPr>
          <p:cNvPr id="12" name="Rectangle 11"/>
          <p:cNvSpPr/>
          <p:nvPr/>
        </p:nvSpPr>
        <p:spPr>
          <a:xfrm>
            <a:off x="822960" y="3415284"/>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415284"/>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616452"/>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CODE HYGIENE</a:t>
            </a:r>
          </a:p>
          <a:p>
            <a:pPr>
              <a:lnSpc>
                <a:spcPct val="110000"/>
              </a:lnSpc>
            </a:pPr>
            <a:r>
              <a:rPr sz="1450" b="0" i="1">
                <a:solidFill>
                  <a:srgbClr val="FFFFFF"/>
                </a:solidFill>
                <a:latin typeface="Arial"/>
              </a:rPr>
              <a:t>“uv run check --full and fix” — the 2nd most frequent command (50×).</a:t>
            </a:r>
          </a:p>
        </p:txBody>
      </p:sp>
      <p:sp>
        <p:nvSpPr>
          <p:cNvPr id="15" name="Rectangle 14"/>
          <p:cNvSpPr/>
          <p:nvPr/>
        </p:nvSpPr>
        <p:spPr>
          <a:xfrm>
            <a:off x="6172200" y="3415284"/>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3415284"/>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616452"/>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DIRECTORY AUDIT</a:t>
            </a:r>
          </a:p>
          <a:p>
            <a:pPr>
              <a:lnSpc>
                <a:spcPct val="110000"/>
              </a:lnSpc>
            </a:pPr>
            <a:r>
              <a:rPr sz="1450" b="0" i="1">
                <a:solidFill>
                  <a:srgbClr val="FFFFFF"/>
                </a:solidFill>
                <a:latin typeface="Arial"/>
              </a:rPr>
              <a:t>“Find all bugs, redundancies, and inconsistencies in agents/vscode/.”</a:t>
            </a:r>
          </a:p>
        </p:txBody>
      </p:sp>
      <p:sp>
        <p:nvSpPr>
          <p:cNvPr id="18" name="Rectangle 17"/>
          <p:cNvSpPr/>
          <p:nvPr/>
        </p:nvSpPr>
        <p:spPr>
          <a:xfrm>
            <a:off x="822960" y="4453128"/>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4453128"/>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654296"/>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DEFENSIVE REVERT</a:t>
            </a:r>
          </a:p>
          <a:p>
            <a:pPr>
              <a:lnSpc>
                <a:spcPct val="110000"/>
              </a:lnSpc>
            </a:pPr>
            <a:r>
              <a:rPr sz="1450" b="0" i="1">
                <a:solidFill>
                  <a:srgbClr val="FFFFFF"/>
                </a:solidFill>
                <a:latin typeface="Arial"/>
              </a:rPr>
              <a:t>“Can you get rid of the last commit to main?” — recurs 30+ times.</a:t>
            </a:r>
          </a:p>
        </p:txBody>
      </p:sp>
      <p:sp>
        <p:nvSpPr>
          <p:cNvPr id="21" name="Rectangle 20"/>
          <p:cNvSpPr/>
          <p:nvPr/>
        </p:nvSpPr>
        <p:spPr>
          <a:xfrm>
            <a:off x="6172200" y="4453128"/>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4453128"/>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4654296"/>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ITERATIVE FEATURE</a:t>
            </a:r>
          </a:p>
          <a:p>
            <a:pPr>
              <a:lnSpc>
                <a:spcPct val="110000"/>
              </a:lnSpc>
            </a:pPr>
            <a:r>
              <a:rPr sz="1450" b="0" i="1">
                <a:solidFill>
                  <a:srgbClr val="FFFFFF"/>
                </a:solidFill>
                <a:latin typeface="Arial"/>
              </a:rPr>
              <a:t>“Let the user access KISS Sorcar from any device with a browser.”</a:t>
            </a:r>
          </a:p>
        </p:txBody>
      </p:sp>
      <p:sp>
        <p:nvSpPr>
          <p:cNvPr id="24" name="Rectangle 23"/>
          <p:cNvSpPr/>
          <p:nvPr/>
        </p:nvSpPr>
        <p:spPr>
          <a:xfrm>
            <a:off x="822960" y="5490972"/>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2960" y="5490972"/>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692140"/>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INVESTIGATE FIRST</a:t>
            </a:r>
          </a:p>
          <a:p>
            <a:pPr>
              <a:lnSpc>
                <a:spcPct val="110000"/>
              </a:lnSpc>
            </a:pPr>
            <a:r>
              <a:rPr sz="1450" b="0" i="1">
                <a:solidFill>
                  <a:srgbClr val="FFFFFF"/>
                </a:solidFill>
                <a:latin typeface="Arial"/>
              </a:rPr>
              <a:t>“Show me the detailed step-by-step workflow of web_server.py.”</a:t>
            </a:r>
          </a:p>
        </p:txBody>
      </p:sp>
      <p:sp>
        <p:nvSpPr>
          <p:cNvPr id="27" name="Rectangle 26"/>
          <p:cNvSpPr/>
          <p:nvPr/>
        </p:nvSpPr>
        <p:spPr>
          <a:xfrm>
            <a:off x="6172200" y="5490972"/>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5490972"/>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5692140"/>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PROMPT ENGINEERING</a:t>
            </a:r>
          </a:p>
          <a:p>
            <a:pPr>
              <a:lnSpc>
                <a:spcPct val="110000"/>
              </a:lnSpc>
            </a:pPr>
            <a:r>
              <a:rPr sz="1450" b="0" i="1">
                <a:solidFill>
                  <a:srgbClr val="FFFFFF"/>
                </a:solidFill>
                <a:latin typeface="Arial"/>
              </a:rPr>
              <a:t>“Which SYSTEM.md instructions were not followed yesterday? Fix them.”</a:t>
            </a:r>
          </a:p>
        </p:txBody>
      </p:sp>
      <p:sp>
        <p:nvSpPr>
          <p:cNvPr id="30" name="Rectangle 29"/>
          <p:cNvSpPr/>
          <p:nvPr/>
        </p:nvSpPr>
        <p:spPr>
          <a:xfrm>
            <a:off x="0" y="6510528"/>
            <a:ext cx="12188952" cy="27432"/>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6547104"/>
            <a:ext cx="8229600" cy="274320"/>
          </a:xfrm>
          <a:prstGeom prst="rect">
            <a:avLst/>
          </a:prstGeom>
          <a:noFill/>
        </p:spPr>
        <p:txBody>
          <a:bodyPr wrap="square" lIns="0" tIns="0" rIns="0" bIns="0" anchor="t">
            <a:spAutoFit/>
          </a:bodyPr>
          <a:lstStyle/>
          <a:p>
            <a:r>
              <a:rPr sz="1100" b="0" i="0">
                <a:solidFill>
                  <a:srgbClr val="4A5260"/>
                </a:solidFill>
                <a:latin typeface="Arial"/>
              </a:rPr>
              <a:t>KISS Sorcar  ·  K. Sen, UC Berkeley</a:t>
            </a:r>
          </a:p>
        </p:txBody>
      </p:sp>
      <p:sp>
        <p:nvSpPr>
          <p:cNvPr id="32" name="TextBox 31"/>
          <p:cNvSpPr txBox="1"/>
          <p:nvPr/>
        </p:nvSpPr>
        <p:spPr>
          <a:xfrm>
            <a:off x="10058400" y="6547104"/>
            <a:ext cx="1307592" cy="274320"/>
          </a:xfrm>
          <a:prstGeom prst="rect">
            <a:avLst/>
          </a:prstGeom>
          <a:noFill/>
        </p:spPr>
        <p:txBody>
          <a:bodyPr wrap="square" lIns="0" tIns="0" rIns="0" bIns="0" anchor="t">
            <a:spAutoFit/>
          </a:bodyPr>
          <a:lstStyle/>
          <a:p>
            <a:pPr algn="r"/>
            <a:r>
              <a:rPr sz="1100" b="1" i="0">
                <a:solidFill>
                  <a:srgbClr val="C88A00"/>
                </a:solidFill>
                <a:latin typeface="Arial"/>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r>
              <a:rPr sz="1300" b="1" i="0">
                <a:solidFill>
                  <a:srgbClr val="C88A00"/>
                </a:solidFill>
                <a:latin typeface="Arial"/>
              </a:rPr>
              <a:t>F  R  O  M      T  H  E      L  O  G</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r>
              <a:rPr sz="3400" b="1" i="0">
                <a:solidFill>
                  <a:srgbClr val="003262"/>
                </a:solidFill>
                <a:latin typeface="Arial"/>
              </a:rPr>
              <a:t>Verbatim user tasks — general assistance</a:t>
            </a:r>
          </a:p>
        </p:txBody>
      </p:sp>
      <p:sp>
        <p:nvSpPr>
          <p:cNvPr id="5" name="TextBox 4"/>
          <p:cNvSpPr txBox="1"/>
          <p:nvPr/>
        </p:nvSpPr>
        <p:spPr>
          <a:xfrm>
            <a:off x="822960" y="1783080"/>
            <a:ext cx="10607040" cy="502920"/>
          </a:xfrm>
          <a:prstGeom prst="rect">
            <a:avLst/>
          </a:prstGeom>
          <a:noFill/>
        </p:spPr>
        <p:txBody>
          <a:bodyPr wrap="square" lIns="0" tIns="0" rIns="0" bIns="0" anchor="t">
            <a:spAutoFit/>
          </a:bodyPr>
          <a:lstStyle/>
          <a:p>
            <a:pPr>
              <a:lnSpc>
                <a:spcPct val="112000"/>
              </a:lnSpc>
            </a:pPr>
            <a:r>
              <a:rPr sz="2100" b="0" i="0">
                <a:solidFill>
                  <a:srgbClr val="4A5260"/>
                </a:solidFill>
                <a:latin typeface="Arial"/>
              </a:rPr>
              <a:t>The same agent, prompt, and architecture handle everything beyond code.</a:t>
            </a:r>
          </a:p>
        </p:txBody>
      </p:sp>
      <p:sp>
        <p:nvSpPr>
          <p:cNvPr id="6" name="Rectangle 5"/>
          <p:cNvSpPr/>
          <p:nvPr/>
        </p:nvSpPr>
        <p:spPr>
          <a:xfrm>
            <a:off x="822960" y="2377440"/>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2377440"/>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578608"/>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SMART HOME</a:t>
            </a:r>
          </a:p>
          <a:p>
            <a:pPr>
              <a:lnSpc>
                <a:spcPct val="110000"/>
              </a:lnSpc>
            </a:pPr>
            <a:r>
              <a:rPr sz="1450" b="0" i="1">
                <a:solidFill>
                  <a:srgbClr val="FFFFFF"/>
                </a:solidFill>
                <a:latin typeface="Arial"/>
              </a:rPr>
              <a:t>“Turn off the living room and family room lights.” (Govee API)</a:t>
            </a:r>
          </a:p>
        </p:txBody>
      </p:sp>
      <p:sp>
        <p:nvSpPr>
          <p:cNvPr id="9" name="Rectangle 8"/>
          <p:cNvSpPr/>
          <p:nvPr/>
        </p:nvSpPr>
        <p:spPr>
          <a:xfrm>
            <a:off x="6172200" y="2377440"/>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2377440"/>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578608"/>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TRAVEL</a:t>
            </a:r>
          </a:p>
          <a:p>
            <a:pPr>
              <a:lnSpc>
                <a:spcPct val="110000"/>
              </a:lnSpc>
            </a:pPr>
            <a:r>
              <a:rPr sz="1450" b="0" i="1">
                <a:solidFill>
                  <a:srgbClr val="FFFFFF"/>
                </a:solidFill>
                <a:latin typeface="Arial"/>
              </a:rPr>
              <a:t>“Plan me a trip to Yosemite” — with hotel availability checks.</a:t>
            </a:r>
          </a:p>
        </p:txBody>
      </p:sp>
      <p:sp>
        <p:nvSpPr>
          <p:cNvPr id="12" name="Rectangle 11"/>
          <p:cNvSpPr/>
          <p:nvPr/>
        </p:nvSpPr>
        <p:spPr>
          <a:xfrm>
            <a:off x="822960" y="3415284"/>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415284"/>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616452"/>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WEATHER</a:t>
            </a:r>
          </a:p>
          <a:p>
            <a:pPr>
              <a:lnSpc>
                <a:spcPct val="110000"/>
              </a:lnSpc>
            </a:pPr>
            <a:r>
              <a:rPr sz="1450" b="0" i="1">
                <a:solidFill>
                  <a:srgbClr val="FFFFFF"/>
                </a:solidFill>
                <a:latin typeface="Arial"/>
              </a:rPr>
              <a:t>“How is the weather today?” — answered from live sources, never stale data.</a:t>
            </a:r>
          </a:p>
        </p:txBody>
      </p:sp>
      <p:sp>
        <p:nvSpPr>
          <p:cNvPr id="15" name="Rectangle 14"/>
          <p:cNvSpPr/>
          <p:nvPr/>
        </p:nvSpPr>
        <p:spPr>
          <a:xfrm>
            <a:off x="6172200" y="3415284"/>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3415284"/>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616452"/>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SHOPPING</a:t>
            </a:r>
          </a:p>
          <a:p>
            <a:pPr>
              <a:lnSpc>
                <a:spcPct val="110000"/>
              </a:lnSpc>
            </a:pPr>
            <a:r>
              <a:rPr sz="1450" b="0" i="1">
                <a:solidFill>
                  <a:srgbClr val="FFFFFF"/>
                </a:solidFill>
                <a:latin typeface="Arial"/>
              </a:rPr>
              <a:t>“Where can I find Darjeeling tea in the Bay Area?”</a:t>
            </a:r>
          </a:p>
        </p:txBody>
      </p:sp>
      <p:sp>
        <p:nvSpPr>
          <p:cNvPr id="18" name="Rectangle 17"/>
          <p:cNvSpPr/>
          <p:nvPr/>
        </p:nvSpPr>
        <p:spPr>
          <a:xfrm>
            <a:off x="822960" y="4453128"/>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4453128"/>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654296"/>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FINANCE</a:t>
            </a:r>
          </a:p>
          <a:p>
            <a:pPr>
              <a:lnSpc>
                <a:spcPct val="110000"/>
              </a:lnSpc>
            </a:pPr>
            <a:r>
              <a:rPr sz="1450" b="0" i="1">
                <a:solidFill>
                  <a:srgbClr val="FFFFFF"/>
                </a:solidFill>
                <a:latin typeface="Arial"/>
              </a:rPr>
              <a:t>“Will Microsoft stock increase by August 2026?” — plus ETF analysis.</a:t>
            </a:r>
          </a:p>
        </p:txBody>
      </p:sp>
      <p:sp>
        <p:nvSpPr>
          <p:cNvPr id="21" name="Rectangle 20"/>
          <p:cNvSpPr/>
          <p:nvPr/>
        </p:nvSpPr>
        <p:spPr>
          <a:xfrm>
            <a:off x="6172200" y="4453128"/>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4453128"/>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4654296"/>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COMMUNICATION</a:t>
            </a:r>
          </a:p>
          <a:p>
            <a:pPr>
              <a:lnSpc>
                <a:spcPct val="110000"/>
              </a:lnSpc>
            </a:pPr>
            <a:r>
              <a:rPr sz="1450" b="0" i="1">
                <a:solidFill>
                  <a:srgbClr val="FFFFFF"/>
                </a:solidFill>
                <a:latin typeface="Arial"/>
              </a:rPr>
              <a:t>Slack, iMessage, and Gmail messages — sent through third-party agents.</a:t>
            </a:r>
          </a:p>
        </p:txBody>
      </p:sp>
      <p:sp>
        <p:nvSpPr>
          <p:cNvPr id="24" name="Rectangle 23"/>
          <p:cNvSpPr/>
          <p:nvPr/>
        </p:nvSpPr>
        <p:spPr>
          <a:xfrm>
            <a:off x="822960" y="5490972"/>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2960" y="5490972"/>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692140"/>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SELF-SETUP</a:t>
            </a:r>
          </a:p>
          <a:p>
            <a:pPr>
              <a:lnSpc>
                <a:spcPct val="110000"/>
              </a:lnSpc>
            </a:pPr>
            <a:r>
              <a:rPr sz="1450" b="0" i="1">
                <a:solidFill>
                  <a:srgbClr val="FFFFFF"/>
                </a:solidFill>
                <a:latin typeface="Arial"/>
              </a:rPr>
              <a:t>“Authenticate with govee.com so you can control the lights.”</a:t>
            </a:r>
          </a:p>
        </p:txBody>
      </p:sp>
      <p:sp>
        <p:nvSpPr>
          <p:cNvPr id="27" name="Rectangle 26"/>
          <p:cNvSpPr/>
          <p:nvPr/>
        </p:nvSpPr>
        <p:spPr>
          <a:xfrm>
            <a:off x="6172200" y="5490972"/>
            <a:ext cx="516636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5490972"/>
            <a:ext cx="516636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5692140"/>
            <a:ext cx="4617720" cy="603503"/>
          </a:xfrm>
          <a:prstGeom prst="rect">
            <a:avLst/>
          </a:prstGeom>
          <a:noFill/>
        </p:spPr>
        <p:txBody>
          <a:bodyPr wrap="square" lIns="0" tIns="0" rIns="0" bIns="0" anchor="ctr">
            <a:spAutoFit/>
          </a:bodyPr>
          <a:lstStyle/>
          <a:p>
            <a:pPr>
              <a:spcAft>
                <a:spcPts val="600"/>
              </a:spcAft>
            </a:pPr>
            <a:r>
              <a:rPr sz="1200" b="1" i="0">
                <a:solidFill>
                  <a:srgbClr val="FDB515"/>
                </a:solidFill>
                <a:latin typeface="Arial"/>
              </a:rPr>
              <a:t>ETHICAL REFUSAL</a:t>
            </a:r>
          </a:p>
          <a:p>
            <a:pPr>
              <a:lnSpc>
                <a:spcPct val="110000"/>
              </a:lnSpc>
            </a:pPr>
            <a:r>
              <a:rPr sz="1450" b="0" i="1">
                <a:solidFill>
                  <a:srgbClr val="FFFFFF"/>
                </a:solidFill>
                <a:latin typeface="Arial"/>
              </a:rPr>
              <a:t>An unethical hacking request — refused, with five legitimate alternatives.</a:t>
            </a:r>
          </a:p>
        </p:txBody>
      </p:sp>
      <p:sp>
        <p:nvSpPr>
          <p:cNvPr id="30" name="Rectangle 29"/>
          <p:cNvSpPr/>
          <p:nvPr/>
        </p:nvSpPr>
        <p:spPr>
          <a:xfrm>
            <a:off x="0" y="6510528"/>
            <a:ext cx="12188952" cy="27432"/>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6547104"/>
            <a:ext cx="8229600" cy="274320"/>
          </a:xfrm>
          <a:prstGeom prst="rect">
            <a:avLst/>
          </a:prstGeom>
          <a:noFill/>
        </p:spPr>
        <p:txBody>
          <a:bodyPr wrap="square" lIns="0" tIns="0" rIns="0" bIns="0" anchor="t">
            <a:spAutoFit/>
          </a:bodyPr>
          <a:lstStyle/>
          <a:p>
            <a:r>
              <a:rPr sz="1100" b="0" i="0">
                <a:solidFill>
                  <a:srgbClr val="4A5260"/>
                </a:solidFill>
                <a:latin typeface="Arial"/>
              </a:rPr>
              <a:t>KISS Sorcar  ·  K. Sen, UC Berkeley</a:t>
            </a:r>
          </a:p>
        </p:txBody>
      </p:sp>
      <p:sp>
        <p:nvSpPr>
          <p:cNvPr id="32" name="TextBox 31"/>
          <p:cNvSpPr txBox="1"/>
          <p:nvPr/>
        </p:nvSpPr>
        <p:spPr>
          <a:xfrm>
            <a:off x="10058400" y="6547104"/>
            <a:ext cx="1307592" cy="274320"/>
          </a:xfrm>
          <a:prstGeom prst="rect">
            <a:avLst/>
          </a:prstGeom>
          <a:noFill/>
        </p:spPr>
        <p:txBody>
          <a:bodyPr wrap="square" lIns="0" tIns="0" rIns="0" bIns="0" anchor="t">
            <a:spAutoFit/>
          </a:bodyPr>
          <a:lstStyle/>
          <a:p>
            <a:pPr algn="r"/>
            <a:r>
              <a:rPr sz="1100" b="1" i="0">
                <a:solidFill>
                  <a:srgbClr val="C88A00"/>
                </a:solidFill>
                <a:latin typeface="Arial"/>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Accent"/>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yebrow"/>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C  A  S  E     S  T  U  D  Y</a:t>
            </a:r>
          </a:p>
        </p:txBody>
      </p:sp>
      <p:sp>
        <p:nvSpPr>
          <p:cNvPr id="4" name="Title"/>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The explain-then-revise loop</a:t>
            </a:r>
          </a:p>
        </p:txBody>
      </p:sp>
      <p:sp>
        <p:nvSpPr>
          <p:cNvPr id="5" name="Subtitle"/>
          <p:cNvSpPr txBox="1"/>
          <p:nvPr/>
        </p:nvSpPr>
        <p:spPr>
          <a:xfrm>
            <a:off x="822960" y="1783080"/>
            <a:ext cx="10607040" cy="822960"/>
          </a:xfrm>
          <a:prstGeom prst="rect">
            <a:avLst/>
          </a:prstGeom>
          <a:noFill/>
        </p:spPr>
        <p:txBody>
          <a:bodyPr wrap="square" lIns="0" tIns="0" rIns="0" bIns="0" anchor="t">
            <a:spAutoFit/>
          </a:bodyPr>
          <a:lstStyle/>
          <a:p>
            <a:pPr algn="l">
              <a:lnSpc>
                <a:spcPct val="110000"/>
              </a:lnSpc>
              <a:spcBef>
                <a:spcPts val="0"/>
              </a:spcBef>
              <a:spcAft>
                <a:spcPts val="800"/>
              </a:spcAft>
            </a:pPr>
            <a:r>
              <a:rPr sz="2100" b="0" i="0">
                <a:solidFill>
                  <a:srgbClr val="4A5260"/>
                </a:solidFill>
                <a:latin typeface="Arial"/>
              </a:rPr>
              <a:t>Redesigning the git-worktree merge workflow — six consecutive tasks (1 of 3), no file ever opened by hand.</a:t>
            </a:r>
          </a:p>
        </p:txBody>
      </p:sp>
      <p:sp>
        <p:nvSpPr>
          <p:cNvPr id="100" name="CardBg1"/>
          <p:cNvSpPr/>
          <p:nvPr/>
        </p:nvSpPr>
        <p:spPr>
          <a:xfrm>
            <a:off x="81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CardAccent1"/>
          <p:cNvSpPr/>
          <p:nvPr/>
        </p:nvSpPr>
        <p:spPr>
          <a:xfrm>
            <a:off x="815847" y="2600000"/>
            <a:ext cx="518000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CardHeader1"/>
          <p:cNvSpPr txBox="1"/>
          <p:nvPr/>
        </p:nvSpPr>
        <p:spPr>
          <a:xfrm>
            <a:off x="1044447" y="2801168"/>
            <a:ext cx="4722800" cy="457200"/>
          </a:xfrm>
          <a:prstGeom prst="rect">
            <a:avLst/>
          </a:prstGeom>
          <a:noFill/>
        </p:spPr>
        <p:txBody>
          <a:bodyPr wrap="square" lIns="0" tIns="0" rIns="0" bIns="0" anchor="t">
            <a:spAutoFit/>
          </a:bodyPr>
          <a:lstStyle/>
          <a:p>
            <a:r>
              <a:rPr sz="2400" b="1">
                <a:solidFill>
                  <a:srgbClr val="FDB515"/>
                </a:solidFill>
                <a:latin typeface="Arial"/>
              </a:rPr>
              <a:t>1  </a:t>
            </a:r>
            <a:r>
              <a:rPr sz="2000" b="1">
                <a:solidFill>
                  <a:srgbClr val="003262"/>
                </a:solidFill>
                <a:latin typeface="Arial"/>
              </a:rPr>
              <a:t>Elicit</a:t>
            </a:r>
          </a:p>
        </p:txBody>
      </p:sp>
      <p:sp>
        <p:nvSpPr>
          <p:cNvPr id="103" name="CardPrompt1"/>
          <p:cNvSpPr txBox="1"/>
          <p:nvPr/>
        </p:nvSpPr>
        <p:spPr>
          <a:xfrm>
            <a:off x="104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Can you tell me what happens, step by step, with git in worktree_sorcar_agent.py when a task finishes?</a:t>
            </a:r>
          </a:p>
        </p:txBody>
      </p:sp>
      <p:sp>
        <p:nvSpPr>
          <p:cNvPr id="110" name="CardBg2"/>
          <p:cNvSpPr/>
          <p:nvPr/>
        </p:nvSpPr>
        <p:spPr>
          <a:xfrm>
            <a:off x="619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CardAccent2"/>
          <p:cNvSpPr/>
          <p:nvPr/>
        </p:nvSpPr>
        <p:spPr>
          <a:xfrm>
            <a:off x="6195847" y="2600000"/>
            <a:ext cx="518000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CardHeader2"/>
          <p:cNvSpPr txBox="1"/>
          <p:nvPr/>
        </p:nvSpPr>
        <p:spPr>
          <a:xfrm>
            <a:off x="6424447" y="2801168"/>
            <a:ext cx="4722800" cy="457200"/>
          </a:xfrm>
          <a:prstGeom prst="rect">
            <a:avLst/>
          </a:prstGeom>
          <a:noFill/>
        </p:spPr>
        <p:txBody>
          <a:bodyPr wrap="square" lIns="0" tIns="0" rIns="0" bIns="0" anchor="t">
            <a:spAutoFit/>
          </a:bodyPr>
          <a:lstStyle/>
          <a:p>
            <a:r>
              <a:rPr sz="2400" b="1">
                <a:solidFill>
                  <a:srgbClr val="FDB515"/>
                </a:solidFill>
                <a:latin typeface="Arial"/>
              </a:rPr>
              <a:t>2  </a:t>
            </a:r>
            <a:r>
              <a:rPr sz="2000" b="1">
                <a:solidFill>
                  <a:srgbClr val="003262"/>
                </a:solidFill>
                <a:latin typeface="Arial"/>
              </a:rPr>
              <a:t>Revise</a:t>
            </a:r>
          </a:p>
        </p:txBody>
      </p:sp>
      <p:sp>
        <p:nvSpPr>
          <p:cNvPr id="113" name="CardPrompt2"/>
          <p:cNvSpPr txBox="1"/>
          <p:nvPr/>
        </p:nvSpPr>
        <p:spPr>
          <a:xfrm>
            <a:off x="642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Can you change worktree_sorcar_agent.py and the extension so that after the agent finishes its task, it simply asks "Commit and Merge" or "Discard". When "Commit and Merge" is clicked by the user, the agent must commit the changes with a generated commit message, merge the branch with the original branch, and delete the worktree and the branch associated with the worktree. If the user clicks "discard", it must delete the worktree and the branch, and checkout the original branch.</a:t>
            </a:r>
          </a:p>
        </p:txBody>
      </p:sp>
      <p:sp>
        <p:nvSpPr>
          <p:cNvPr id="200" name="FooterRule"/>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FooterText"/>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02" name="PageNumber"/>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Accent"/>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yebrow"/>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C  A  S  E     S  T  U  D  Y</a:t>
            </a:r>
          </a:p>
        </p:txBody>
      </p:sp>
      <p:sp>
        <p:nvSpPr>
          <p:cNvPr id="4" name="Title"/>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The explain-then-revise loop</a:t>
            </a:r>
          </a:p>
        </p:txBody>
      </p:sp>
      <p:sp>
        <p:nvSpPr>
          <p:cNvPr id="5" name="Subtitle"/>
          <p:cNvSpPr txBox="1"/>
          <p:nvPr/>
        </p:nvSpPr>
        <p:spPr>
          <a:xfrm>
            <a:off x="822960" y="1783080"/>
            <a:ext cx="10607040" cy="822960"/>
          </a:xfrm>
          <a:prstGeom prst="rect">
            <a:avLst/>
          </a:prstGeom>
          <a:noFill/>
        </p:spPr>
        <p:txBody>
          <a:bodyPr wrap="square" lIns="0" tIns="0" rIns="0" bIns="0" anchor="t">
            <a:spAutoFit/>
          </a:bodyPr>
          <a:lstStyle/>
          <a:p>
            <a:pPr algn="l">
              <a:lnSpc>
                <a:spcPct val="110000"/>
              </a:lnSpc>
              <a:spcBef>
                <a:spcPts val="0"/>
              </a:spcBef>
              <a:spcAft>
                <a:spcPts val="800"/>
              </a:spcAft>
            </a:pPr>
            <a:r>
              <a:rPr sz="2100" b="0" i="0">
                <a:solidFill>
                  <a:srgbClr val="4A5260"/>
                </a:solidFill>
                <a:latin typeface="Arial"/>
              </a:rPr>
              <a:t>Redesigning the git-worktree merge workflow — six consecutive tasks (2 of 3), no file ever opened by hand.</a:t>
            </a:r>
          </a:p>
        </p:txBody>
      </p:sp>
      <p:sp>
        <p:nvSpPr>
          <p:cNvPr id="100" name="CardBg3"/>
          <p:cNvSpPr/>
          <p:nvPr/>
        </p:nvSpPr>
        <p:spPr>
          <a:xfrm>
            <a:off x="81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CardAccent3"/>
          <p:cNvSpPr/>
          <p:nvPr/>
        </p:nvSpPr>
        <p:spPr>
          <a:xfrm>
            <a:off x="815847" y="2600000"/>
            <a:ext cx="518000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CardHeader3"/>
          <p:cNvSpPr txBox="1"/>
          <p:nvPr/>
        </p:nvSpPr>
        <p:spPr>
          <a:xfrm>
            <a:off x="1044447" y="2801168"/>
            <a:ext cx="4722800" cy="457200"/>
          </a:xfrm>
          <a:prstGeom prst="rect">
            <a:avLst/>
          </a:prstGeom>
          <a:noFill/>
        </p:spPr>
        <p:txBody>
          <a:bodyPr wrap="square" lIns="0" tIns="0" rIns="0" bIns="0" anchor="t">
            <a:spAutoFit/>
          </a:bodyPr>
          <a:lstStyle/>
          <a:p>
            <a:r>
              <a:rPr sz="2400" b="1">
                <a:solidFill>
                  <a:srgbClr val="FDB515"/>
                </a:solidFill>
                <a:latin typeface="Arial"/>
              </a:rPr>
              <a:t>3  </a:t>
            </a:r>
            <a:r>
              <a:rPr sz="2000" b="1">
                <a:solidFill>
                  <a:srgbClr val="003262"/>
                </a:solidFill>
                <a:latin typeface="Arial"/>
              </a:rPr>
              <a:t>Diagnose</a:t>
            </a:r>
          </a:p>
        </p:txBody>
      </p:sp>
      <p:sp>
        <p:nvSpPr>
          <p:cNvPr id="103" name="CardPrompt3"/>
          <p:cNvSpPr txBox="1"/>
          <p:nvPr/>
        </p:nvSpPr>
        <p:spPr>
          <a:xfrm>
            <a:off x="104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After the user presses "Commit and Merge", why do the modified files show up as committed in the original branch?</a:t>
            </a:r>
          </a:p>
        </p:txBody>
      </p:sp>
      <p:sp>
        <p:nvSpPr>
          <p:cNvPr id="110" name="CardBg4"/>
          <p:cNvSpPr/>
          <p:nvPr/>
        </p:nvSpPr>
        <p:spPr>
          <a:xfrm>
            <a:off x="619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CardAccent4"/>
          <p:cNvSpPr/>
          <p:nvPr/>
        </p:nvSpPr>
        <p:spPr>
          <a:xfrm>
            <a:off x="6195847" y="2600000"/>
            <a:ext cx="5180000" cy="9144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CardHeader4"/>
          <p:cNvSpPr txBox="1"/>
          <p:nvPr/>
        </p:nvSpPr>
        <p:spPr>
          <a:xfrm>
            <a:off x="6424447" y="2801168"/>
            <a:ext cx="4722800" cy="457200"/>
          </a:xfrm>
          <a:prstGeom prst="rect">
            <a:avLst/>
          </a:prstGeom>
          <a:noFill/>
        </p:spPr>
        <p:txBody>
          <a:bodyPr wrap="square" lIns="0" tIns="0" rIns="0" bIns="0" anchor="t">
            <a:spAutoFit/>
          </a:bodyPr>
          <a:lstStyle/>
          <a:p>
            <a:r>
              <a:rPr sz="2400" b="1">
                <a:solidFill>
                  <a:srgbClr val="FDB515"/>
                </a:solidFill>
                <a:latin typeface="Arial"/>
              </a:rPr>
              <a:t>4  </a:t>
            </a:r>
            <a:r>
              <a:rPr sz="2000" b="1">
                <a:solidFill>
                  <a:srgbClr val="003262"/>
                </a:solidFill>
                <a:latin typeface="Arial"/>
              </a:rPr>
              <a:t>Fix</a:t>
            </a:r>
          </a:p>
        </p:txBody>
      </p:sp>
      <p:sp>
        <p:nvSpPr>
          <p:cNvPr id="113" name="CardPrompt4"/>
          <p:cNvSpPr txBox="1"/>
          <p:nvPr/>
        </p:nvSpPr>
        <p:spPr>
          <a:xfrm>
            <a:off x="642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The review is already happening in the worktree branch. You don't need the user to review the modified and new files in the original branch. Fix it.</a:t>
            </a:r>
          </a:p>
        </p:txBody>
      </p:sp>
      <p:sp>
        <p:nvSpPr>
          <p:cNvPr id="200" name="FooterRule"/>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FooterText"/>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02" name="PageNumber"/>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Accent"/>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yebrow"/>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C  A  S  E     S  T  U  D  Y</a:t>
            </a:r>
          </a:p>
        </p:txBody>
      </p:sp>
      <p:sp>
        <p:nvSpPr>
          <p:cNvPr id="4" name="Title"/>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The explain-then-revise loop</a:t>
            </a:r>
          </a:p>
        </p:txBody>
      </p:sp>
      <p:sp>
        <p:nvSpPr>
          <p:cNvPr id="5" name="Subtitle"/>
          <p:cNvSpPr txBox="1"/>
          <p:nvPr/>
        </p:nvSpPr>
        <p:spPr>
          <a:xfrm>
            <a:off x="822960" y="1783080"/>
            <a:ext cx="10607040" cy="822960"/>
          </a:xfrm>
          <a:prstGeom prst="rect">
            <a:avLst/>
          </a:prstGeom>
          <a:noFill/>
        </p:spPr>
        <p:txBody>
          <a:bodyPr wrap="square" lIns="0" tIns="0" rIns="0" bIns="0" anchor="t">
            <a:spAutoFit/>
          </a:bodyPr>
          <a:lstStyle/>
          <a:p>
            <a:pPr algn="l">
              <a:lnSpc>
                <a:spcPct val="110000"/>
              </a:lnSpc>
              <a:spcBef>
                <a:spcPts val="0"/>
              </a:spcBef>
              <a:spcAft>
                <a:spcPts val="800"/>
              </a:spcAft>
            </a:pPr>
            <a:r>
              <a:rPr sz="2100" b="0" i="0">
                <a:solidFill>
                  <a:srgbClr val="4A5260"/>
                </a:solidFill>
                <a:latin typeface="Arial"/>
              </a:rPr>
              <a:t>Redesigning the git-worktree merge workflow — six consecutive tasks (3 of 3), no file ever opened by hand.</a:t>
            </a:r>
          </a:p>
        </p:txBody>
      </p:sp>
      <p:sp>
        <p:nvSpPr>
          <p:cNvPr id="100" name="CardBg5"/>
          <p:cNvSpPr/>
          <p:nvPr/>
        </p:nvSpPr>
        <p:spPr>
          <a:xfrm>
            <a:off x="81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CardAccent5"/>
          <p:cNvSpPr/>
          <p:nvPr/>
        </p:nvSpPr>
        <p:spPr>
          <a:xfrm>
            <a:off x="815847" y="2600000"/>
            <a:ext cx="5180000" cy="9144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CardHeader5"/>
          <p:cNvSpPr txBox="1"/>
          <p:nvPr/>
        </p:nvSpPr>
        <p:spPr>
          <a:xfrm>
            <a:off x="1044447" y="2801168"/>
            <a:ext cx="4722800" cy="457200"/>
          </a:xfrm>
          <a:prstGeom prst="rect">
            <a:avLst/>
          </a:prstGeom>
          <a:noFill/>
        </p:spPr>
        <p:txBody>
          <a:bodyPr wrap="square" lIns="0" tIns="0" rIns="0" bIns="0" anchor="t">
            <a:spAutoFit/>
          </a:bodyPr>
          <a:lstStyle/>
          <a:p>
            <a:r>
              <a:rPr sz="2400" b="1">
                <a:solidFill>
                  <a:srgbClr val="FDB515"/>
                </a:solidFill>
                <a:latin typeface="Arial"/>
              </a:rPr>
              <a:t>5  </a:t>
            </a:r>
            <a:r>
              <a:rPr sz="2000" b="1">
                <a:solidFill>
                  <a:srgbClr val="003262"/>
                </a:solidFill>
                <a:latin typeface="Arial"/>
              </a:rPr>
              <a:t>Audit</a:t>
            </a:r>
          </a:p>
        </p:txBody>
      </p:sp>
      <p:sp>
        <p:nvSpPr>
          <p:cNvPr id="103" name="CardPrompt5"/>
          <p:cNvSpPr txBox="1"/>
          <p:nvPr/>
        </p:nvSpPr>
        <p:spPr>
          <a:xfrm>
            <a:off x="104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What happens to my uncommitted changes if I start a task while the working tree is dirty and then click "Commit and Merge"?</a:t>
            </a:r>
          </a:p>
        </p:txBody>
      </p:sp>
      <p:sp>
        <p:nvSpPr>
          <p:cNvPr id="110" name="CardBg6"/>
          <p:cNvSpPr/>
          <p:nvPr/>
        </p:nvSpPr>
        <p:spPr>
          <a:xfrm>
            <a:off x="6195847" y="2600000"/>
            <a:ext cx="5180000" cy="3800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CardAccent6"/>
          <p:cNvSpPr/>
          <p:nvPr/>
        </p:nvSpPr>
        <p:spPr>
          <a:xfrm>
            <a:off x="6195847" y="2600000"/>
            <a:ext cx="5180000" cy="9144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CardHeader6"/>
          <p:cNvSpPr txBox="1"/>
          <p:nvPr/>
        </p:nvSpPr>
        <p:spPr>
          <a:xfrm>
            <a:off x="6424447" y="2801168"/>
            <a:ext cx="4722800" cy="457200"/>
          </a:xfrm>
          <a:prstGeom prst="rect">
            <a:avLst/>
          </a:prstGeom>
          <a:noFill/>
        </p:spPr>
        <p:txBody>
          <a:bodyPr wrap="square" lIns="0" tIns="0" rIns="0" bIns="0" anchor="t">
            <a:spAutoFit/>
          </a:bodyPr>
          <a:lstStyle/>
          <a:p>
            <a:r>
              <a:rPr sz="2400" b="1">
                <a:solidFill>
                  <a:srgbClr val="FDB515"/>
                </a:solidFill>
                <a:latin typeface="Arial"/>
              </a:rPr>
              <a:t>6  </a:t>
            </a:r>
            <a:r>
              <a:rPr sz="2000" b="1">
                <a:solidFill>
                  <a:srgbClr val="003262"/>
                </a:solidFill>
                <a:latin typeface="Arial"/>
              </a:rPr>
              <a:t>Audit</a:t>
            </a:r>
          </a:p>
        </p:txBody>
      </p:sp>
      <p:sp>
        <p:nvSpPr>
          <p:cNvPr id="113" name="CardPrompt6"/>
          <p:cNvSpPr txBox="1"/>
          <p:nvPr/>
        </p:nvSpPr>
        <p:spPr>
          <a:xfrm>
            <a:off x="6424447" y="3331520"/>
            <a:ext cx="4722800" cy="2850000"/>
          </a:xfrm>
          <a:prstGeom prst="rect">
            <a:avLst/>
          </a:prstGeom>
          <a:noFill/>
        </p:spPr>
        <p:txBody>
          <a:bodyPr wrap="square" lIns="0" tIns="0" rIns="0" bIns="0" anchor="t"/>
          <a:lstStyle/>
          <a:p>
            <a:pPr algn="l">
              <a:lnSpc>
                <a:spcPct val="110000"/>
              </a:lnSpc>
              <a:spcBef>
                <a:spcPts val="0"/>
              </a:spcBef>
              <a:spcAft>
                <a:spcPts val="800"/>
              </a:spcAft>
            </a:pPr>
            <a:r>
              <a:rPr sz="1400" b="0">
                <a:solidFill>
                  <a:srgbClr val="1A2330"/>
                </a:solidFill>
                <a:latin typeface="Courier New"/>
              </a:rPr>
              <a:t>What happens if two tabs both press "Commit and Merge" on the same repo at the same time? Can the checkout/merge steps interleave?</a:t>
            </a:r>
          </a:p>
        </p:txBody>
      </p:sp>
      <p:sp>
        <p:nvSpPr>
          <p:cNvPr id="200" name="FooterRule"/>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FooterText"/>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02" name="PageNumber"/>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W  H  Y     I  T     W  O  R  K  S</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Each pattern maps to a principle</a:t>
            </a:r>
          </a:p>
        </p:txBody>
      </p:sp>
      <p:sp>
        <p:nvSpPr>
          <p:cNvPr id="5" name="Rectangle 4"/>
          <p:cNvSpPr/>
          <p:nvPr/>
        </p:nvSpPr>
        <p:spPr>
          <a:xfrm>
            <a:off x="822960" y="2011680"/>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011680"/>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57984"/>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KISS</a:t>
            </a:r>
          </a:p>
          <a:p>
            <a:pPr algn="l">
              <a:lnSpc>
                <a:spcPct val="104000"/>
              </a:lnSpc>
              <a:spcBef>
                <a:spcPts val="0"/>
              </a:spcBef>
              <a:spcAft>
                <a:spcPts val="800"/>
              </a:spcAft>
            </a:pPr>
            <a:r>
              <a:rPr sz="1500" b="0" i="0">
                <a:solidFill>
                  <a:srgbClr val="4A5260"/>
                </a:solidFill>
                <a:latin typeface="Arial"/>
              </a:rPr>
              <a:t>One agent, one prompt, one architecture across all domains.</a:t>
            </a:r>
          </a:p>
        </p:txBody>
      </p:sp>
      <p:sp>
        <p:nvSpPr>
          <p:cNvPr id="8" name="Rectangle 7"/>
          <p:cNvSpPr/>
          <p:nvPr/>
        </p:nvSpPr>
        <p:spPr>
          <a:xfrm>
            <a:off x="6172200" y="2011680"/>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157984"/>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Separation of concerns</a:t>
            </a:r>
          </a:p>
          <a:p>
            <a:pPr algn="l">
              <a:lnSpc>
                <a:spcPct val="104000"/>
              </a:lnSpc>
              <a:spcBef>
                <a:spcPts val="0"/>
              </a:spcBef>
              <a:spcAft>
                <a:spcPts val="800"/>
              </a:spcAft>
            </a:pPr>
            <a:r>
              <a:rPr sz="1500" b="0" i="0">
                <a:solidFill>
                  <a:srgbClr val="4A5260"/>
                </a:solidFill>
                <a:latin typeface="Arial"/>
              </a:rPr>
              <a:t>Each layer / module owns exactly one concern.</a:t>
            </a:r>
          </a:p>
        </p:txBody>
      </p:sp>
      <p:sp>
        <p:nvSpPr>
          <p:cNvPr id="11" name="Rectangle 10"/>
          <p:cNvSpPr/>
          <p:nvPr/>
        </p:nvSpPr>
        <p:spPr>
          <a:xfrm>
            <a:off x="822960" y="3319272"/>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2960" y="3319272"/>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465576"/>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Test-first development</a:t>
            </a:r>
          </a:p>
          <a:p>
            <a:pPr algn="l">
              <a:lnSpc>
                <a:spcPct val="104000"/>
              </a:lnSpc>
              <a:spcBef>
                <a:spcPts val="0"/>
              </a:spcBef>
              <a:spcAft>
                <a:spcPts val="800"/>
              </a:spcAft>
            </a:pPr>
            <a:r>
              <a:rPr sz="1500" b="0" i="0">
                <a:solidFill>
                  <a:srgbClr val="4A5260"/>
                </a:solidFill>
                <a:latin typeface="Arial"/>
              </a:rPr>
              <a:t>Write a failing test, then make it pass — no mocks.</a:t>
            </a:r>
          </a:p>
        </p:txBody>
      </p:sp>
      <p:sp>
        <p:nvSpPr>
          <p:cNvPr id="14" name="Rectangle 13"/>
          <p:cNvSpPr/>
          <p:nvPr/>
        </p:nvSpPr>
        <p:spPr>
          <a:xfrm>
            <a:off x="6172200" y="3319272"/>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3319272"/>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465576"/>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Defensive programming</a:t>
            </a:r>
          </a:p>
          <a:p>
            <a:pPr algn="l">
              <a:lnSpc>
                <a:spcPct val="104000"/>
              </a:lnSpc>
              <a:spcBef>
                <a:spcPts val="0"/>
              </a:spcBef>
              <a:spcAft>
                <a:spcPts val="800"/>
              </a:spcAft>
            </a:pPr>
            <a:r>
              <a:rPr sz="1500" b="0" i="0">
                <a:solidFill>
                  <a:srgbClr val="4A5260"/>
                </a:solidFill>
                <a:latin typeface="Arial"/>
              </a:rPr>
              <a:t>Validate everything; refuse what is unsafe; revert fast.</a:t>
            </a:r>
          </a:p>
        </p:txBody>
      </p:sp>
      <p:sp>
        <p:nvSpPr>
          <p:cNvPr id="17" name="Rectangle 16"/>
          <p:cNvSpPr/>
          <p:nvPr/>
        </p:nvSpPr>
        <p:spPr>
          <a:xfrm>
            <a:off x="822960" y="4626864"/>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 y="4626864"/>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43000" y="4773168"/>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Pre-flight checks</a:t>
            </a:r>
          </a:p>
          <a:p>
            <a:pPr algn="l">
              <a:lnSpc>
                <a:spcPct val="104000"/>
              </a:lnSpc>
              <a:spcBef>
                <a:spcPts val="0"/>
              </a:spcBef>
              <a:spcAft>
                <a:spcPts val="800"/>
              </a:spcAft>
            </a:pPr>
            <a:r>
              <a:rPr sz="1500" b="0" i="0">
                <a:solidFill>
                  <a:srgbClr val="4A5260"/>
                </a:solidFill>
                <a:latin typeface="Arial"/>
              </a:rPr>
              <a:t>Read before you write; plan before you execute; verify before finishing.</a:t>
            </a:r>
          </a:p>
        </p:txBody>
      </p:sp>
      <p:sp>
        <p:nvSpPr>
          <p:cNvPr id="20" name="Rectangle 19"/>
          <p:cNvSpPr/>
          <p:nvPr/>
        </p:nvSpPr>
        <p:spPr>
          <a:xfrm>
            <a:off x="6172200" y="4626864"/>
            <a:ext cx="5166360" cy="114300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4626864"/>
            <a:ext cx="128016" cy="1143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4773168"/>
            <a:ext cx="4617720" cy="868680"/>
          </a:xfrm>
          <a:prstGeom prst="rect">
            <a:avLst/>
          </a:prstGeom>
          <a:noFill/>
        </p:spPr>
        <p:txBody>
          <a:bodyPr wrap="square" lIns="0" tIns="0" rIns="0" bIns="0" anchor="ctr">
            <a:spAutoFit/>
          </a:bodyPr>
          <a:lstStyle/>
          <a:p>
            <a:pPr algn="l">
              <a:lnSpc>
                <a:spcPct val="100000"/>
              </a:lnSpc>
              <a:spcBef>
                <a:spcPts val="0"/>
              </a:spcBef>
              <a:spcAft>
                <a:spcPts val="400"/>
              </a:spcAft>
            </a:pPr>
            <a:r>
              <a:rPr sz="2000" b="1" i="0">
                <a:solidFill>
                  <a:srgbClr val="003262"/>
                </a:solidFill>
                <a:latin typeface="Arial"/>
              </a:rPr>
              <a:t>Self-hosting as CI</a:t>
            </a:r>
          </a:p>
          <a:p>
            <a:pPr algn="l">
              <a:lnSpc>
                <a:spcPct val="104000"/>
              </a:lnSpc>
              <a:spcBef>
                <a:spcPts val="0"/>
              </a:spcBef>
              <a:spcAft>
                <a:spcPts val="800"/>
              </a:spcAft>
            </a:pPr>
            <a:r>
              <a:rPr sz="1500" b="0" i="0">
                <a:solidFill>
                  <a:srgbClr val="4A5260"/>
                </a:solidFill>
                <a:latin typeface="Arial"/>
              </a:rPr>
              <a:t>Use the system to build the system; bugs hurt the builder.</a:t>
            </a:r>
          </a:p>
        </p:txBody>
      </p:sp>
      <p:sp>
        <p:nvSpPr>
          <p:cNvPr id="23" name="Rectangle 22"/>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25" name="TextBox 24"/>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R  E  A  C  H</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The software ecosystem</a:t>
            </a:r>
          </a:p>
        </p:txBody>
      </p:sp>
      <p:sp>
        <p:nvSpPr>
          <p:cNvPr id="5" name="TextBox 4"/>
          <p:cNvSpPr txBox="1"/>
          <p:nvPr/>
        </p:nvSpPr>
        <p:spPr>
          <a:xfrm>
            <a:off x="822960" y="1783080"/>
            <a:ext cx="10607040" cy="502920"/>
          </a:xfrm>
          <a:prstGeom prst="rect">
            <a:avLst/>
          </a:prstGeom>
          <a:noFill/>
        </p:spPr>
        <p:txBody>
          <a:bodyPr wrap="square" lIns="0" tIns="0" rIns="0" bIns="0" anchor="t">
            <a:spAutoFit/>
          </a:bodyPr>
          <a:lstStyle/>
          <a:p>
            <a:pPr algn="l">
              <a:lnSpc>
                <a:spcPct val="100000"/>
              </a:lnSpc>
              <a:spcBef>
                <a:spcPts val="0"/>
              </a:spcBef>
              <a:spcAft>
                <a:spcPts val="800"/>
              </a:spcAft>
            </a:pPr>
            <a:r>
              <a:rPr sz="2000" b="0" i="0">
                <a:solidFill>
                  <a:srgbClr val="4A5260"/>
                </a:solidFill>
                <a:latin typeface="Arial"/>
              </a:rPr>
              <a:t>One agent architecture drove every tool below — no per-tool customization.</a:t>
            </a:r>
          </a:p>
        </p:txBody>
      </p:sp>
      <p:sp>
        <p:nvSpPr>
          <p:cNvPr id="6" name="Rectangle 5"/>
          <p:cNvSpPr/>
          <p:nvPr/>
        </p:nvSpPr>
        <p:spPr>
          <a:xfrm>
            <a:off x="822960" y="242316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2423160"/>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2532888"/>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Languages</a:t>
            </a:r>
          </a:p>
          <a:p>
            <a:pPr algn="l">
              <a:lnSpc>
                <a:spcPct val="102000"/>
              </a:lnSpc>
              <a:spcBef>
                <a:spcPts val="0"/>
              </a:spcBef>
              <a:spcAft>
                <a:spcPts val="800"/>
              </a:spcAft>
            </a:pPr>
            <a:r>
              <a:rPr sz="1400" b="0" i="0">
                <a:solidFill>
                  <a:srgbClr val="4A5260"/>
                </a:solidFill>
                <a:latin typeface="Arial"/>
              </a:rPr>
              <a:t>Python · TypeScript · JavaScript · CSS · HTML · LaTeX</a:t>
            </a:r>
          </a:p>
        </p:txBody>
      </p:sp>
      <p:sp>
        <p:nvSpPr>
          <p:cNvPr id="9" name="Rectangle 8"/>
          <p:cNvSpPr/>
          <p:nvPr/>
        </p:nvSpPr>
        <p:spPr>
          <a:xfrm>
            <a:off x="6172200" y="2423160"/>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2423160"/>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2532888"/>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Build &amp; tooling</a:t>
            </a:r>
          </a:p>
          <a:p>
            <a:pPr algn="l">
              <a:lnSpc>
                <a:spcPct val="102000"/>
              </a:lnSpc>
              <a:spcBef>
                <a:spcPts val="0"/>
              </a:spcBef>
              <a:spcAft>
                <a:spcPts val="800"/>
              </a:spcAft>
            </a:pPr>
            <a:r>
              <a:rPr sz="1400" b="0" i="0">
                <a:solidFill>
                  <a:srgbClr val="4A5260"/>
                </a:solidFill>
                <a:latin typeface="Arial"/>
              </a:rPr>
              <a:t>uv · npm · pdflatex · BibTeX · pytest</a:t>
            </a:r>
          </a:p>
        </p:txBody>
      </p:sp>
      <p:sp>
        <p:nvSpPr>
          <p:cNvPr id="12" name="Rectangle 11"/>
          <p:cNvSpPr/>
          <p:nvPr/>
        </p:nvSpPr>
        <p:spPr>
          <a:xfrm>
            <a:off x="822960" y="3438144"/>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438144"/>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3547872"/>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Version control</a:t>
            </a:r>
          </a:p>
          <a:p>
            <a:pPr algn="l">
              <a:lnSpc>
                <a:spcPct val="102000"/>
              </a:lnSpc>
              <a:spcBef>
                <a:spcPts val="0"/>
              </a:spcBef>
              <a:spcAft>
                <a:spcPts val="800"/>
              </a:spcAft>
            </a:pPr>
            <a:r>
              <a:rPr sz="1400" b="0" i="0">
                <a:solidFill>
                  <a:srgbClr val="4A5260"/>
                </a:solidFill>
                <a:latin typeface="Arial"/>
              </a:rPr>
              <a:t>Git · GitHub · worktree-per-task</a:t>
            </a:r>
          </a:p>
        </p:txBody>
      </p:sp>
      <p:sp>
        <p:nvSpPr>
          <p:cNvPr id="15" name="Rectangle 14"/>
          <p:cNvSpPr/>
          <p:nvPr/>
        </p:nvSpPr>
        <p:spPr>
          <a:xfrm>
            <a:off x="6172200" y="3438144"/>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3438144"/>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3547872"/>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Automation</a:t>
            </a:r>
          </a:p>
          <a:p>
            <a:pPr algn="l">
              <a:lnSpc>
                <a:spcPct val="102000"/>
              </a:lnSpc>
              <a:spcBef>
                <a:spcPts val="0"/>
              </a:spcBef>
              <a:spcAft>
                <a:spcPts val="800"/>
              </a:spcAft>
            </a:pPr>
            <a:r>
              <a:rPr sz="1400" b="0" i="0">
                <a:solidFill>
                  <a:srgbClr val="4A5260"/>
                </a:solidFill>
                <a:latin typeface="Arial"/>
              </a:rPr>
              <a:t>Playwright · Chromium · cron daemon</a:t>
            </a:r>
          </a:p>
        </p:txBody>
      </p:sp>
      <p:sp>
        <p:nvSpPr>
          <p:cNvPr id="18" name="Rectangle 17"/>
          <p:cNvSpPr/>
          <p:nvPr/>
        </p:nvSpPr>
        <p:spPr>
          <a:xfrm>
            <a:off x="822960" y="4453128"/>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4453128"/>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4562856"/>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Remote &amp; infra</a:t>
            </a:r>
          </a:p>
          <a:p>
            <a:pPr algn="l">
              <a:lnSpc>
                <a:spcPct val="102000"/>
              </a:lnSpc>
              <a:spcBef>
                <a:spcPts val="0"/>
              </a:spcBef>
              <a:spcAft>
                <a:spcPts val="800"/>
              </a:spcAft>
            </a:pPr>
            <a:r>
              <a:rPr sz="1400" b="0" i="0">
                <a:solidFill>
                  <a:srgbClr val="4A5260"/>
                </a:solidFill>
                <a:latin typeface="Arial"/>
              </a:rPr>
              <a:t>Cloudflare Tunnels · TLS/WSS · Docker · ntfy.sh</a:t>
            </a:r>
          </a:p>
        </p:txBody>
      </p:sp>
      <p:sp>
        <p:nvSpPr>
          <p:cNvPr id="21" name="Rectangle 20"/>
          <p:cNvSpPr/>
          <p:nvPr/>
        </p:nvSpPr>
        <p:spPr>
          <a:xfrm>
            <a:off x="6172200" y="4453128"/>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4453128"/>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562856"/>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Data</a:t>
            </a:r>
          </a:p>
          <a:p>
            <a:pPr algn="l">
              <a:lnSpc>
                <a:spcPct val="102000"/>
              </a:lnSpc>
              <a:spcBef>
                <a:spcPts val="0"/>
              </a:spcBef>
              <a:spcAft>
                <a:spcPts val="800"/>
              </a:spcAft>
            </a:pPr>
            <a:r>
              <a:rPr sz="1400" b="0" i="0">
                <a:solidFill>
                  <a:srgbClr val="4A5260"/>
                </a:solidFill>
                <a:latin typeface="Arial"/>
              </a:rPr>
              <a:t>SQLite (sorcar.db)</a:t>
            </a:r>
          </a:p>
        </p:txBody>
      </p:sp>
      <p:sp>
        <p:nvSpPr>
          <p:cNvPr id="24" name="Rectangle 23"/>
          <p:cNvSpPr/>
          <p:nvPr/>
        </p:nvSpPr>
        <p:spPr>
          <a:xfrm>
            <a:off x="822960" y="5468112"/>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2960" y="5468112"/>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43000" y="5577840"/>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Assistants</a:t>
            </a:r>
          </a:p>
          <a:p>
            <a:pPr algn="l">
              <a:lnSpc>
                <a:spcPct val="102000"/>
              </a:lnSpc>
              <a:spcBef>
                <a:spcPts val="0"/>
              </a:spcBef>
              <a:spcAft>
                <a:spcPts val="800"/>
              </a:spcAft>
            </a:pPr>
            <a:r>
              <a:rPr sz="1400" b="0" i="0">
                <a:solidFill>
                  <a:srgbClr val="4A5260"/>
                </a:solidFill>
                <a:latin typeface="Arial"/>
              </a:rPr>
              <a:t>Govee · Slack · iMessage · WhatsApp · Gmail · Resend</a:t>
            </a:r>
          </a:p>
        </p:txBody>
      </p:sp>
      <p:sp>
        <p:nvSpPr>
          <p:cNvPr id="27" name="Rectangle 26"/>
          <p:cNvSpPr/>
          <p:nvPr/>
        </p:nvSpPr>
        <p:spPr>
          <a:xfrm>
            <a:off x="6172200" y="5468112"/>
            <a:ext cx="5166360" cy="8686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5468112"/>
            <a:ext cx="128016" cy="8686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5577840"/>
            <a:ext cx="4617720" cy="649224"/>
          </a:xfrm>
          <a:prstGeom prst="rect">
            <a:avLst/>
          </a:prstGeom>
          <a:noFill/>
        </p:spPr>
        <p:txBody>
          <a:bodyPr wrap="square" lIns="0" tIns="0" rIns="0" bIns="0" anchor="ctr">
            <a:spAutoFit/>
          </a:bodyPr>
          <a:lstStyle/>
          <a:p>
            <a:pPr algn="l">
              <a:lnSpc>
                <a:spcPct val="100000"/>
              </a:lnSpc>
              <a:spcBef>
                <a:spcPts val="0"/>
              </a:spcBef>
              <a:spcAft>
                <a:spcPts val="300"/>
              </a:spcAft>
            </a:pPr>
            <a:r>
              <a:rPr sz="1700" b="1" i="0">
                <a:solidFill>
                  <a:srgbClr val="003262"/>
                </a:solidFill>
                <a:latin typeface="Arial"/>
              </a:rPr>
              <a:t>Media</a:t>
            </a:r>
          </a:p>
          <a:p>
            <a:pPr algn="l">
              <a:lnSpc>
                <a:spcPct val="102000"/>
              </a:lnSpc>
              <a:spcBef>
                <a:spcPts val="0"/>
              </a:spcBef>
              <a:spcAft>
                <a:spcPts val="800"/>
              </a:spcAft>
            </a:pPr>
            <a:r>
              <a:rPr sz="1400" b="0" i="0">
                <a:solidFill>
                  <a:srgbClr val="4A5260"/>
                </a:solidFill>
                <a:latin typeface="Arial"/>
              </a:rPr>
              <a:t>python-pptx · Final Cut Pro</a:t>
            </a:r>
          </a:p>
        </p:txBody>
      </p:sp>
      <p:sp>
        <p:nvSpPr>
          <p:cNvPr id="30" name="Rectangle 29"/>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32" name="TextBox 31"/>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T  H  E     S  P  E  C</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The system prompt as engineering specification</a:t>
            </a:r>
          </a:p>
        </p:txBody>
      </p:sp>
      <p:sp>
        <p:nvSpPr>
          <p:cNvPr id="5" name="TextBox 4"/>
          <p:cNvSpPr txBox="1"/>
          <p:nvPr/>
        </p:nvSpPr>
        <p:spPr>
          <a:xfrm>
            <a:off x="822960" y="1783080"/>
            <a:ext cx="5852160" cy="822960"/>
          </a:xfrm>
          <a:prstGeom prst="rect">
            <a:avLst/>
          </a:prstGeom>
          <a:noFill/>
        </p:spPr>
        <p:txBody>
          <a:bodyPr wrap="square" lIns="0" tIns="0" rIns="0" bIns="0" anchor="t">
            <a:spAutoFit/>
          </a:bodyPr>
          <a:lstStyle/>
          <a:p>
            <a:pPr algn="l">
              <a:lnSpc>
                <a:spcPct val="110000"/>
              </a:lnSpc>
              <a:spcBef>
                <a:spcPts val="0"/>
              </a:spcBef>
              <a:spcAft>
                <a:spcPts val="800"/>
              </a:spcAft>
            </a:pPr>
            <a:r>
              <a:rPr sz="2000" b="0" i="0">
                <a:solidFill>
                  <a:srgbClr val="4A5260"/>
                </a:solidFill>
                <a:latin typeface="Arial"/>
              </a:rPr>
              <a:t>A structured, human-readable spec — XML-tagged sections, each encoding one principle.</a:t>
            </a:r>
          </a:p>
        </p:txBody>
      </p:sp>
      <p:sp>
        <p:nvSpPr>
          <p:cNvPr id="6" name="TextBox 5"/>
          <p:cNvSpPr txBox="1"/>
          <p:nvPr/>
        </p:nvSpPr>
        <p:spPr>
          <a:xfrm>
            <a:off x="822960" y="2743200"/>
            <a:ext cx="5852160" cy="3291840"/>
          </a:xfrm>
          <a:prstGeom prst="rect">
            <a:avLst/>
          </a:prstGeom>
          <a:noFill/>
        </p:spPr>
        <p:txBody>
          <a:bodyPr wrap="square" lIns="0" tIns="0" rIns="0" bIns="0" anchor="t">
            <a:spAutoFit/>
          </a:bodyPr>
          <a:lstStyle/>
          <a:p>
            <a:pPr algn="l">
              <a:lnSpc>
                <a:spcPct val="106000"/>
              </a:lnSpc>
              <a:spcAft>
                <a:spcPts val="1600"/>
              </a:spcAft>
            </a:pPr>
            <a:r>
              <a:rPr sz="1800" b="1">
                <a:solidFill>
                  <a:srgbClr val="FDB515"/>
                </a:solidFill>
                <a:latin typeface="Arial"/>
              </a:rPr>
              <a:t>—  </a:t>
            </a:r>
            <a:r>
              <a:rPr sz="1800" b="1">
                <a:solidFill>
                  <a:srgbClr val="003262"/>
                </a:solidFill>
                <a:latin typeface="Arial"/>
              </a:rPr>
              <a:t>Prompt as test oracle:  </a:t>
            </a:r>
            <a:r>
              <a:rPr sz="1800">
                <a:solidFill>
                  <a:srgbClr val="1A1F2B"/>
                </a:solidFill>
                <a:latin typeface="Arial"/>
              </a:rPr>
              <a:t>audit compliance from the log, write a real-LLM test, then patch the prompt.</a:t>
            </a:r>
          </a:p>
          <a:p>
            <a:pPr algn="l">
              <a:lnSpc>
                <a:spcPct val="106000"/>
              </a:lnSpc>
              <a:spcAft>
                <a:spcPts val="1600"/>
              </a:spcAft>
            </a:pPr>
            <a:r>
              <a:rPr sz="1800" b="1">
                <a:solidFill>
                  <a:srgbClr val="FDB515"/>
                </a:solidFill>
                <a:latin typeface="Arial"/>
              </a:rPr>
              <a:t>—  </a:t>
            </a:r>
            <a:r>
              <a:rPr sz="1800" b="1">
                <a:solidFill>
                  <a:srgbClr val="003262"/>
                </a:solidFill>
                <a:latin typeface="Arial"/>
              </a:rPr>
              <a:t>Evolved voice:  </a:t>
            </a:r>
            <a:r>
              <a:rPr sz="1800">
                <a:solidFill>
                  <a:srgbClr val="1A1F2B"/>
                </a:solidFill>
                <a:latin typeface="Arial"/>
              </a:rPr>
              <a:t>from aggressive imperatives to calm, explanatory framing — the agent performed better.</a:t>
            </a:r>
          </a:p>
          <a:p>
            <a:pPr algn="l">
              <a:lnSpc>
                <a:spcPct val="106000"/>
              </a:lnSpc>
              <a:spcAft>
                <a:spcPts val="1600"/>
              </a:spcAft>
            </a:pPr>
            <a:r>
              <a:rPr sz="1800" b="1">
                <a:solidFill>
                  <a:srgbClr val="FDB515"/>
                </a:solidFill>
                <a:latin typeface="Arial"/>
              </a:rPr>
              <a:t>—  </a:t>
            </a:r>
            <a:r>
              <a:rPr sz="1800" b="1">
                <a:solidFill>
                  <a:srgbClr val="003262"/>
                </a:solidFill>
                <a:latin typeface="Arial"/>
              </a:rPr>
              <a:t>Every rule names a failure mode:  </a:t>
            </a:r>
            <a:r>
              <a:rPr sz="1800">
                <a:solidFill>
                  <a:srgbClr val="1A1F2B"/>
                </a:solidFill>
                <a:latin typeface="Arial"/>
              </a:rPr>
              <a:t>a specific action and a specific verification, refined iteratively.</a:t>
            </a:r>
          </a:p>
        </p:txBody>
      </p:sp>
      <p:sp>
        <p:nvSpPr>
          <p:cNvPr id="7" name="Rectangle 6"/>
          <p:cNvSpPr/>
          <p:nvPr/>
        </p:nvSpPr>
        <p:spPr>
          <a:xfrm>
            <a:off x="7040880" y="1828800"/>
            <a:ext cx="4297680" cy="429768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040880" y="1828800"/>
            <a:ext cx="429768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148840"/>
            <a:ext cx="3657600" cy="3840480"/>
          </a:xfrm>
          <a:prstGeom prst="rect">
            <a:avLst/>
          </a:prstGeom>
          <a:noFill/>
        </p:spPr>
        <p:txBody>
          <a:bodyPr wrap="square" lIns="0" tIns="0" rIns="0" bIns="0" anchor="t">
            <a:spAutoFit/>
          </a:bodyPr>
          <a:lstStyle/>
          <a:p>
            <a:pPr algn="l">
              <a:lnSpc>
                <a:spcPct val="100000"/>
              </a:lnSpc>
              <a:spcBef>
                <a:spcPts val="0"/>
              </a:spcBef>
              <a:spcAft>
                <a:spcPts val="800"/>
              </a:spcAft>
            </a:pPr>
            <a:r>
              <a:rPr sz="1800" b="0" i="0">
                <a:solidFill>
                  <a:srgbClr val="7FD3F0"/>
                </a:solidFill>
                <a:latin typeface="Consolas"/>
              </a:rPr>
              <a:t>&lt;identity&gt;</a:t>
            </a:r>
          </a:p>
          <a:p>
            <a:pPr algn="l">
              <a:lnSpc>
                <a:spcPct val="100000"/>
              </a:lnSpc>
              <a:spcBef>
                <a:spcPts val="0"/>
              </a:spcBef>
              <a:spcAft>
                <a:spcPts val="800"/>
              </a:spcAft>
            </a:pPr>
            <a:r>
              <a:rPr sz="1800" b="0" i="0">
                <a:solidFill>
                  <a:srgbClr val="7FD3F0"/>
                </a:solidFill>
                <a:latin typeface="Consolas"/>
              </a:rPr>
              <a:t>&lt;visibility_constraint&gt;</a:t>
            </a:r>
          </a:p>
          <a:p>
            <a:pPr algn="l">
              <a:lnSpc>
                <a:spcPct val="100000"/>
              </a:lnSpc>
              <a:spcBef>
                <a:spcPts val="0"/>
              </a:spcBef>
              <a:spcAft>
                <a:spcPts val="800"/>
              </a:spcAft>
            </a:pPr>
            <a:r>
              <a:rPr sz="1800" b="0" i="0">
                <a:solidFill>
                  <a:srgbClr val="7FD3F0"/>
                </a:solidFill>
                <a:latin typeface="Consolas"/>
              </a:rPr>
              <a:t>&lt;tool_rules&gt;</a:t>
            </a:r>
          </a:p>
          <a:p>
            <a:pPr algn="l">
              <a:lnSpc>
                <a:spcPct val="100000"/>
              </a:lnSpc>
              <a:spcBef>
                <a:spcPts val="0"/>
              </a:spcBef>
              <a:spcAft>
                <a:spcPts val="800"/>
              </a:spcAft>
            </a:pPr>
            <a:r>
              <a:rPr sz="1800" b="0" i="0">
                <a:solidFill>
                  <a:srgbClr val="7FD3F0"/>
                </a:solidFill>
                <a:latin typeface="Consolas"/>
              </a:rPr>
              <a:t>&lt;web_research&gt;</a:t>
            </a:r>
          </a:p>
          <a:p>
            <a:pPr algn="l">
              <a:lnSpc>
                <a:spcPct val="100000"/>
              </a:lnSpc>
              <a:spcBef>
                <a:spcPts val="0"/>
              </a:spcBef>
              <a:spcAft>
                <a:spcPts val="800"/>
              </a:spcAft>
            </a:pPr>
            <a:r>
              <a:rPr sz="1800" b="0" i="0">
                <a:solidFill>
                  <a:srgbClr val="7FD3F0"/>
                </a:solidFill>
                <a:latin typeface="Consolas"/>
              </a:rPr>
              <a:t>&lt;code_style&gt;</a:t>
            </a:r>
          </a:p>
          <a:p>
            <a:pPr algn="l">
              <a:lnSpc>
                <a:spcPct val="100000"/>
              </a:lnSpc>
              <a:spcBef>
                <a:spcPts val="0"/>
              </a:spcBef>
              <a:spcAft>
                <a:spcPts val="800"/>
              </a:spcAft>
            </a:pPr>
            <a:r>
              <a:rPr sz="1800" b="0" i="0">
                <a:solidFill>
                  <a:srgbClr val="7FD3F0"/>
                </a:solidFill>
                <a:latin typeface="Consolas"/>
              </a:rPr>
              <a:t>&lt;workflow&gt;</a:t>
            </a:r>
          </a:p>
          <a:p>
            <a:pPr algn="l">
              <a:lnSpc>
                <a:spcPct val="100000"/>
              </a:lnSpc>
              <a:spcBef>
                <a:spcPts val="0"/>
              </a:spcBef>
              <a:spcAft>
                <a:spcPts val="800"/>
              </a:spcAft>
            </a:pPr>
            <a:r>
              <a:rPr sz="1800" b="0" i="0">
                <a:solidFill>
                  <a:srgbClr val="7FD3F0"/>
                </a:solidFill>
                <a:latin typeface="Consolas"/>
              </a:rPr>
              <a:t>&lt;testing&gt;</a:t>
            </a:r>
          </a:p>
          <a:p>
            <a:pPr algn="l">
              <a:lnSpc>
                <a:spcPct val="100000"/>
              </a:lnSpc>
              <a:spcBef>
                <a:spcPts val="0"/>
              </a:spcBef>
              <a:spcAft>
                <a:spcPts val="800"/>
              </a:spcAft>
            </a:pPr>
            <a:r>
              <a:rPr sz="1800" b="0" i="0">
                <a:solidFill>
                  <a:srgbClr val="7FD3F0"/>
                </a:solidFill>
                <a:latin typeface="Consolas"/>
              </a:rPr>
              <a:t>&lt;pre_finish_verification&gt;</a:t>
            </a:r>
          </a:p>
          <a:p>
            <a:pPr algn="l">
              <a:lnSpc>
                <a:spcPct val="100000"/>
              </a:lnSpc>
              <a:spcBef>
                <a:spcPts val="0"/>
              </a:spcBef>
              <a:spcAft>
                <a:spcPts val="800"/>
              </a:spcAft>
            </a:pPr>
            <a:r>
              <a:rPr sz="1800" b="0" i="0">
                <a:solidFill>
                  <a:srgbClr val="7FD3F0"/>
                </a:solidFill>
                <a:latin typeface="Consolas"/>
              </a:rPr>
              <a:t>&lt;sorcar_specific&gt;</a:t>
            </a:r>
          </a:p>
        </p:txBody>
      </p:sp>
      <p:sp>
        <p:nvSpPr>
          <p:cNvPr id="10" name="Rectangle 9"/>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12" name="TextBox 11"/>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L  E  S  S  O  N  S</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What the patterns reveal</a:t>
            </a:r>
          </a:p>
        </p:txBody>
      </p:sp>
      <p:sp>
        <p:nvSpPr>
          <p:cNvPr id="5" name="TextBox 4"/>
          <p:cNvSpPr txBox="1"/>
          <p:nvPr/>
        </p:nvSpPr>
        <p:spPr>
          <a:xfrm>
            <a:off x="822960" y="1920240"/>
            <a:ext cx="10607040" cy="4297680"/>
          </a:xfrm>
          <a:prstGeom prst="rect">
            <a:avLst/>
          </a:prstGeom>
          <a:noFill/>
        </p:spPr>
        <p:txBody>
          <a:bodyPr wrap="square" lIns="0" tIns="0" rIns="0" bIns="0" anchor="t">
            <a:spAutoFit/>
          </a:bodyPr>
          <a:lstStyle/>
          <a:p>
            <a:pPr algn="l">
              <a:lnSpc>
                <a:spcPct val="106000"/>
              </a:lnSpc>
              <a:spcAft>
                <a:spcPts val="1600"/>
              </a:spcAft>
            </a:pPr>
            <a:r>
              <a:rPr sz="2000" b="1">
                <a:solidFill>
                  <a:srgbClr val="FDB515"/>
                </a:solidFill>
                <a:latin typeface="Arial"/>
              </a:rPr>
              <a:t>—  </a:t>
            </a:r>
            <a:r>
              <a:rPr sz="2000" b="1">
                <a:solidFill>
                  <a:srgbClr val="003262"/>
                </a:solidFill>
                <a:latin typeface="Arial"/>
              </a:rPr>
              <a:t>The role shifts:  </a:t>
            </a:r>
            <a:r>
              <a:rPr sz="2000">
                <a:solidFill>
                  <a:srgbClr val="1A1F2B"/>
                </a:solidFill>
                <a:latin typeface="Arial"/>
              </a:rPr>
              <a:t>from writing code to directing and verifying an agent that writes code — discipline lives in task phrasing.</a:t>
            </a:r>
          </a:p>
          <a:p>
            <a:pPr algn="l">
              <a:lnSpc>
                <a:spcPct val="106000"/>
              </a:lnSpc>
              <a:spcAft>
                <a:spcPts val="1600"/>
              </a:spcAft>
            </a:pPr>
            <a:r>
              <a:rPr sz="2000" b="1">
                <a:solidFill>
                  <a:srgbClr val="FDB515"/>
                </a:solidFill>
                <a:latin typeface="Arial"/>
              </a:rPr>
              <a:t>—  </a:t>
            </a:r>
            <a:r>
              <a:rPr sz="2000" b="1">
                <a:solidFill>
                  <a:srgbClr val="003262"/>
                </a:solidFill>
                <a:latin typeface="Arial"/>
              </a:rPr>
              <a:t>Natural language is precise enough:  </a:t>
            </a:r>
            <a:r>
              <a:rPr sz="2000">
                <a:solidFill>
                  <a:srgbClr val="1A1F2B"/>
                </a:solidFill>
                <a:latin typeface="Arial"/>
              </a:rPr>
              <a:t>when explanation and edit come from the same agent over the same source, vague instructions land.</a:t>
            </a:r>
          </a:p>
          <a:p>
            <a:pPr algn="l">
              <a:lnSpc>
                <a:spcPct val="106000"/>
              </a:lnSpc>
              <a:spcAft>
                <a:spcPts val="1600"/>
              </a:spcAft>
            </a:pPr>
            <a:r>
              <a:rPr sz="2000" b="1">
                <a:solidFill>
                  <a:srgbClr val="FDB515"/>
                </a:solidFill>
                <a:latin typeface="Arial"/>
              </a:rPr>
              <a:t>—  </a:t>
            </a:r>
            <a:r>
              <a:rPr sz="2000" b="1">
                <a:solidFill>
                  <a:srgbClr val="003262"/>
                </a:solidFill>
                <a:latin typeface="Arial"/>
              </a:rPr>
              <a:t>The self-hosting paradox:  </a:t>
            </a:r>
            <a:r>
              <a:rPr sz="2000">
                <a:solidFill>
                  <a:srgbClr val="1A1F2B"/>
                </a:solidFill>
                <a:latin typeface="Arial"/>
              </a:rPr>
              <a:t>the tool must be good enough to build itself; resolved by bootstrapping, version by version.</a:t>
            </a:r>
          </a:p>
          <a:p>
            <a:pPr algn="l">
              <a:lnSpc>
                <a:spcPct val="106000"/>
              </a:lnSpc>
              <a:spcAft>
                <a:spcPts val="1600"/>
              </a:spcAft>
            </a:pPr>
            <a:r>
              <a:rPr sz="2000" b="1">
                <a:solidFill>
                  <a:srgbClr val="FDB515"/>
                </a:solidFill>
                <a:latin typeface="Arial"/>
              </a:rPr>
              <a:t>—  </a:t>
            </a:r>
            <a:r>
              <a:rPr sz="2000" b="1">
                <a:solidFill>
                  <a:srgbClr val="003262"/>
                </a:solidFill>
                <a:latin typeface="Arial"/>
              </a:rPr>
              <a:t>Cost of the approach:  </a:t>
            </a:r>
            <a:r>
              <a:rPr sz="2000">
                <a:solidFill>
                  <a:srgbClr val="1A1F2B"/>
                </a:solidFill>
                <a:latin typeface="Arial"/>
              </a:rPr>
              <a:t>~1 in 90 tasks needed a defensive revert — but every surviving change is validated by its own maintainer.</a:t>
            </a:r>
          </a:p>
          <a:p>
            <a:pPr algn="l">
              <a:lnSpc>
                <a:spcPct val="106000"/>
              </a:lnSpc>
              <a:spcAft>
                <a:spcPts val="1600"/>
              </a:spcAft>
            </a:pPr>
            <a:r>
              <a:rPr sz="2000" b="1">
                <a:solidFill>
                  <a:srgbClr val="FDB515"/>
                </a:solidFill>
                <a:latin typeface="Arial"/>
              </a:rPr>
              <a:t>—  </a:t>
            </a:r>
            <a:r>
              <a:rPr sz="2000" b="1">
                <a:solidFill>
                  <a:srgbClr val="003262"/>
                </a:solidFill>
                <a:latin typeface="Arial"/>
              </a:rPr>
              <a:t>A general-purpose companion:  </a:t>
            </a:r>
            <a:r>
              <a:rPr sz="2000">
                <a:solidFill>
                  <a:srgbClr val="1A1F2B"/>
                </a:solidFill>
                <a:latin typeface="Arial"/>
              </a:rPr>
              <a:t>because it is used all day, it becomes the interface for everything, not just coding.</a:t>
            </a:r>
          </a:p>
        </p:txBody>
      </p:sp>
      <p:sp>
        <p:nvSpPr>
          <p:cNvPr id="6" name="Rectangle 5"/>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8" name="TextBox 7"/>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C  A  V  E  A  T  S</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Threats to validity</a:t>
            </a:r>
          </a:p>
        </p:txBody>
      </p:sp>
      <p:sp>
        <p:nvSpPr>
          <p:cNvPr id="5" name="Rectangle 4"/>
          <p:cNvSpPr/>
          <p:nvPr/>
        </p:nvSpPr>
        <p:spPr>
          <a:xfrm>
            <a:off x="822960" y="2286000"/>
            <a:ext cx="10515600" cy="10972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286000"/>
            <a:ext cx="146304" cy="1097280"/>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286000"/>
            <a:ext cx="3291840" cy="1097280"/>
          </a:xfrm>
          <a:prstGeom prst="rect">
            <a:avLst/>
          </a:prstGeom>
          <a:noFill/>
        </p:spPr>
        <p:txBody>
          <a:bodyPr wrap="square" lIns="0" tIns="0" rIns="0" bIns="0" anchor="ctr">
            <a:spAutoFit/>
          </a:bodyPr>
          <a:lstStyle/>
          <a:p>
            <a:pPr algn="l">
              <a:lnSpc>
                <a:spcPct val="100000"/>
              </a:lnSpc>
              <a:spcBef>
                <a:spcPts val="0"/>
              </a:spcBef>
              <a:spcAft>
                <a:spcPts val="800"/>
              </a:spcAft>
            </a:pPr>
            <a:r>
              <a:rPr sz="2200" b="1" i="0">
                <a:solidFill>
                  <a:srgbClr val="003262"/>
                </a:solidFill>
                <a:latin typeface="Arial"/>
              </a:rPr>
              <a:t>Single developer</a:t>
            </a:r>
          </a:p>
        </p:txBody>
      </p:sp>
      <p:sp>
        <p:nvSpPr>
          <p:cNvPr id="8" name="TextBox 7"/>
          <p:cNvSpPr txBox="1"/>
          <p:nvPr/>
        </p:nvSpPr>
        <p:spPr>
          <a:xfrm>
            <a:off x="4572000" y="2286000"/>
            <a:ext cx="6492240" cy="1097280"/>
          </a:xfrm>
          <a:prstGeom prst="rect">
            <a:avLst/>
          </a:prstGeom>
          <a:noFill/>
        </p:spPr>
        <p:txBody>
          <a:bodyPr wrap="square" lIns="0" tIns="0" rIns="0" bIns="0" anchor="ctr">
            <a:spAutoFit/>
          </a:bodyPr>
          <a:lstStyle/>
          <a:p>
            <a:pPr algn="l">
              <a:lnSpc>
                <a:spcPct val="105000"/>
              </a:lnSpc>
              <a:spcBef>
                <a:spcPts val="0"/>
              </a:spcBef>
              <a:spcAft>
                <a:spcPts val="800"/>
              </a:spcAft>
            </a:pPr>
            <a:r>
              <a:rPr sz="1800" b="0" i="0">
                <a:solidFill>
                  <a:srgbClr val="4A5260"/>
                </a:solidFill>
                <a:latin typeface="Arial"/>
              </a:rPr>
              <a:t>All 3,099 tasks came from one person; other developers may differ.</a:t>
            </a:r>
          </a:p>
        </p:txBody>
      </p:sp>
      <p:sp>
        <p:nvSpPr>
          <p:cNvPr id="9" name="Rectangle 8"/>
          <p:cNvSpPr/>
          <p:nvPr/>
        </p:nvSpPr>
        <p:spPr>
          <a:xfrm>
            <a:off x="822960" y="3611880"/>
            <a:ext cx="10515600" cy="10972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3611880"/>
            <a:ext cx="146304" cy="1097280"/>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3611880"/>
            <a:ext cx="3291840" cy="1097280"/>
          </a:xfrm>
          <a:prstGeom prst="rect">
            <a:avLst/>
          </a:prstGeom>
          <a:noFill/>
        </p:spPr>
        <p:txBody>
          <a:bodyPr wrap="square" lIns="0" tIns="0" rIns="0" bIns="0" anchor="ctr">
            <a:spAutoFit/>
          </a:bodyPr>
          <a:lstStyle/>
          <a:p>
            <a:pPr algn="l">
              <a:lnSpc>
                <a:spcPct val="100000"/>
              </a:lnSpc>
              <a:spcBef>
                <a:spcPts val="0"/>
              </a:spcBef>
              <a:spcAft>
                <a:spcPts val="800"/>
              </a:spcAft>
            </a:pPr>
            <a:r>
              <a:rPr sz="2200" b="1" i="0">
                <a:solidFill>
                  <a:srgbClr val="003262"/>
                </a:solidFill>
                <a:latin typeface="Arial"/>
              </a:rPr>
              <a:t>Single system</a:t>
            </a:r>
          </a:p>
        </p:txBody>
      </p:sp>
      <p:sp>
        <p:nvSpPr>
          <p:cNvPr id="12" name="TextBox 11"/>
          <p:cNvSpPr txBox="1"/>
          <p:nvPr/>
        </p:nvSpPr>
        <p:spPr>
          <a:xfrm>
            <a:off x="4572000" y="3611880"/>
            <a:ext cx="6492240" cy="1097280"/>
          </a:xfrm>
          <a:prstGeom prst="rect">
            <a:avLst/>
          </a:prstGeom>
          <a:noFill/>
        </p:spPr>
        <p:txBody>
          <a:bodyPr wrap="square" lIns="0" tIns="0" rIns="0" bIns="0" anchor="ctr">
            <a:spAutoFit/>
          </a:bodyPr>
          <a:lstStyle/>
          <a:p>
            <a:pPr algn="l">
              <a:lnSpc>
                <a:spcPct val="105000"/>
              </a:lnSpc>
              <a:spcBef>
                <a:spcPts val="0"/>
              </a:spcBef>
              <a:spcAft>
                <a:spcPts val="800"/>
              </a:spcAft>
            </a:pPr>
            <a:r>
              <a:rPr sz="1800" b="0" i="0">
                <a:solidFill>
                  <a:srgbClr val="4A5260"/>
                </a:solidFill>
                <a:latin typeface="Arial"/>
              </a:rPr>
              <a:t>Patterns are specific to KISS Sorcar's architecture.</a:t>
            </a:r>
          </a:p>
        </p:txBody>
      </p:sp>
      <p:sp>
        <p:nvSpPr>
          <p:cNvPr id="13" name="Rectangle 12"/>
          <p:cNvSpPr/>
          <p:nvPr/>
        </p:nvSpPr>
        <p:spPr>
          <a:xfrm>
            <a:off x="822960" y="4937760"/>
            <a:ext cx="10515600" cy="1097280"/>
          </a:xfrm>
          <a:prstGeom prst="rect">
            <a:avLst/>
          </a:prstGeom>
          <a:solidFill>
            <a:srgbClr val="FFFFFF"/>
          </a:solidFill>
          <a:ln w="12700">
            <a:solidFill>
              <a:srgbClr val="E9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4937760"/>
            <a:ext cx="146304" cy="1097280"/>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37760"/>
            <a:ext cx="3291840" cy="1097280"/>
          </a:xfrm>
          <a:prstGeom prst="rect">
            <a:avLst/>
          </a:prstGeom>
          <a:noFill/>
        </p:spPr>
        <p:txBody>
          <a:bodyPr wrap="square" lIns="0" tIns="0" rIns="0" bIns="0" anchor="ctr">
            <a:spAutoFit/>
          </a:bodyPr>
          <a:lstStyle/>
          <a:p>
            <a:pPr algn="l">
              <a:lnSpc>
                <a:spcPct val="100000"/>
              </a:lnSpc>
              <a:spcBef>
                <a:spcPts val="0"/>
              </a:spcBef>
              <a:spcAft>
                <a:spcPts val="800"/>
              </a:spcAft>
            </a:pPr>
            <a:r>
              <a:rPr sz="2200" b="1" i="0">
                <a:solidFill>
                  <a:srgbClr val="003262"/>
                </a:solidFill>
                <a:latin typeface="Arial"/>
              </a:rPr>
              <a:t>Self-hosting bias</a:t>
            </a:r>
          </a:p>
        </p:txBody>
      </p:sp>
      <p:sp>
        <p:nvSpPr>
          <p:cNvPr id="16" name="TextBox 15"/>
          <p:cNvSpPr txBox="1"/>
          <p:nvPr/>
        </p:nvSpPr>
        <p:spPr>
          <a:xfrm>
            <a:off x="4572000" y="4937760"/>
            <a:ext cx="6492240" cy="1097280"/>
          </a:xfrm>
          <a:prstGeom prst="rect">
            <a:avLst/>
          </a:prstGeom>
          <a:noFill/>
        </p:spPr>
        <p:txBody>
          <a:bodyPr wrap="square" lIns="0" tIns="0" rIns="0" bIns="0" anchor="ctr">
            <a:spAutoFit/>
          </a:bodyPr>
          <a:lstStyle/>
          <a:p>
            <a:pPr algn="l">
              <a:lnSpc>
                <a:spcPct val="105000"/>
              </a:lnSpc>
              <a:spcBef>
                <a:spcPts val="0"/>
              </a:spcBef>
              <a:spcAft>
                <a:spcPts val="800"/>
              </a:spcAft>
            </a:pPr>
            <a:r>
              <a:rPr sz="1800" b="0" i="0">
                <a:solidFill>
                  <a:srgbClr val="4A5260"/>
                </a:solidFill>
                <a:latin typeface="Arial"/>
              </a:rPr>
              <a:t>The design is optimized for tasks the agent already does well.</a:t>
            </a:r>
          </a:p>
        </p:txBody>
      </p:sp>
      <p:sp>
        <p:nvSpPr>
          <p:cNvPr id="17" name="Rectangle 16"/>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19" name="TextBox 18"/>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a:solidFill>
                  <a:srgbClr val="FFFFFF"/>
                </a:solidFill>
              </a:defRPr>
            </a:pPr>
            <a:r>
              <a:t>KISS Sorcar — Koushik Sen, UC Berkeley</a:t>
            </a:r>
          </a:p>
        </p:txBody>
      </p:sp>
      <p:sp>
        <p:nvSpPr>
          <p:cNvPr id="5" name="TextBox 4"/>
          <p:cNvSpPr txBox="1"/>
          <p:nvPr/>
        </p:nvSpPr>
        <p:spPr>
          <a:xfrm>
            <a:off x="731520" y="457200"/>
            <a:ext cx="10728655" cy="731520"/>
          </a:xfrm>
          <a:prstGeom prst="rect">
            <a:avLst/>
          </a:prstGeom>
          <a:noFill/>
        </p:spPr>
        <p:txBody>
          <a:bodyPr wrap="square">
            <a:spAutoFit/>
          </a:bodyPr>
          <a:lstStyle/>
          <a:p>
            <a:pPr algn="l">
              <a:defRPr sz="3600" b="1">
                <a:solidFill>
                  <a:srgbClr val="1B2A4A"/>
                </a:solidFill>
              </a:defRPr>
            </a:pPr>
            <a:r>
              <a:t>Web Research &amp; File Browsing Protocols</a:t>
            </a:r>
          </a:p>
        </p:txBody>
      </p:sp>
      <p:sp>
        <p:nvSpPr>
          <p:cNvPr id="6" name="Rounded Rectangle 5"/>
          <p:cNvSpPr/>
          <p:nvPr/>
        </p:nvSpPr>
        <p:spPr>
          <a:xfrm>
            <a:off x="478231" y="1485900"/>
            <a:ext cx="11036808" cy="457200"/>
          </a:xfrm>
          <a:prstGeom prst="roundRect">
            <a:avLst>
              <a:gd name="adj" fmla="val 5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lgn="ctr">
              <a:defRPr sz="1800" b="1">
                <a:solidFill>
                  <a:srgbClr val="FFFFFF"/>
                </a:solidFill>
              </a:defRPr>
            </a:pPr>
            <a:r>
              <a:rPr dirty="0"/>
              <a:t>Two-Phase Approach:  COLLECT first  →  SYNTHESIZE second  (skipped for pure code edits with sufficient context)</a:t>
            </a:r>
          </a:p>
        </p:txBody>
      </p:sp>
      <p:sp>
        <p:nvSpPr>
          <p:cNvPr id="7" name="Rounded Rectangle 6"/>
          <p:cNvSpPr/>
          <p:nvPr/>
        </p:nvSpPr>
        <p:spPr>
          <a:xfrm>
            <a:off x="731520" y="2286000"/>
            <a:ext cx="5029200" cy="36576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lgn="ctr">
              <a:defRPr sz="1600" b="1">
                <a:solidFill>
                  <a:srgbClr val="FFFFFF"/>
                </a:solidFill>
              </a:defRPr>
            </a:pPr>
            <a:r>
              <a:t>Web Research</a:t>
            </a:r>
          </a:p>
        </p:txBody>
      </p:sp>
      <p:sp>
        <p:nvSpPr>
          <p:cNvPr id="8" name="TextBox 7"/>
          <p:cNvSpPr txBox="1"/>
          <p:nvPr/>
        </p:nvSpPr>
        <p:spPr>
          <a:xfrm>
            <a:off x="914400" y="2834640"/>
            <a:ext cx="4754880" cy="274320"/>
          </a:xfrm>
          <a:prstGeom prst="rect">
            <a:avLst/>
          </a:prstGeom>
          <a:noFill/>
        </p:spPr>
        <p:txBody>
          <a:bodyPr wrap="none">
            <a:spAutoFit/>
          </a:bodyPr>
          <a:lstStyle/>
          <a:p>
            <a:pPr>
              <a:defRPr sz="1400">
                <a:solidFill>
                  <a:srgbClr val="374151"/>
                </a:solidFill>
              </a:defRPr>
            </a:pPr>
            <a:r>
              <a:t>• Visit AT LEAST 10 websites (HARD requirement)</a:t>
            </a:r>
          </a:p>
        </p:txBody>
      </p:sp>
      <p:sp>
        <p:nvSpPr>
          <p:cNvPr id="9" name="TextBox 8"/>
          <p:cNvSpPr txBox="1"/>
          <p:nvPr/>
        </p:nvSpPr>
        <p:spPr>
          <a:xfrm>
            <a:off x="914400" y="3154680"/>
            <a:ext cx="4754880" cy="274320"/>
          </a:xfrm>
          <a:prstGeom prst="rect">
            <a:avLst/>
          </a:prstGeom>
          <a:noFill/>
        </p:spPr>
        <p:txBody>
          <a:bodyPr wrap="none">
            <a:spAutoFit/>
          </a:bodyPr>
          <a:lstStyle/>
          <a:p>
            <a:pPr>
              <a:defRPr sz="1400">
                <a:solidFill>
                  <a:srgbClr val="374151"/>
                </a:solidFill>
              </a:defRPr>
            </a:pPr>
            <a:r>
              <a:t>• Use go_to_url() only — NOT curl/wget (loophole closed)</a:t>
            </a:r>
          </a:p>
        </p:txBody>
      </p:sp>
      <p:sp>
        <p:nvSpPr>
          <p:cNvPr id="10" name="TextBox 9"/>
          <p:cNvSpPr txBox="1"/>
          <p:nvPr/>
        </p:nvSpPr>
        <p:spPr>
          <a:xfrm>
            <a:off x="914400" y="3474720"/>
            <a:ext cx="4754880" cy="274320"/>
          </a:xfrm>
          <a:prstGeom prst="rect">
            <a:avLst/>
          </a:prstGeom>
          <a:noFill/>
        </p:spPr>
        <p:txBody>
          <a:bodyPr wrap="none">
            <a:spAutoFit/>
          </a:bodyPr>
          <a:lstStyle/>
          <a:p>
            <a:pPr>
              <a:defRPr sz="1400">
                <a:solidFill>
                  <a:srgbClr val="374151"/>
                </a:solidFill>
              </a:defRPr>
            </a:pPr>
            <a:r>
              <a:t>• Collect into PWD/tmp/information-{id}.md (your proof of work)</a:t>
            </a:r>
          </a:p>
        </p:txBody>
      </p:sp>
      <p:sp>
        <p:nvSpPr>
          <p:cNvPr id="11" name="TextBox 10"/>
          <p:cNvSpPr txBox="1"/>
          <p:nvPr/>
        </p:nvSpPr>
        <p:spPr>
          <a:xfrm>
            <a:off x="914400" y="3794760"/>
            <a:ext cx="4754880" cy="274320"/>
          </a:xfrm>
          <a:prstGeom prst="rect">
            <a:avLst/>
          </a:prstGeom>
          <a:noFill/>
        </p:spPr>
        <p:txBody>
          <a:bodyPr wrap="none">
            <a:spAutoFit/>
          </a:bodyPr>
          <a:lstStyle/>
          <a:p>
            <a:pPr>
              <a:defRPr sz="1400">
                <a:solidFill>
                  <a:srgbClr val="374151"/>
                </a:solidFill>
              </a:defRPr>
            </a:pPr>
            <a:r>
              <a:t>• Real-time data: look it up — never answer from training memory</a:t>
            </a:r>
          </a:p>
        </p:txBody>
      </p:sp>
      <p:sp>
        <p:nvSpPr>
          <p:cNvPr id="12" name="TextBox 11"/>
          <p:cNvSpPr txBox="1"/>
          <p:nvPr/>
        </p:nvSpPr>
        <p:spPr>
          <a:xfrm>
            <a:off x="914400" y="4114800"/>
            <a:ext cx="4754880" cy="274320"/>
          </a:xfrm>
          <a:prstGeom prst="rect">
            <a:avLst/>
          </a:prstGeom>
          <a:noFill/>
        </p:spPr>
        <p:txBody>
          <a:bodyPr wrap="none">
            <a:spAutoFit/>
          </a:bodyPr>
          <a:lstStyle/>
          <a:p>
            <a:pPr>
              <a:defRPr sz="1400">
                <a:solidFill>
                  <a:srgbClr val="374151"/>
                </a:solidFill>
              </a:defRPr>
            </a:pPr>
            <a:r>
              <a:t>• Don’t fabricate source counts; skip for code edits with context</a:t>
            </a:r>
          </a:p>
        </p:txBody>
      </p:sp>
      <p:sp>
        <p:nvSpPr>
          <p:cNvPr id="13" name="Rounded Rectangle 12"/>
          <p:cNvSpPr/>
          <p:nvPr/>
        </p:nvSpPr>
        <p:spPr>
          <a:xfrm>
            <a:off x="6217920" y="2286000"/>
            <a:ext cx="5212080" cy="365760"/>
          </a:xfrm>
          <a:prstGeom prst="roundRect">
            <a:avLst>
              <a:gd name="adj" fmla="val 5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lgn="ctr">
              <a:defRPr sz="1600" b="1">
                <a:solidFill>
                  <a:srgbClr val="FFFFFF"/>
                </a:solidFill>
              </a:defRPr>
            </a:pPr>
            <a:r>
              <a:t>File Browsing</a:t>
            </a:r>
          </a:p>
        </p:txBody>
      </p:sp>
      <p:sp>
        <p:nvSpPr>
          <p:cNvPr id="14" name="TextBox 13"/>
          <p:cNvSpPr txBox="1"/>
          <p:nvPr/>
        </p:nvSpPr>
        <p:spPr>
          <a:xfrm>
            <a:off x="6400800" y="2834640"/>
            <a:ext cx="4937760" cy="274320"/>
          </a:xfrm>
          <a:prstGeom prst="rect">
            <a:avLst/>
          </a:prstGeom>
          <a:noFill/>
        </p:spPr>
        <p:txBody>
          <a:bodyPr wrap="none">
            <a:spAutoFit/>
          </a:bodyPr>
          <a:lstStyle/>
          <a:p>
            <a:pPr>
              <a:defRPr sz="1400">
                <a:solidFill>
                  <a:srgbClr val="374151"/>
                </a:solidFill>
              </a:defRPr>
            </a:pPr>
            <a:r>
              <a:t>• Read files into PWD/tmp/file-information-{id}.md</a:t>
            </a:r>
          </a:p>
        </p:txBody>
      </p:sp>
      <p:sp>
        <p:nvSpPr>
          <p:cNvPr id="15" name="TextBox 14"/>
          <p:cNvSpPr txBox="1"/>
          <p:nvPr/>
        </p:nvSpPr>
        <p:spPr>
          <a:xfrm>
            <a:off x="6400800" y="3154680"/>
            <a:ext cx="4937760" cy="274320"/>
          </a:xfrm>
          <a:prstGeom prst="rect">
            <a:avLst/>
          </a:prstGeom>
          <a:noFill/>
        </p:spPr>
        <p:txBody>
          <a:bodyPr wrap="none">
            <a:spAutoFit/>
          </a:bodyPr>
          <a:lstStyle/>
          <a:p>
            <a:pPr>
              <a:defRPr sz="1400">
                <a:solidFill>
                  <a:srgbClr val="374151"/>
                </a:solidFill>
              </a:defRPr>
            </a:pPr>
            <a:r>
              <a:t>• Collect WITHOUT much thinking first</a:t>
            </a:r>
          </a:p>
        </p:txBody>
      </p:sp>
      <p:sp>
        <p:nvSpPr>
          <p:cNvPr id="16" name="TextBox 15"/>
          <p:cNvSpPr txBox="1"/>
          <p:nvPr/>
        </p:nvSpPr>
        <p:spPr>
          <a:xfrm>
            <a:off x="6400800" y="3474720"/>
            <a:ext cx="4937760" cy="274320"/>
          </a:xfrm>
          <a:prstGeom prst="rect">
            <a:avLst/>
          </a:prstGeom>
          <a:noFill/>
        </p:spPr>
        <p:txBody>
          <a:bodyPr wrap="none">
            <a:spAutoFit/>
          </a:bodyPr>
          <a:lstStyle/>
          <a:p>
            <a:pPr>
              <a:defRPr sz="1400">
                <a:solidFill>
                  <a:srgbClr val="374151"/>
                </a:solidFill>
              </a:defRPr>
            </a:pPr>
            <a:r>
              <a:t>• Extract facts: signatures, hierarchies, call sites</a:t>
            </a:r>
          </a:p>
        </p:txBody>
      </p:sp>
      <p:sp>
        <p:nvSpPr>
          <p:cNvPr id="17" name="TextBox 16"/>
          <p:cNvSpPr txBox="1"/>
          <p:nvPr/>
        </p:nvSpPr>
        <p:spPr>
          <a:xfrm>
            <a:off x="6400800" y="3794760"/>
            <a:ext cx="4937760" cy="274320"/>
          </a:xfrm>
          <a:prstGeom prst="rect">
            <a:avLst/>
          </a:prstGeom>
          <a:noFill/>
        </p:spPr>
        <p:txBody>
          <a:bodyPr wrap="none">
            <a:spAutoFit/>
          </a:bodyPr>
          <a:lstStyle/>
          <a:p>
            <a:pPr>
              <a:defRPr sz="1400">
                <a:solidFill>
                  <a:srgbClr val="374151"/>
                </a:solidFill>
              </a:defRPr>
            </a:pPr>
            <a:r>
              <a:t>• Summary is smaller than raw files — saves context</a:t>
            </a:r>
          </a:p>
        </p:txBody>
      </p:sp>
      <p:sp>
        <p:nvSpPr>
          <p:cNvPr id="18" name="TextBox 17"/>
          <p:cNvSpPr txBox="1"/>
          <p:nvPr/>
        </p:nvSpPr>
        <p:spPr>
          <a:xfrm>
            <a:off x="6400800" y="4114800"/>
            <a:ext cx="4937760" cy="274320"/>
          </a:xfrm>
          <a:prstGeom prst="rect">
            <a:avLst/>
          </a:prstGeom>
          <a:noFill/>
        </p:spPr>
        <p:txBody>
          <a:bodyPr wrap="none">
            <a:spAutoFit/>
          </a:bodyPr>
          <a:lstStyle/>
          <a:p>
            <a:pPr>
              <a:defRPr sz="1400">
                <a:solidFill>
                  <a:srgbClr val="374151"/>
                </a:solidFill>
              </a:defRPr>
            </a:pPr>
            <a:r>
              <a:t>• Prevents premature commitment to a plan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36D8-CD3B-5F85-10F7-6F8CCCD56019}"/>
              </a:ext>
            </a:extLst>
          </p:cNvPr>
          <p:cNvSpPr>
            <a:spLocks noGrp="1"/>
          </p:cNvSpPr>
          <p:nvPr>
            <p:ph type="title"/>
          </p:nvPr>
        </p:nvSpPr>
        <p:spPr>
          <a:xfrm>
            <a:off x="457199" y="274638"/>
            <a:ext cx="11321143" cy="1143000"/>
          </a:xfrm>
        </p:spPr>
        <p:txBody>
          <a:bodyPr/>
          <a:lstStyle/>
          <a:p>
            <a:r>
              <a:rPr lang="en-US" dirty="0"/>
              <a:t>A sample prompt</a:t>
            </a:r>
          </a:p>
        </p:txBody>
      </p:sp>
      <p:sp>
        <p:nvSpPr>
          <p:cNvPr id="3" name="Content Placeholder 2">
            <a:extLst>
              <a:ext uri="{FF2B5EF4-FFF2-40B4-BE49-F238E27FC236}">
                <a16:creationId xmlns:a16="http://schemas.microsoft.com/office/drawing/2014/main" id="{1CAFC602-A42E-1D9F-9E65-DCE38D218567}"/>
              </a:ext>
            </a:extLst>
          </p:cNvPr>
          <p:cNvSpPr>
            <a:spLocks noGrp="1"/>
          </p:cNvSpPr>
          <p:nvPr>
            <p:ph idx="1"/>
          </p:nvPr>
        </p:nvSpPr>
        <p:spPr>
          <a:xfrm>
            <a:off x="457200" y="1600200"/>
            <a:ext cx="11321142" cy="4525963"/>
          </a:xfrm>
        </p:spPr>
        <p:txBody>
          <a:bodyPr>
            <a:normAutofit lnSpcReduction="10000"/>
          </a:bodyPr>
          <a:lstStyle/>
          <a:p>
            <a:pPr marL="0" indent="0">
              <a:buNone/>
            </a:pPr>
            <a:r>
              <a:rPr lang="en-US" sz="2800" dirty="0">
                <a:latin typeface="Times New Roman" panose="02020603050405020304" pitchFamily="18" charset="0"/>
                <a:cs typeface="Times New Roman" panose="02020603050405020304" pitchFamily="18" charset="0"/>
              </a:rPr>
              <a:t>Can you discover the lightest and fastest neural network model that will give the best accuracy on the data at /Users/</a:t>
            </a:r>
            <a:r>
              <a:rPr lang="en-US" sz="2800" dirty="0" err="1">
                <a:latin typeface="Times New Roman" panose="02020603050405020304" pitchFamily="18" charset="0"/>
                <a:cs typeface="Times New Roman" panose="02020603050405020304" pitchFamily="18" charset="0"/>
              </a:rPr>
              <a:t>ksen</a:t>
            </a:r>
            <a:r>
              <a:rPr lang="en-US" sz="2800" dirty="0">
                <a:latin typeface="Times New Roman" panose="02020603050405020304" pitchFamily="18" charset="0"/>
                <a:cs typeface="Times New Roman" panose="02020603050405020304" pitchFamily="18" charset="0"/>
              </a:rPr>
              <a:t>/work/</a:t>
            </a:r>
            <a:r>
              <a:rPr lang="en-US" sz="2800" dirty="0" err="1">
                <a:latin typeface="Times New Roman" panose="02020603050405020304" pitchFamily="18" charset="0"/>
                <a:cs typeface="Times New Roman" panose="02020603050405020304" pitchFamily="18" charset="0"/>
              </a:rPr>
              <a:t>log_data</a:t>
            </a:r>
            <a:r>
              <a:rPr lang="en-US" sz="2800" dirty="0">
                <a:latin typeface="Times New Roman" panose="02020603050405020304" pitchFamily="18" charset="0"/>
                <a:cs typeface="Times New Roman" panose="02020603050405020304" pitchFamily="18" charset="0"/>
              </a:rPr>
              <a:t>?  Analyze the data and search internet extensively to propose first few models. Implement and experiment each of your proposed models. Note down the ideas you used to optimize the accuracy and speed metrics achieved in a file, so that you can use the file to not repeat ideas that have already been tried and failed. Use 'modal' CLI from </a:t>
            </a:r>
            <a:r>
              <a:rPr lang="en-US" sz="2800" dirty="0">
                <a:latin typeface="Times New Roman" panose="02020603050405020304" pitchFamily="18" charset="0"/>
                <a:cs typeface="Times New Roman" panose="02020603050405020304" pitchFamily="18" charset="0"/>
                <a:hlinkClick r:id="rId2"/>
              </a:rPr>
              <a:t>https://modal.com/</a:t>
            </a:r>
            <a:r>
              <a:rPr lang="en-US" sz="2800" dirty="0">
                <a:latin typeface="Times New Roman" panose="02020603050405020304" pitchFamily="18" charset="0"/>
                <a:cs typeface="Times New Roman" panose="02020603050405020304" pitchFamily="18" charset="0"/>
              </a:rPr>
              <a:t> to train your models and evaluate. Total budget for modal is $1000. Experiment with smaller subset of data and fewer parameter in the model to do experiments quickly and then extrapolate.  Use internet search extensively at every step.  Do not STOP until accuracy reaches 95% and you can process each row in </a:t>
            </a:r>
            <a:r>
              <a:rPr lang="en-US" sz="2800">
                <a:latin typeface="Times New Roman" panose="02020603050405020304" pitchFamily="18" charset="0"/>
                <a:cs typeface="Times New Roman" panose="02020603050405020304" pitchFamily="18" charset="0"/>
              </a:rPr>
              <a:t>less than 50ms.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371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T  A  K  E  A  W  A  Y  S</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Conclusion</a:t>
            </a:r>
          </a:p>
        </p:txBody>
      </p:sp>
      <p:sp>
        <p:nvSpPr>
          <p:cNvPr id="5" name="TextBox 4"/>
          <p:cNvSpPr txBox="1"/>
          <p:nvPr/>
        </p:nvSpPr>
        <p:spPr>
          <a:xfrm>
            <a:off x="822960" y="2011680"/>
            <a:ext cx="10607040" cy="2011680"/>
          </a:xfrm>
          <a:prstGeom prst="rect">
            <a:avLst/>
          </a:prstGeom>
          <a:noFill/>
        </p:spPr>
        <p:txBody>
          <a:bodyPr wrap="square" lIns="0" tIns="0" rIns="0" bIns="0" anchor="t">
            <a:spAutoFit/>
          </a:bodyPr>
          <a:lstStyle/>
          <a:p>
            <a:pPr algn="l">
              <a:lnSpc>
                <a:spcPct val="106000"/>
              </a:lnSpc>
              <a:spcAft>
                <a:spcPts val="1800"/>
              </a:spcAft>
            </a:pPr>
            <a:r>
              <a:rPr sz="2300" b="1">
                <a:solidFill>
                  <a:srgbClr val="FDB515"/>
                </a:solidFill>
                <a:latin typeface="Arial"/>
              </a:rPr>
              <a:t>—  </a:t>
            </a:r>
            <a:r>
              <a:rPr sz="2300">
                <a:solidFill>
                  <a:srgbClr val="1A1F2B"/>
                </a:solidFill>
                <a:latin typeface="Arial"/>
              </a:rPr>
              <a:t>Nine patterns emerged from 44 days of building KISS Sorcar with itself.</a:t>
            </a:r>
          </a:p>
          <a:p>
            <a:pPr algn="l">
              <a:lnSpc>
                <a:spcPct val="106000"/>
              </a:lnSpc>
              <a:spcAft>
                <a:spcPts val="1800"/>
              </a:spcAft>
            </a:pPr>
            <a:r>
              <a:rPr sz="2300" b="1">
                <a:solidFill>
                  <a:srgbClr val="FDB515"/>
                </a:solidFill>
                <a:latin typeface="Arial"/>
              </a:rPr>
              <a:t>—  </a:t>
            </a:r>
            <a:r>
              <a:rPr sz="2300">
                <a:solidFill>
                  <a:srgbClr val="1A1F2B"/>
                </a:solidFill>
                <a:latin typeface="Arial"/>
              </a:rPr>
              <a:t>Each maps to a decades-old software engineering principle.</a:t>
            </a:r>
          </a:p>
          <a:p>
            <a:pPr algn="l">
              <a:lnSpc>
                <a:spcPct val="106000"/>
              </a:lnSpc>
              <a:spcAft>
                <a:spcPts val="1800"/>
              </a:spcAft>
            </a:pPr>
            <a:r>
              <a:rPr sz="2300" b="1">
                <a:solidFill>
                  <a:srgbClr val="FDB515"/>
                </a:solidFill>
                <a:latin typeface="Arial"/>
              </a:rPr>
              <a:t>—  </a:t>
            </a:r>
            <a:r>
              <a:rPr sz="2300">
                <a:solidFill>
                  <a:srgbClr val="1A1F2B"/>
                </a:solidFill>
                <a:latin typeface="Arial"/>
              </a:rPr>
              <a:t>One 2,400-line framework and a single structured prompt wrote code in five languages, controlled lights, planned trips, and refused an unethical request.</a:t>
            </a:r>
          </a:p>
        </p:txBody>
      </p:sp>
      <p:sp>
        <p:nvSpPr>
          <p:cNvPr id="6" name="Rectangle 5"/>
          <p:cNvSpPr/>
          <p:nvPr/>
        </p:nvSpPr>
        <p:spPr>
          <a:xfrm>
            <a:off x="822960" y="4572000"/>
            <a:ext cx="10515600" cy="1417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572000"/>
            <a:ext cx="1051560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4572000"/>
            <a:ext cx="9784080" cy="1417320"/>
          </a:xfrm>
          <a:prstGeom prst="rect">
            <a:avLst/>
          </a:prstGeom>
          <a:noFill/>
        </p:spPr>
        <p:txBody>
          <a:bodyPr wrap="square" lIns="0" tIns="0" rIns="0" bIns="0" anchor="ctr">
            <a:spAutoFit/>
          </a:bodyPr>
          <a:lstStyle/>
          <a:p>
            <a:pPr algn="l">
              <a:lnSpc>
                <a:spcPct val="112000"/>
              </a:lnSpc>
              <a:spcBef>
                <a:spcPts val="0"/>
              </a:spcBef>
              <a:spcAft>
                <a:spcPts val="800"/>
              </a:spcAft>
            </a:pPr>
            <a:r>
              <a:rPr sz="2100" b="0" i="1">
                <a:solidFill>
                  <a:srgbClr val="FFFFFF"/>
                </a:solidFill>
                <a:latin typeface="Arial"/>
              </a:rPr>
              <a:t>The surprise is not the principles — they are decades old. The surprise is that encoding them in a prompt and a simple layered architecture produces an assistant that works well enough to build itself.</a:t>
            </a:r>
          </a:p>
        </p:txBody>
      </p:sp>
      <p:sp>
        <p:nvSpPr>
          <p:cNvPr id="9" name="Rectangle 8"/>
          <p:cNvSpPr/>
          <p:nvPr/>
        </p:nvSpPr>
        <p:spPr>
          <a:xfrm>
            <a:off x="0" y="6510528"/>
            <a:ext cx="12191695" cy="27940"/>
          </a:xfrm>
          <a:prstGeom prst="rect">
            <a:avLst/>
          </a:prstGeom>
          <a:solidFill>
            <a:srgbClr val="E9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6547104"/>
            <a:ext cx="8229600" cy="274320"/>
          </a:xfrm>
          <a:prstGeom prst="rect">
            <a:avLst/>
          </a:prstGeom>
          <a:noFill/>
        </p:spPr>
        <p:txBody>
          <a:bodyPr wrap="square" lIns="0" tIns="0" rIns="0" bIns="0" anchor="t">
            <a:spAutoFit/>
          </a:bodyPr>
          <a:lstStyle/>
          <a:p>
            <a:pPr algn="l">
              <a:lnSpc>
                <a:spcPct val="100000"/>
              </a:lnSpc>
              <a:spcBef>
                <a:spcPts val="0"/>
              </a:spcBef>
              <a:spcAft>
                <a:spcPts val="800"/>
              </a:spcAft>
            </a:pPr>
            <a:r>
              <a:rPr sz="1100" b="0" i="0">
                <a:solidFill>
                  <a:srgbClr val="4A5260"/>
                </a:solidFill>
                <a:latin typeface="Arial"/>
              </a:rPr>
              <a:t>KISS Sorcar  ·  K. Sen, UC Berkeley</a:t>
            </a:r>
          </a:p>
        </p:txBody>
      </p:sp>
      <p:sp>
        <p:nvSpPr>
          <p:cNvPr id="11" name="TextBox 10"/>
          <p:cNvSpPr txBox="1"/>
          <p:nvPr/>
        </p:nvSpPr>
        <p:spPr>
          <a:xfrm>
            <a:off x="10058400" y="6547104"/>
            <a:ext cx="1307592" cy="274320"/>
          </a:xfrm>
          <a:prstGeom prst="rect">
            <a:avLst/>
          </a:prstGeom>
          <a:noFill/>
        </p:spPr>
        <p:txBody>
          <a:bodyPr wrap="square" lIns="0" tIns="0" rIns="0" bIns="0" anchor="t">
            <a:spAutoFit/>
          </a:bodyPr>
          <a:lstStyle/>
          <a:p>
            <a:pPr algn="r">
              <a:lnSpc>
                <a:spcPct val="100000"/>
              </a:lnSpc>
              <a:spcBef>
                <a:spcPts val="0"/>
              </a:spcBef>
              <a:spcAft>
                <a:spcPts val="800"/>
              </a:spcAft>
            </a:pPr>
            <a:r>
              <a:rPr sz="1100" b="1" i="0">
                <a:solidFill>
                  <a:srgbClr val="C88A00"/>
                </a:solidFill>
                <a:latin typeface="Arial"/>
              </a:rPr>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3262"/>
        </a:solidFill>
        <a:effectLst/>
      </p:bgPr>
    </p:bg>
    <p:spTree>
      <p:nvGrpSpPr>
        <p:cNvPr id="1" name=""/>
        <p:cNvGrpSpPr/>
        <p:nvPr/>
      </p:nvGrpSpPr>
      <p:grpSpPr>
        <a:xfrm>
          <a:off x="0" y="0"/>
          <a:ext cx="0" cy="0"/>
          <a:chOff x="0" y="0"/>
          <a:chExt cx="0" cy="0"/>
        </a:xfrm>
      </p:grpSpPr>
      <p:sp>
        <p:nvSpPr>
          <p:cNvPr id="2" name="Rectangle 1"/>
          <p:cNvSpPr/>
          <p:nvPr/>
        </p:nvSpPr>
        <p:spPr>
          <a:xfrm>
            <a:off x="0" y="6601968"/>
            <a:ext cx="12191695" cy="25603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743200"/>
            <a:ext cx="2011680" cy="508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651760"/>
            <a:ext cx="10515600" cy="1828800"/>
          </a:xfrm>
          <a:prstGeom prst="rect">
            <a:avLst/>
          </a:prstGeom>
          <a:noFill/>
        </p:spPr>
        <p:txBody>
          <a:bodyPr wrap="square" lIns="0" tIns="0" rIns="0" bIns="0" anchor="t">
            <a:spAutoFit/>
          </a:bodyPr>
          <a:lstStyle/>
          <a:p>
            <a:pPr algn="l">
              <a:lnSpc>
                <a:spcPct val="100000"/>
              </a:lnSpc>
              <a:spcBef>
                <a:spcPts val="0"/>
              </a:spcBef>
              <a:spcAft>
                <a:spcPts val="800"/>
              </a:spcAft>
            </a:pPr>
            <a:r>
              <a:rPr sz="5400" b="1" i="0">
                <a:solidFill>
                  <a:srgbClr val="FFFFFF"/>
                </a:solidFill>
                <a:latin typeface="Arial"/>
              </a:rPr>
              <a:t>Thank you</a:t>
            </a:r>
          </a:p>
          <a:p>
            <a:pPr algn="l">
              <a:lnSpc>
                <a:spcPct val="100000"/>
              </a:lnSpc>
              <a:spcBef>
                <a:spcPts val="1000"/>
              </a:spcBef>
              <a:spcAft>
                <a:spcPts val="800"/>
              </a:spcAft>
            </a:pPr>
            <a:r>
              <a:rPr sz="2200" b="0" i="1">
                <a:solidFill>
                  <a:srgbClr val="FDB515"/>
                </a:solidFill>
                <a:latin typeface="Arial"/>
              </a:rPr>
              <a:t>Keep it simple — and let the system build itself.</a:t>
            </a:r>
          </a:p>
        </p:txBody>
      </p:sp>
      <p:sp>
        <p:nvSpPr>
          <p:cNvPr id="5" name="TextBox 4"/>
          <p:cNvSpPr txBox="1"/>
          <p:nvPr/>
        </p:nvSpPr>
        <p:spPr>
          <a:xfrm>
            <a:off x="822960" y="4937760"/>
            <a:ext cx="10515600" cy="914400"/>
          </a:xfrm>
          <a:prstGeom prst="rect">
            <a:avLst/>
          </a:prstGeom>
          <a:noFill/>
        </p:spPr>
        <p:txBody>
          <a:bodyPr wrap="square" lIns="0" tIns="0" rIns="0" bIns="0" anchor="t">
            <a:spAutoFit/>
          </a:bodyPr>
          <a:lstStyle/>
          <a:p>
            <a:pPr algn="l">
              <a:lnSpc>
                <a:spcPct val="100000"/>
              </a:lnSpc>
              <a:spcBef>
                <a:spcPts val="0"/>
              </a:spcBef>
              <a:spcAft>
                <a:spcPts val="800"/>
              </a:spcAft>
            </a:pPr>
            <a:r>
              <a:rPr sz="2000" b="0" i="0">
                <a:solidFill>
                  <a:srgbClr val="E9E5D8"/>
                </a:solidFill>
                <a:latin typeface="Arial"/>
              </a:rPr>
              <a:t>Koushik Sen  ·  ksen@berkeley.edu</a:t>
            </a:r>
          </a:p>
          <a:p>
            <a:pPr algn="l">
              <a:lnSpc>
                <a:spcPct val="100000"/>
              </a:lnSpc>
              <a:spcBef>
                <a:spcPts val="0"/>
              </a:spcBef>
              <a:spcAft>
                <a:spcPts val="800"/>
              </a:spcAft>
            </a:pPr>
            <a:r>
              <a:rPr sz="1800" b="0" i="0">
                <a:solidFill>
                  <a:srgbClr val="9FC4D8"/>
                </a:solidFill>
                <a:latin typeface="Arial"/>
              </a:rPr>
              <a:t>github.com/ksenxx/kiss_ai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8</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Invariant specification and repair</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State a user-visible invariant in one sentence, reproduce any violation with an end-to-end test before touching code, then split implementer and reviewer across two vendors.</a:t>
            </a:r>
          </a:p>
        </p:txBody>
      </p:sp>
      <p:sp>
        <p:nvSpPr>
          <p:cNvPr id="6" name="TextBox 5"/>
          <p:cNvSpPr txBox="1"/>
          <p:nvPr/>
        </p:nvSpPr>
        <p:spPr>
          <a:xfrm>
            <a:off x="822960" y="2743200"/>
            <a:ext cx="6126480" cy="3383280"/>
          </a:xfrm>
          <a:prstGeom prst="rect">
            <a:avLst/>
          </a:prstGeom>
          <a:noFill/>
        </p:spPr>
        <p:txBody>
          <a:bodyPr wrap="square" lIns="0" tIns="0" rIns="0" bIns="0" anchor="t">
            <a:spAutoFit/>
          </a:bodyPr>
          <a:lstStyle/>
          <a:p>
            <a:pPr algn="l">
              <a:lnSpc>
                <a:spcPct val="106000"/>
              </a:lnSpc>
              <a:spcAft>
                <a:spcPts val="1400"/>
              </a:spcAft>
            </a:pPr>
            <a:r>
              <a:rPr sz="1900" b="1">
                <a:solidFill>
                  <a:srgbClr val="FDB515"/>
                </a:solidFill>
                <a:latin typeface="Arial"/>
              </a:rPr>
              <a:t>—  </a:t>
            </a:r>
            <a:r>
              <a:rPr sz="1900" b="1">
                <a:solidFill>
                  <a:srgbClr val="003262"/>
                </a:solidFill>
                <a:latin typeface="Arial"/>
              </a:rPr>
              <a:t>Five-line template:  </a:t>
            </a:r>
            <a:r>
              <a:rPr sz="1900">
                <a:solidFill>
                  <a:srgbClr val="1A1F2B"/>
                </a:solidFill>
                <a:latin typeface="Arial"/>
              </a:rPr>
              <a:t>X MUST hold → reproduce with an integration test → fix → model A codes → model B (other vendor) reviews.</a:t>
            </a:r>
          </a:p>
          <a:p>
            <a:pPr algn="l">
              <a:lnSpc>
                <a:spcPct val="106000"/>
              </a:lnSpc>
              <a:spcAft>
                <a:spcPts val="1400"/>
              </a:spcAft>
            </a:pPr>
            <a:r>
              <a:rPr sz="1900" b="1">
                <a:solidFill>
                  <a:srgbClr val="FDB515"/>
                </a:solidFill>
                <a:latin typeface="Arial"/>
              </a:rPr>
              <a:t>—  </a:t>
            </a:r>
            <a:r>
              <a:rPr sz="1900" b="1">
                <a:solidFill>
                  <a:srgbClr val="003262"/>
                </a:solidFill>
                <a:latin typeface="Arial"/>
              </a:rPr>
              <a:t>Test before fix:  </a:t>
            </a:r>
            <a:r>
              <a:rPr sz="1900">
                <a:solidFill>
                  <a:srgbClr val="1A1F2B"/>
                </a:solidFill>
                <a:latin typeface="Arial"/>
              </a:rPr>
              <a:t>the failing-then-passing end-to-end test is an artifact the reviewer can refute independently and stays as a regression guard.</a:t>
            </a:r>
          </a:p>
          <a:p>
            <a:pPr algn="l">
              <a:lnSpc>
                <a:spcPct val="106000"/>
              </a:lnSpc>
              <a:spcAft>
                <a:spcPts val="1400"/>
              </a:spcAft>
            </a:pPr>
            <a:r>
              <a:rPr sz="1900" b="1">
                <a:solidFill>
                  <a:srgbClr val="FDB515"/>
                </a:solidFill>
                <a:latin typeface="Arial"/>
              </a:rPr>
              <a:t>—  </a:t>
            </a:r>
            <a:r>
              <a:rPr sz="1900" b="1">
                <a:solidFill>
                  <a:srgbClr val="003262"/>
                </a:solidFill>
                <a:latin typeface="Arial"/>
              </a:rPr>
              <a:t>Cross-vendor reviewer:  </a:t>
            </a:r>
            <a:r>
              <a:rPr sz="1900">
                <a:solidFill>
                  <a:srgbClr val="1A1F2B"/>
                </a:solidFill>
                <a:latin typeface="Arial"/>
              </a:rPr>
              <a:t>different training distributions catch library-internal blind spots a single model would systematically miss.</a:t>
            </a:r>
          </a:p>
          <a:p>
            <a:pPr algn="l">
              <a:lnSpc>
                <a:spcPct val="106000"/>
              </a:lnSpc>
              <a:spcAft>
                <a:spcPts val="1400"/>
              </a:spcAft>
            </a:pPr>
            <a:r>
              <a:rPr sz="1900" b="1">
                <a:solidFill>
                  <a:srgbClr val="FDB515"/>
                </a:solidFill>
                <a:latin typeface="Arial"/>
              </a:rPr>
              <a:t>—  </a:t>
            </a:r>
            <a:r>
              <a:rPr sz="1900" b="1">
                <a:solidFill>
                  <a:srgbClr val="003262"/>
                </a:solidFill>
                <a:latin typeface="Arial"/>
              </a:rPr>
              <a:t>Generality:  </a:t>
            </a:r>
            <a:r>
              <a:rPr sz="1900">
                <a:solidFill>
                  <a:srgbClr val="1A1F2B"/>
                </a:solidFill>
                <a:latin typeface="Arial"/>
              </a:rPr>
              <a:t>CLI multi-line input + word wrap, bash-output routing, stale notifications, Read-tool highlighting, temp-file location rule.</a:t>
            </a:r>
          </a:p>
        </p:txBody>
      </p:sp>
      <p:sp>
        <p:nvSpPr>
          <p:cNvPr id="7" name="Rectangle 6"/>
          <p:cNvSpPr/>
          <p:nvPr/>
        </p:nvSpPr>
        <p:spPr>
          <a:xfrm>
            <a:off x="7178040" y="2743200"/>
            <a:ext cx="4160520" cy="3200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78040" y="2743200"/>
            <a:ext cx="416052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0" y="3063240"/>
            <a:ext cx="3520440" cy="265176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FDB515"/>
                </a:solidFill>
                <a:latin typeface="Arial"/>
              </a:rPr>
              <a:t>From the log</a:t>
            </a:r>
          </a:p>
          <a:p>
            <a:pPr algn="l">
              <a:lnSpc>
                <a:spcPct val="112000"/>
              </a:lnSpc>
              <a:spcBef>
                <a:spcPts val="0"/>
              </a:spcBef>
              <a:spcAft>
                <a:spcPts val="800"/>
              </a:spcAft>
            </a:pPr>
            <a:r>
              <a:rPr sz="1900" b="0" i="1">
                <a:solidFill>
                  <a:srgbClr val="FFFFFF"/>
                </a:solidFill>
                <a:latin typeface="Arial"/>
              </a:rPr>
              <a:t>“…the user MUST be able to enter multi-line inputs… Reproduce with an integration test, then fix. Use claude-opus-4-7 for code; gpt-5.5 (not codex) for review.”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9</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Cross-model iterative review</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set_model lets one agent swap weights mid-task — primary writes code, a different vendor's model audits, repeat until clean.</a:t>
            </a:r>
          </a:p>
        </p:txBody>
      </p:sp>
      <p:sp>
        <p:nvSpPr>
          <p:cNvPr id="6" name="TextBox 5"/>
          <p:cNvSpPr txBox="1"/>
          <p:nvPr/>
        </p:nvSpPr>
        <p:spPr>
          <a:xfrm>
            <a:off x="822960" y="2743200"/>
            <a:ext cx="6126480" cy="3383280"/>
          </a:xfrm>
          <a:prstGeom prst="rect">
            <a:avLst/>
          </a:prstGeom>
          <a:noFill/>
        </p:spPr>
        <p:txBody>
          <a:bodyPr wrap="square" lIns="0" tIns="0" rIns="0" bIns="0" anchor="t">
            <a:spAutoFit/>
          </a:bodyPr>
          <a:lstStyle/>
          <a:p>
            <a:pPr algn="l">
              <a:lnSpc>
                <a:spcPct val="106000"/>
              </a:lnSpc>
              <a:spcAft>
                <a:spcPts val="1400"/>
              </a:spcAft>
            </a:pPr>
            <a:r>
              <a:rPr sz="1900" b="1">
                <a:solidFill>
                  <a:srgbClr val="FDB515"/>
                </a:solidFill>
                <a:latin typeface="Arial"/>
              </a:rPr>
              <a:t>—  </a:t>
            </a:r>
            <a:r>
              <a:rPr sz="1900" b="1">
                <a:solidFill>
                  <a:srgbClr val="003262"/>
                </a:solidFill>
                <a:latin typeface="Arial"/>
              </a:rPr>
              <a:t>set_model tool:  </a:t>
            </a:r>
            <a:r>
              <a:rPr sz="1900">
                <a:solidFill>
                  <a:srgbClr val="1A1F2B"/>
                </a:solidFill>
                <a:latin typeface="Arial"/>
              </a:rPr>
              <a:t>copies conversation history and cumulative budget; rebuilds the tools schema in the new vendor's dialect; persists across turns.</a:t>
            </a:r>
          </a:p>
          <a:p>
            <a:pPr algn="l">
              <a:lnSpc>
                <a:spcPct val="106000"/>
              </a:lnSpc>
              <a:spcAft>
                <a:spcPts val="1400"/>
              </a:spcAft>
            </a:pPr>
            <a:r>
              <a:rPr sz="1900" b="1">
                <a:solidFill>
                  <a:srgbClr val="FDB515"/>
                </a:solidFill>
                <a:latin typeface="Arial"/>
              </a:rPr>
              <a:t>—  </a:t>
            </a:r>
            <a:r>
              <a:rPr sz="1900" b="1">
                <a:solidFill>
                  <a:srgbClr val="003262"/>
                </a:solidFill>
                <a:latin typeface="Arial"/>
              </a:rPr>
              <a:t>Three idiomatic uses:  </a:t>
            </a:r>
            <a:r>
              <a:rPr sz="1900">
                <a:solidFill>
                  <a:srgbClr val="1A1F2B"/>
                </a:solidFill>
                <a:latin typeface="Arial"/>
              </a:rPr>
              <a:t>scout-then-edit (cheap → strong); generate-then-review (vendor swap); cost-aware long-loop (frontier only at decisions).</a:t>
            </a:r>
          </a:p>
          <a:p>
            <a:pPr algn="l">
              <a:lnSpc>
                <a:spcPct val="106000"/>
              </a:lnSpc>
              <a:spcAft>
                <a:spcPts val="1400"/>
              </a:spcAft>
            </a:pPr>
            <a:r>
              <a:rPr sz="1900" b="1">
                <a:solidFill>
                  <a:srgbClr val="FDB515"/>
                </a:solidFill>
                <a:latin typeface="Arial"/>
              </a:rPr>
              <a:t>—  </a:t>
            </a:r>
            <a:r>
              <a:rPr sz="1900" b="1">
                <a:solidFill>
                  <a:srgbClr val="003262"/>
                </a:solidFill>
                <a:latin typeface="Arial"/>
              </a:rPr>
              <a:t>Ensemble disagreement:  </a:t>
            </a:r>
            <a:r>
              <a:rPr sz="1900">
                <a:solidFill>
                  <a:srgbClr val="1A1F2B"/>
                </a:solidFill>
                <a:latin typeface="Arial"/>
              </a:rPr>
              <a:t>off-by-ones, missed call sites, and stale imports that a single model blesses are caught by a model trained on a different mixture.</a:t>
            </a:r>
          </a:p>
          <a:p>
            <a:pPr algn="l">
              <a:lnSpc>
                <a:spcPct val="106000"/>
              </a:lnSpc>
              <a:spcAft>
                <a:spcPts val="1400"/>
              </a:spcAft>
            </a:pPr>
            <a:r>
              <a:rPr sz="1900" b="1">
                <a:solidFill>
                  <a:srgbClr val="FDB515"/>
                </a:solidFill>
                <a:latin typeface="Arial"/>
              </a:rPr>
              <a:t>—  </a:t>
            </a:r>
            <a:r>
              <a:rPr sz="1900" b="1">
                <a:solidFill>
                  <a:srgbClr val="003262"/>
                </a:solidFill>
                <a:latin typeface="Arial"/>
              </a:rPr>
              <a:t>Single continuous task:  </a:t>
            </a:r>
            <a:r>
              <a:rPr sz="1900">
                <a:solidFill>
                  <a:srgbClr val="1A1F2B"/>
                </a:solidFill>
                <a:latin typeface="Arial"/>
              </a:rPr>
              <a:t>no second human reviewer; transcript and cumulative budget travel across the switch — the sidebar shows the price of the second opinion.</a:t>
            </a:r>
          </a:p>
        </p:txBody>
      </p:sp>
      <p:sp>
        <p:nvSpPr>
          <p:cNvPr id="7" name="Rectangle 6"/>
          <p:cNvSpPr/>
          <p:nvPr/>
        </p:nvSpPr>
        <p:spPr>
          <a:xfrm>
            <a:off x="7178040" y="2743200"/>
            <a:ext cx="4160520" cy="3200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78040" y="2743200"/>
            <a:ext cx="4160520" cy="10972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0" y="3063240"/>
            <a:ext cx="3520440" cy="265176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FDB515"/>
                </a:solidFill>
                <a:latin typeface="Arial"/>
              </a:rPr>
              <a:t>From the log</a:t>
            </a:r>
          </a:p>
          <a:p>
            <a:pPr algn="l">
              <a:lnSpc>
                <a:spcPct val="112000"/>
              </a:lnSpc>
              <a:spcBef>
                <a:spcPts val="0"/>
              </a:spcBef>
              <a:spcAft>
                <a:spcPts val="800"/>
              </a:spcAft>
            </a:pPr>
            <a:r>
              <a:rPr sz="1900" b="0" i="1">
                <a:solidFill>
                  <a:srgbClr val="FFFFFF"/>
                </a:solidFill>
                <a:latin typeface="Arial"/>
              </a:rPr>
              <a:t>“Use claude-opus-4-7 for coding, bug fixing, and test creation. Use gpt-5.5 (not codex) for thorough review and debugging of the work done by the other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457200" y="914400"/>
            <a:ext cx="146304"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365760"/>
          </a:xfrm>
          <a:prstGeom prst="rect">
            <a:avLst/>
          </a:prstGeom>
          <a:noFill/>
        </p:spPr>
        <p:txBody>
          <a:bodyPr wrap="square" lIns="0" tIns="0" rIns="0" bIns="0" anchor="t">
            <a:spAutoFit/>
          </a:bodyPr>
          <a:lstStyle/>
          <a:p>
            <a:pPr algn="l">
              <a:lnSpc>
                <a:spcPct val="100000"/>
              </a:lnSpc>
              <a:spcBef>
                <a:spcPts val="0"/>
              </a:spcBef>
              <a:spcAft>
                <a:spcPts val="800"/>
              </a:spcAft>
            </a:pPr>
            <a:r>
              <a:rPr sz="1300" b="1" i="0">
                <a:solidFill>
                  <a:srgbClr val="C88A00"/>
                </a:solidFill>
                <a:latin typeface="Arial"/>
              </a:rPr>
              <a:t>P  A  T  T  E  R  N     4</a:t>
            </a:r>
          </a:p>
        </p:txBody>
      </p:sp>
      <p:sp>
        <p:nvSpPr>
          <p:cNvPr id="4" name="TextBox 3"/>
          <p:cNvSpPr txBox="1"/>
          <p:nvPr/>
        </p:nvSpPr>
        <p:spPr>
          <a:xfrm>
            <a:off x="822960" y="868680"/>
            <a:ext cx="10515600" cy="1280160"/>
          </a:xfrm>
          <a:prstGeom prst="rect">
            <a:avLst/>
          </a:prstGeom>
          <a:noFill/>
        </p:spPr>
        <p:txBody>
          <a:bodyPr wrap="square" lIns="0" tIns="0" rIns="0" bIns="0" anchor="t">
            <a:spAutoFit/>
          </a:bodyPr>
          <a:lstStyle/>
          <a:p>
            <a:pPr algn="l">
              <a:lnSpc>
                <a:spcPct val="100000"/>
              </a:lnSpc>
              <a:spcBef>
                <a:spcPts val="0"/>
              </a:spcBef>
              <a:spcAft>
                <a:spcPts val="800"/>
              </a:spcAft>
            </a:pPr>
            <a:r>
              <a:rPr sz="3400" b="1" i="0">
                <a:solidFill>
                  <a:srgbClr val="003262"/>
                </a:solidFill>
                <a:latin typeface="Arial"/>
              </a:rPr>
              <a:t>Paper–code co-evolution</a:t>
            </a:r>
          </a:p>
        </p:txBody>
      </p:sp>
      <p:sp>
        <p:nvSpPr>
          <p:cNvPr id="5" name="TextBox 4"/>
          <p:cNvSpPr txBox="1"/>
          <p:nvPr/>
        </p:nvSpPr>
        <p:spPr>
          <a:xfrm>
            <a:off x="822960" y="1783080"/>
            <a:ext cx="10607040" cy="822960"/>
          </a:xfrm>
          <a:prstGeom prst="rect">
            <a:avLst/>
          </a:prstGeom>
          <a:noFill/>
        </p:spPr>
        <p:txBody>
          <a:bodyPr wrap="square" lIns="0" tIns="0" rIns="0" bIns="0" anchor="t">
            <a:spAutoFit/>
          </a:bodyPr>
          <a:lstStyle/>
          <a:p>
            <a:pPr algn="l">
              <a:lnSpc>
                <a:spcPct val="112000"/>
              </a:lnSpc>
              <a:spcBef>
                <a:spcPts val="0"/>
              </a:spcBef>
              <a:spcAft>
                <a:spcPts val="800"/>
              </a:spcAft>
            </a:pPr>
            <a:r>
              <a:rPr sz="2100" b="0" i="0">
                <a:solidFill>
                  <a:srgbClr val="4A5260"/>
                </a:solidFill>
                <a:latin typeface="Arial"/>
              </a:rPr>
              <a:t>The system prompt and the paper describing it evolved together — a self-hosted documentation loop.</a:t>
            </a:r>
          </a:p>
        </p:txBody>
      </p:sp>
      <p:sp>
        <p:nvSpPr>
          <p:cNvPr id="6" name="TextBox 5"/>
          <p:cNvSpPr txBox="1"/>
          <p:nvPr/>
        </p:nvSpPr>
        <p:spPr>
          <a:xfrm>
            <a:off x="822960" y="2743200"/>
            <a:ext cx="10607040" cy="3383280"/>
          </a:xfrm>
          <a:prstGeom prst="rect">
            <a:avLst/>
          </a:prstGeom>
          <a:noFill/>
        </p:spPr>
        <p:txBody>
          <a:bodyPr wrap="square" lIns="0" tIns="0" rIns="0" bIns="0" anchor="t">
            <a:spAutoFit/>
          </a:bodyPr>
          <a:lstStyle/>
          <a:p>
            <a:pPr algn="l">
              <a:lnSpc>
                <a:spcPct val="106000"/>
              </a:lnSpc>
              <a:spcAft>
                <a:spcPts val="1800"/>
              </a:spcAft>
            </a:pPr>
            <a:r>
              <a:rPr sz="2100" b="1">
                <a:solidFill>
                  <a:srgbClr val="FDB515"/>
                </a:solidFill>
                <a:latin typeface="Arial"/>
              </a:rPr>
              <a:t>—  </a:t>
            </a:r>
            <a:r>
              <a:rPr sz="2100" b="1">
                <a:solidFill>
                  <a:srgbClr val="003262"/>
                </a:solidFill>
                <a:latin typeface="Arial"/>
              </a:rPr>
              <a:t>Code-to-paper:  </a:t>
            </a:r>
            <a:r>
              <a:rPr sz="2100">
                <a:solidFill>
                  <a:srgbClr val="1A1F2B"/>
                </a:solidFill>
                <a:latin typeface="Arial"/>
              </a:rPr>
              <a:t>“SYSTEM.md has changed — update and build the paper” (Tasks 84, 167, 233, 261, 274, 312, 665, 693, 766…).</a:t>
            </a:r>
          </a:p>
          <a:p>
            <a:pPr algn="l">
              <a:lnSpc>
                <a:spcPct val="106000"/>
              </a:lnSpc>
              <a:spcAft>
                <a:spcPts val="1800"/>
              </a:spcAft>
            </a:pPr>
            <a:r>
              <a:rPr sz="2100" b="1">
                <a:solidFill>
                  <a:srgbClr val="FDB515"/>
                </a:solidFill>
                <a:latin typeface="Arial"/>
              </a:rPr>
              <a:t>—  </a:t>
            </a:r>
            <a:r>
              <a:rPr sz="2100" b="1">
                <a:solidFill>
                  <a:srgbClr val="003262"/>
                </a:solidFill>
                <a:latin typeface="Arial"/>
              </a:rPr>
              <a:t>Consistency audits:  </a:t>
            </a:r>
            <a:r>
              <a:rPr sz="2100">
                <a:solidFill>
                  <a:srgbClr val="1A1F2B"/>
                </a:solidFill>
                <a:latin typeface="Arial"/>
              </a:rPr>
              <a:t>“check the paper against itself and the latest code” closes the loop — divergence is mechanically detectable.</a:t>
            </a:r>
          </a:p>
          <a:p>
            <a:pPr algn="l">
              <a:lnSpc>
                <a:spcPct val="106000"/>
              </a:lnSpc>
              <a:spcAft>
                <a:spcPts val="1800"/>
              </a:spcAft>
            </a:pPr>
            <a:r>
              <a:rPr sz="2100" b="1">
                <a:solidFill>
                  <a:srgbClr val="FDB515"/>
                </a:solidFill>
                <a:latin typeface="Arial"/>
              </a:rPr>
              <a:t>—  </a:t>
            </a:r>
            <a:r>
              <a:rPr sz="2100" b="1">
                <a:solidFill>
                  <a:srgbClr val="003262"/>
                </a:solidFill>
                <a:latin typeface="Arial"/>
              </a:rPr>
              <a:t>Paper-to-code:  </a:t>
            </a:r>
            <a:r>
              <a:rPr sz="2100">
                <a:solidFill>
                  <a:srgbClr val="1A1F2B"/>
                </a:solidFill>
                <a:latin typeface="Arial"/>
              </a:rPr>
              <a:t>Task 700 used the paper as source of truth — typo fixes in the paper were propagated back into SYSTEM.md.</a:t>
            </a:r>
          </a:p>
          <a:p>
            <a:pPr algn="l">
              <a:lnSpc>
                <a:spcPct val="106000"/>
              </a:lnSpc>
              <a:spcAft>
                <a:spcPts val="1800"/>
              </a:spcAft>
            </a:pPr>
            <a:r>
              <a:rPr sz="2100" b="1">
                <a:solidFill>
                  <a:srgbClr val="FDB515"/>
                </a:solidFill>
                <a:latin typeface="Arial"/>
              </a:rPr>
              <a:t>—  </a:t>
            </a:r>
            <a:r>
              <a:rPr sz="2100" b="1">
                <a:solidFill>
                  <a:srgbClr val="003262"/>
                </a:solidFill>
                <a:latin typeface="Arial"/>
              </a:rPr>
              <a:t>High volume:  </a:t>
            </a:r>
            <a:r>
              <a:rPr sz="2100">
                <a:solidFill>
                  <a:srgbClr val="1A1F2B"/>
                </a:solidFill>
                <a:latin typeface="Arial"/>
              </a:rPr>
              <a:t>“build the paper” appears in 73 tasks — one of the highest-volume non-coding activities in the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283</TotalTime>
  <Words>3040</Words>
  <Application>Microsoft Macintosh PowerPoint</Application>
  <PresentationFormat>Widescreen</PresentationFormat>
  <Paragraphs>317</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Consolas</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sample prompt</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Koushik Sen</cp:lastModifiedBy>
  <cp:revision>5</cp:revision>
  <dcterms:created xsi:type="dcterms:W3CDTF">2013-01-27T09:14:16Z</dcterms:created>
  <dcterms:modified xsi:type="dcterms:W3CDTF">2026-06-12T19:09:48Z</dcterms:modified>
  <cp:category/>
</cp:coreProperties>
</file>