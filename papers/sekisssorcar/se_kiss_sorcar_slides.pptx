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8" r:id="rId15"/>
    <p:sldId id="279" r:id="rId16"/>
    <p:sldId id="270" r:id="rId17"/>
    <p:sldId id="280" r:id="rId18"/>
    <p:sldId id="281" r:id="rId19"/>
    <p:sldId id="271" r:id="rId20"/>
    <p:sldId id="272" r:id="rId21"/>
    <p:sldId id="273" r:id="rId22"/>
    <p:sldId id="274" r:id="rId23"/>
    <p:sldId id="275" r:id="rId24"/>
    <p:sldId id="315" r:id="rId25"/>
    <p:sldId id="308" r:id="rId26"/>
    <p:sldId id="276" r:id="rId27"/>
    <p:sldId id="277"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94638"/>
  </p:normalViewPr>
  <p:slideViewPr>
    <p:cSldViewPr snapToGrid="0" snapToObjects="1">
      <p:cViewPr varScale="1">
        <p:scale>
          <a:sx n="167" d="100"/>
          <a:sy n="167" d="100"/>
        </p:scale>
        <p:origin x="192"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hyperlink" Target="https://modal.com/"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F2B"/>
        </a:solidFill>
        <a:effectLst/>
      </p:bgPr>
    </p:bg>
    <p:spTree>
      <p:nvGrpSpPr>
        <p:cNvPr id="1" name=""/>
        <p:cNvGrpSpPr/>
        <p:nvPr/>
      </p:nvGrpSpPr>
      <p:grpSpPr>
        <a:xfrm>
          <a:off x="0" y="0"/>
          <a:ext cx="0" cy="0"/>
          <a:chOff x="0" y="0"/>
          <a:chExt cx="0" cy="0"/>
        </a:xfrm>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828800"/>
            <a:ext cx="9692640" cy="2560320"/>
          </a:xfrm>
          <a:prstGeom prst="rect">
            <a:avLst/>
          </a:prstGeom>
          <a:noFill/>
        </p:spPr>
        <p:txBody>
          <a:bodyPr wrap="square" lIns="0" tIns="0" rIns="0" bIns="0" anchor="ctr">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lIns="0" tIns="0" rIns="0" bIns="0" anchor="t">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423160"/>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3218688"/>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3000" y="4014216"/>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809744"/>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43000" y="5605272"/>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874519"/>
            <a:ext cx="6858000" cy="475488"/>
          </a:xfrm>
          <a:prstGeom prst="rect">
            <a:avLst/>
          </a:prstGeom>
          <a:noFill/>
        </p:spPr>
        <p:txBody>
          <a:bodyPr wrap="square" lIns="0" tIns="0" rIns="0" bIns="0" anchor="ctr">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5000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275234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315467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355701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395935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51560" y="436168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51560" y="476402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51560" y="516635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1560" y="556869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51560" y="597103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Seven recurring usage patterns</a:t>
            </a:r>
          </a:p>
        </p:txBody>
      </p:sp>
      <p:sp>
        <p:nvSpPr>
          <p:cNvPr id="5" name="Rectangle 4"/>
          <p:cNvSpPr/>
          <p:nvPr/>
        </p:nvSpPr>
        <p:spPr>
          <a:xfrm>
            <a:off x="82296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01168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201168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201168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01168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201168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201168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063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3063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3063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3063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3063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3063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41148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41148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41148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41148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41148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41148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51663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516636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16636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516636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Three-step protocol:  </a:t>
            </a:r>
            <a:r>
              <a:rPr sz="1900">
                <a:solidFill>
                  <a:srgbClr val="1A1F2B"/>
                </a:solidFill>
                <a:latin typeface="Arial"/>
              </a:rPr>
              <a:t>report → reproduce with an integration test → fix root cause and confirm the test passes.</a:t>
            </a:r>
          </a:p>
          <a:p>
            <a:pPr algn="l">
              <a:lnSpc>
                <a:spcPct val="106000"/>
              </a:lnSpc>
              <a:spcAft>
                <a:spcPts val="1400"/>
              </a:spcAft>
            </a:pPr>
            <a:r>
              <a:rPr sz="1900" b="1">
                <a:solidFill>
                  <a:srgbClr val="FDB515"/>
                </a:solidFill>
                <a:latin typeface="Arial"/>
              </a:rPr>
              <a:t>—  </a:t>
            </a:r>
            <a:r>
              <a:rPr sz="1900" b="1">
                <a:solidFill>
                  <a:srgbClr val="003262"/>
                </a:solidFill>
                <a:latin typeface="Arial"/>
              </a:rPr>
              <a:t>Evidence, not edits:  </a:t>
            </a:r>
            <a:r>
              <a:rPr sz="1900">
                <a:solidFill>
                  <a:srgbClr val="1A1F2B"/>
                </a:solidFill>
                <a:latin typeface="Arial"/>
              </a:rPr>
              <a:t>a test that fails before and passes after proves the bug was real and the fix addressed it.</a:t>
            </a:r>
          </a:p>
          <a:p>
            <a:pPr algn="l">
              <a:lnSpc>
                <a:spcPct val="106000"/>
              </a:lnSpc>
              <a:spcAft>
                <a:spcPts val="1400"/>
              </a:spcAft>
            </a:pPr>
            <a:r>
              <a:rPr sz="1900" b="1">
                <a:solidFill>
                  <a:srgbClr val="FDB515"/>
                </a:solidFill>
                <a:latin typeface="Arial"/>
              </a:rPr>
              <a:t>—  </a:t>
            </a:r>
            <a:r>
              <a:rPr sz="1900" b="1">
                <a:solidFill>
                  <a:srgbClr val="003262"/>
                </a:solidFill>
                <a:latin typeface="Arial"/>
              </a:rPr>
              <a:t>Concurrency sub-class:  </a:t>
            </a:r>
            <a:r>
              <a:rPr sz="1900">
                <a:solidFill>
                  <a:srgbClr val="1A1F2B"/>
                </a:solidFill>
                <a:latin typeface="Arial"/>
              </a:rPr>
              <a:t>race conditions exposed by running many tabs and a remote server against one repo.</a:t>
            </a:r>
          </a:p>
          <a:p>
            <a:pPr algn="l">
              <a:lnSpc>
                <a:spcPct val="106000"/>
              </a:lnSpc>
              <a:spcAft>
                <a:spcPts val="1400"/>
              </a:spcAft>
            </a:pPr>
            <a:r>
              <a:rPr sz="1900" b="1">
                <a:solidFill>
                  <a:srgbClr val="FDB515"/>
                </a:solidFill>
                <a:latin typeface="Arial"/>
              </a:rPr>
              <a:t>—  </a:t>
            </a:r>
            <a:r>
              <a:rPr sz="1900" b="1">
                <a:solidFill>
                  <a:srgbClr val="003262"/>
                </a:solidFill>
                <a:latin typeface="Arial"/>
              </a:rPr>
              <a:t>Defensive revert:  </a:t>
            </a:r>
            <a:r>
              <a:rPr sz="19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Remote web server:  </a:t>
            </a:r>
            <a:r>
              <a:rPr sz="1900">
                <a:solidFill>
                  <a:srgbClr val="1A1F2B"/>
                </a:solidFill>
                <a:latin typeface="Arial"/>
              </a:rPr>
              <a:t>started with one task, hardened over 60+ tasks — TLS, mobile layout, auth, URL discovery, robustness.</a:t>
            </a:r>
          </a:p>
          <a:p>
            <a:pPr algn="l">
              <a:lnSpc>
                <a:spcPct val="106000"/>
              </a:lnSpc>
              <a:spcAft>
                <a:spcPts val="1400"/>
              </a:spcAft>
            </a:pPr>
            <a:r>
              <a:rPr sz="1900" b="1">
                <a:solidFill>
                  <a:srgbClr val="FDB515"/>
                </a:solidFill>
                <a:latin typeface="Arial"/>
              </a:rPr>
              <a:t>—  </a:t>
            </a:r>
            <a:r>
              <a:rPr sz="1900" b="1">
                <a:solidFill>
                  <a:srgbClr val="003262"/>
                </a:solidFill>
                <a:latin typeface="Arial"/>
              </a:rPr>
              <a:t>Spec emerges from use:  </a:t>
            </a:r>
            <a:r>
              <a:rPr sz="1900">
                <a:solidFill>
                  <a:srgbClr val="1A1F2B"/>
                </a:solidFill>
                <a:latin typeface="Arial"/>
              </a:rPr>
              <a:t>no design document; each refinement was prompted by actually using the feature and hitting a limit.</a:t>
            </a:r>
          </a:p>
          <a:p>
            <a:pPr algn="l">
              <a:lnSpc>
                <a:spcPct val="106000"/>
              </a:lnSpc>
              <a:spcAft>
                <a:spcPts val="1400"/>
              </a:spcAft>
            </a:pPr>
            <a:r>
              <a:rPr sz="1900" b="1">
                <a:solidFill>
                  <a:srgbClr val="FDB515"/>
                </a:solidFill>
                <a:latin typeface="Arial"/>
              </a:rPr>
              <a:t>—  </a:t>
            </a:r>
            <a:r>
              <a:rPr sz="1900" b="1">
                <a:solidFill>
                  <a:srgbClr val="003262"/>
                </a:solidFill>
                <a:latin typeface="Arial"/>
              </a:rPr>
              <a:t>Interleaved with fixing:  </a:t>
            </a:r>
            <a:r>
              <a:rPr sz="1900">
                <a:solidFill>
                  <a:srgbClr val="1A1F2B"/>
                </a:solidFill>
                <a:latin typeface="Arial"/>
              </a:rPr>
              <a:t>~half the follow-ups in a feature session are themselves test-first bug reports.</a:t>
            </a:r>
          </a:p>
          <a:p>
            <a:pPr algn="l">
              <a:lnSpc>
                <a:spcPct val="106000"/>
              </a:lnSpc>
              <a:spcAft>
                <a:spcPts val="1400"/>
              </a:spcAft>
            </a:pPr>
            <a:r>
              <a:rPr sz="1900" b="1">
                <a:solidFill>
                  <a:srgbClr val="FDB515"/>
                </a:solidFill>
                <a:latin typeface="Arial"/>
              </a:rPr>
              <a:t>—  </a:t>
            </a:r>
            <a:r>
              <a:rPr sz="1900" b="1">
                <a:solidFill>
                  <a:srgbClr val="003262"/>
                </a:solidFill>
                <a:latin typeface="Arial"/>
              </a:rPr>
              <a:t>Demo mode:  </a:t>
            </a:r>
            <a:r>
              <a:rPr sz="19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Explain first:  </a:t>
            </a:r>
            <a:r>
              <a:rPr sz="2100">
                <a:solidFill>
                  <a:srgbClr val="1A1F2B"/>
                </a:solidFill>
                <a:latin typeface="Arial"/>
              </a:rPr>
              <a:t>“show me the step-by-step workflow of web_server.py”; “what happens when two tasks run at once?”</a:t>
            </a:r>
          </a:p>
          <a:p>
            <a:pPr algn="l">
              <a:lnSpc>
                <a:spcPct val="106000"/>
              </a:lnSpc>
              <a:spcAft>
                <a:spcPts val="1800"/>
              </a:spcAft>
            </a:pPr>
            <a:r>
              <a:rPr sz="2100" b="1">
                <a:solidFill>
                  <a:srgbClr val="FDB515"/>
                </a:solidFill>
                <a:latin typeface="Arial"/>
              </a:rPr>
              <a:t>—  </a:t>
            </a:r>
            <a:r>
              <a:rPr sz="2100" b="1">
                <a:solidFill>
                  <a:srgbClr val="003262"/>
                </a:solidFill>
                <a:latin typeface="Arial"/>
              </a:rPr>
              <a:t>No translation loss:  </a:t>
            </a:r>
            <a:r>
              <a:rPr sz="2100">
                <a:solidFill>
                  <a:srgbClr val="1A1F2B"/>
                </a:solidFill>
                <a:latin typeface="Arial"/>
              </a:rPr>
              <a:t>the same agent produces both the explanation and the subsequent edits over the same source.</a:t>
            </a:r>
          </a:p>
          <a:p>
            <a:pPr algn="l">
              <a:lnSpc>
                <a:spcPct val="106000"/>
              </a:lnSpc>
              <a:spcAft>
                <a:spcPts val="1800"/>
              </a:spcAft>
            </a:pPr>
            <a:r>
              <a:rPr sz="2100" b="1">
                <a:solidFill>
                  <a:srgbClr val="FDB515"/>
                </a:solidFill>
                <a:latin typeface="Arial"/>
              </a:rPr>
              <a:t>—  </a:t>
            </a:r>
            <a:r>
              <a:rPr sz="2100" b="1">
                <a:solidFill>
                  <a:srgbClr val="003262"/>
                </a:solidFill>
                <a:latin typeface="Arial"/>
              </a:rPr>
              <a:t>Visual variant:  </a:t>
            </a:r>
            <a:r>
              <a:rPr sz="2100">
                <a:solidFill>
                  <a:srgbClr val="1A1F2B"/>
                </a:solidFill>
                <a:latin typeface="Arial"/>
              </a:rPr>
              <a:t>“create a graph diagram of how the server-side files are related” before reorganizing them.</a:t>
            </a:r>
          </a:p>
          <a:p>
            <a:pPr algn="l">
              <a:lnSpc>
                <a:spcPct val="106000"/>
              </a:lnSpc>
              <a:spcAft>
                <a:spcPts val="1800"/>
              </a:spcAft>
            </a:pPr>
            <a:r>
              <a:rPr sz="2100" b="1">
                <a:solidFill>
                  <a:srgbClr val="FDB515"/>
                </a:solidFill>
                <a:latin typeface="Arial"/>
              </a:rPr>
              <a:t>—  </a:t>
            </a:r>
            <a:r>
              <a:rPr sz="2100" b="1">
                <a:solidFill>
                  <a:srgbClr val="003262"/>
                </a:solidFill>
                <a:latin typeface="Arial"/>
              </a:rPr>
              <a:t>Front-loaded comprehension:  </a:t>
            </a:r>
            <a:r>
              <a:rPr sz="2100">
                <a:solidFill>
                  <a:srgbClr val="1A1F2B"/>
                </a:solidFill>
                <a:latin typeface="Arial"/>
              </a:rPr>
              <a:t>turns a vague aspiration into a precise, local edit request.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Log as test data:  </a:t>
            </a:r>
            <a:r>
              <a:rPr sz="2100">
                <a:solidFill>
                  <a:srgbClr val="1A1F2B"/>
                </a:solidFill>
                <a:latin typeface="Arial"/>
              </a:rPr>
              <a:t>“look at yesterday's tasks; which instructions are not being followed? Fix them.”</a:t>
            </a:r>
          </a:p>
          <a:p>
            <a:pPr algn="l">
              <a:lnSpc>
                <a:spcPct val="106000"/>
              </a:lnSpc>
              <a:spcAft>
                <a:spcPts val="1800"/>
              </a:spcAft>
            </a:pPr>
            <a:r>
              <a:rPr sz="2100" b="1">
                <a:solidFill>
                  <a:srgbClr val="FDB515"/>
                </a:solidFill>
                <a:latin typeface="Arial"/>
              </a:rPr>
              <a:t>—  </a:t>
            </a:r>
            <a:r>
              <a:rPr sz="2100" b="1">
                <a:solidFill>
                  <a:srgbClr val="003262"/>
                </a:solidFill>
                <a:latin typeface="Arial"/>
              </a:rPr>
              <a:t>Mutation testing for a spec:  </a:t>
            </a:r>
            <a:r>
              <a:rPr sz="2100">
                <a:solidFill>
                  <a:srgbClr val="1A1F2B"/>
                </a:solidFill>
                <a:latin typeface="Arial"/>
              </a:rPr>
              <a:t>write a real-LLM test to confirm an observed deviation, then patch the prompt.</a:t>
            </a:r>
          </a:p>
          <a:p>
            <a:pPr algn="l">
              <a:lnSpc>
                <a:spcPct val="106000"/>
              </a:lnSpc>
              <a:spcAft>
                <a:spcPts val="1800"/>
              </a:spcAft>
            </a:pPr>
            <a:r>
              <a:rPr sz="2100" b="1">
                <a:solidFill>
                  <a:srgbClr val="FDB515"/>
                </a:solidFill>
                <a:latin typeface="Arial"/>
              </a:rPr>
              <a:t>—  </a:t>
            </a:r>
            <a:r>
              <a:rPr sz="2100" b="1">
                <a:solidFill>
                  <a:srgbClr val="003262"/>
                </a:solidFill>
                <a:latin typeface="Arial"/>
              </a:rPr>
              <a:t>Reactive rules:  </a:t>
            </a:r>
            <a:r>
              <a:rPr sz="2100">
                <a:solidFill>
                  <a:srgbClr val="1A1F2B"/>
                </a:solidFill>
                <a:latin typeface="Arial"/>
              </a:rPr>
              <a:t>the tmp/ rule, the curl/wget ban, and the “visit ≥10 websites” rule were all added after the log exposed evasions.</a:t>
            </a:r>
          </a:p>
          <a:p>
            <a:pPr algn="l">
              <a:lnSpc>
                <a:spcPct val="106000"/>
              </a:lnSpc>
              <a:spcAft>
                <a:spcPts val="1800"/>
              </a:spcAft>
            </a:pPr>
            <a:r>
              <a:rPr sz="2100" b="1">
                <a:solidFill>
                  <a:srgbClr val="FDB515"/>
                </a:solidFill>
                <a:latin typeface="Arial"/>
              </a:rPr>
              <a:t>—  </a:t>
            </a:r>
            <a:r>
              <a:rPr sz="2100" b="1">
                <a:solidFill>
                  <a:srgbClr val="003262"/>
                </a:solidFill>
                <a:latin typeface="Arial"/>
              </a:rPr>
              <a:t>Calmer voice:  </a:t>
            </a:r>
            <a:r>
              <a:rPr sz="2100">
                <a:solidFill>
                  <a:srgbClr val="1A1F2B"/>
                </a:solidFill>
                <a:latin typeface="Arial"/>
              </a:rPr>
              <a:t>evolved from “BE RELENTLESS” to “be rigorous, check facts, produce high-quality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45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45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45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45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45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45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45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45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45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45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45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45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45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45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45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45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4300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9224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300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9224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228600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88720" y="361188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493776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4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4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4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4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4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4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4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4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4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400">
                <a:solidFill>
                  <a:srgbClr val="374151"/>
                </a:solidFill>
              </a:defRPr>
            </a:pPr>
            <a:r>
              <a:t>• Prevents premature commitment to a plan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436D8-CD3B-5F85-10F7-6F8CCCD56019}"/>
              </a:ext>
            </a:extLst>
          </p:cNvPr>
          <p:cNvSpPr>
            <a:spLocks noGrp="1"/>
          </p:cNvSpPr>
          <p:nvPr>
            <p:ph type="title"/>
          </p:nvPr>
        </p:nvSpPr>
        <p:spPr>
          <a:xfrm>
            <a:off x="457199" y="274638"/>
            <a:ext cx="11321143" cy="1143000"/>
          </a:xfrm>
        </p:spPr>
        <p:txBody>
          <a:bodyPr/>
          <a:lstStyle/>
          <a:p>
            <a:r>
              <a:rPr lang="en-US" dirty="0"/>
              <a:t>A sample prompt</a:t>
            </a:r>
          </a:p>
        </p:txBody>
      </p:sp>
      <p:sp>
        <p:nvSpPr>
          <p:cNvPr id="3" name="Content Placeholder 2">
            <a:extLst>
              <a:ext uri="{FF2B5EF4-FFF2-40B4-BE49-F238E27FC236}">
                <a16:creationId xmlns:a16="http://schemas.microsoft.com/office/drawing/2014/main" id="{1CAFC602-A42E-1D9F-9E65-DCE38D218567}"/>
              </a:ext>
            </a:extLst>
          </p:cNvPr>
          <p:cNvSpPr>
            <a:spLocks noGrp="1"/>
          </p:cNvSpPr>
          <p:nvPr>
            <p:ph idx="1"/>
          </p:nvPr>
        </p:nvSpPr>
        <p:spPr>
          <a:xfrm>
            <a:off x="457200" y="1600200"/>
            <a:ext cx="11321142" cy="4525963"/>
          </a:xfrm>
        </p:spPr>
        <p:txBody>
          <a:bodyPr>
            <a:normAutofit lnSpcReduction="10000"/>
          </a:bodyPr>
          <a:lstStyle/>
          <a:p>
            <a:pPr marL="0" indent="0">
              <a:buNone/>
            </a:pPr>
            <a:r>
              <a:rPr lang="en-US" sz="2800" dirty="0">
                <a:latin typeface="Times New Roman" panose="02020603050405020304" pitchFamily="18" charset="0"/>
                <a:cs typeface="Times New Roman" panose="02020603050405020304" pitchFamily="18" charset="0"/>
              </a:rPr>
              <a:t>Can you discover the lightest and fastest neural network model that will give the best accuracy on the data at /Users/</a:t>
            </a:r>
            <a:r>
              <a:rPr lang="en-US" sz="2800" dirty="0" err="1">
                <a:latin typeface="Times New Roman" panose="02020603050405020304" pitchFamily="18" charset="0"/>
                <a:cs typeface="Times New Roman" panose="02020603050405020304" pitchFamily="18" charset="0"/>
              </a:rPr>
              <a:t>ksen</a:t>
            </a:r>
            <a:r>
              <a:rPr lang="en-US" sz="2800" dirty="0">
                <a:latin typeface="Times New Roman" panose="02020603050405020304" pitchFamily="18" charset="0"/>
                <a:cs typeface="Times New Roman" panose="02020603050405020304" pitchFamily="18" charset="0"/>
              </a:rPr>
              <a:t>/work/</a:t>
            </a:r>
            <a:r>
              <a:rPr lang="en-US" sz="2800" dirty="0" err="1">
                <a:latin typeface="Times New Roman" panose="02020603050405020304" pitchFamily="18" charset="0"/>
                <a:cs typeface="Times New Roman" panose="02020603050405020304" pitchFamily="18" charset="0"/>
              </a:rPr>
              <a:t>log_data</a:t>
            </a:r>
            <a:r>
              <a:rPr lang="en-US" sz="2800" dirty="0">
                <a:latin typeface="Times New Roman" panose="02020603050405020304" pitchFamily="18" charset="0"/>
                <a:cs typeface="Times New Roman" panose="02020603050405020304" pitchFamily="18" charset="0"/>
              </a:rPr>
              <a:t>?  Analyze the data and search internet extensively to propose first few models. Implement and experiment each of your proposed models. Note down the ideas you used to optimize the accuracy and speed metrics achieved in a file, so that you can use the file to not repeat ideas that have already been tried and failed. Use 'modal' CLI from </a:t>
            </a:r>
            <a:r>
              <a:rPr lang="en-US" sz="2800" dirty="0">
                <a:latin typeface="Times New Roman" panose="02020603050405020304" pitchFamily="18" charset="0"/>
                <a:cs typeface="Times New Roman" panose="02020603050405020304" pitchFamily="18" charset="0"/>
                <a:hlinkClick r:id="rId2"/>
              </a:rPr>
              <a:t>https://modal.com/</a:t>
            </a:r>
            <a:r>
              <a:rPr lang="en-US" sz="2800" dirty="0">
                <a:latin typeface="Times New Roman" panose="02020603050405020304" pitchFamily="18" charset="0"/>
                <a:cs typeface="Times New Roman" panose="02020603050405020304" pitchFamily="18" charset="0"/>
              </a:rPr>
              <a:t> to train your models and evaluate. Total budget for modal is $1000. Experiment with smaller subset of data and fewer parameter in the model to do experiments quickly and then extrapolate.  Use internet search extensively at every step.  Do not STOP until accuracy reaches 95% and you can process each row in </a:t>
            </a:r>
            <a:r>
              <a:rPr lang="en-US" sz="2800">
                <a:latin typeface="Times New Roman" panose="02020603050405020304" pitchFamily="18" charset="0"/>
                <a:cs typeface="Times New Roman" panose="02020603050405020304" pitchFamily="18" charset="0"/>
              </a:rPr>
              <a:t>less than 50ms.</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71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Seven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283</TotalTime>
  <Words>3040</Words>
  <Application>Microsoft Macintosh PowerPoint</Application>
  <PresentationFormat>Widescreen</PresentationFormat>
  <Paragraphs>317</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 sample prompt</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5</cp:revision>
  <dcterms:created xsi:type="dcterms:W3CDTF">2013-01-27T09:14:16Z</dcterms:created>
  <dcterms:modified xsi:type="dcterms:W3CDTF">2026-06-12T19:09:48Z</dcterms:modified>
  <cp:category/>
</cp:coreProperties>
</file>