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318" r:id="rId12"/>
    <p:sldId id="267" r:id="rId13"/>
    <p:sldId id="270" r:id="rId14"/>
    <p:sldId id="280" r:id="rId15"/>
    <p:sldId id="281" r:id="rId16"/>
    <p:sldId id="268" r:id="rId17"/>
    <p:sldId id="269" r:id="rId18"/>
    <p:sldId id="316" r:id="rId19"/>
    <p:sldId id="321" r:id="rId20"/>
    <p:sldId id="322" r:id="rId21"/>
    <p:sldId id="317" r:id="rId22"/>
    <p:sldId id="319" r:id="rId23"/>
    <p:sldId id="320" r:id="rId24"/>
    <p:sldId id="326" r:id="rId44"/>
    <p:sldId id="323" r:id="rId25"/>
    <p:sldId id="324" r:id="rId26"/>
    <p:sldId id="325" r:id="rId27"/>
    <p:sldId id="278" r:id="rId28"/>
    <p:sldId id="279" r:id="rId29"/>
    <p:sldId id="271" r:id="rId30"/>
    <p:sldId id="272" r:id="rId31"/>
    <p:sldId id="273" r:id="rId32"/>
    <p:sldId id="274" r:id="rId33"/>
    <p:sldId id="275" r:id="rId34"/>
    <p:sldId id="315" r:id="rId35"/>
    <p:sldId id="308" r:id="rId36"/>
    <p:sldId id="276" r:id="rId37"/>
    <p:sldId id="277" r:id="rId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94638"/>
  </p:normalViewPr>
  <p:slideViewPr>
    <p:cSldViewPr snapToGrid="0" snapToObjects="1">
      <p:cViewPr varScale="1">
        <p:scale>
          <a:sx n="167" d="100"/>
          <a:sy n="167" d="100"/>
        </p:scale>
        <p:origin x="192" y="3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ECFE8D-BEA3-B44A-B465-73A601A4032C}" type="datetimeFigureOut">
              <a:rPr lang="en-US" smtClean="0"/>
              <a:t>6/30/26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04BDDFF-4A82-D346-9E49-4285293F8A26}" type="slidenum">
              <a:rPr lang="en-US" smtClean="0"/>
              <a:t>‹#›</a:t>
            </a:fld>
            <a:endParaRPr lang="en-US"/>
          </a:p>
        </p:txBody>
      </p:sp>
    </p:spTree>
    <p:extLst>
      <p:ext uri="{BB962C8B-B14F-4D97-AF65-F5344CB8AC3E}">
        <p14:creationId xmlns:p14="http://schemas.microsoft.com/office/powerpoint/2010/main" val="23800526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04BDDFF-4A82-D346-9E49-4285293F8A26}" type="slidenum">
              <a:rPr lang="en-US" smtClean="0"/>
              <a:t>11</a:t>
            </a:fld>
            <a:endParaRPr lang="en-US"/>
          </a:p>
        </p:txBody>
      </p:sp>
    </p:spTree>
    <p:extLst>
      <p:ext uri="{BB962C8B-B14F-4D97-AF65-F5344CB8AC3E}">
        <p14:creationId xmlns:p14="http://schemas.microsoft.com/office/powerpoint/2010/main" val="20941634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874519"/>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868680"/>
            <a:ext cx="10515600" cy="457200"/>
          </a:xfrm>
          <a:prstGeom prst="rect">
            <a:avLst/>
          </a:prstGeom>
          <a:noFill/>
        </p:spPr>
        <p:txBody>
          <a:bodyPr wrap="square" lIns="0" tIns="0" rIns="0" bIns="0" anchor="t">
            <a:spAutoFit/>
          </a:bodyPr>
          <a:lstStyle/>
          <a:p>
            <a:pPr algn="l">
              <a:lnSpc>
                <a:spcPct val="100000"/>
              </a:lnSpc>
              <a:spcBef>
                <a:spcPts val="0"/>
              </a:spcBef>
              <a:spcAft>
                <a:spcPts val="800"/>
              </a:spcAft>
            </a:pPr>
            <a:r>
              <a:rPr sz="1400" b="1" i="0">
                <a:solidFill>
                  <a:srgbClr val="FDB515"/>
                </a:solidFill>
                <a:latin typeface="Arial"/>
              </a:rPr>
              <a:t>C  A  S  E     S  T  U  D  Y</a:t>
            </a:r>
          </a:p>
        </p:txBody>
      </p:sp>
      <p:sp>
        <p:nvSpPr>
          <p:cNvPr id="5" name="TextBox 4"/>
          <p:cNvSpPr txBox="1"/>
          <p:nvPr/>
        </p:nvSpPr>
        <p:spPr>
          <a:xfrm>
            <a:off x="822960" y="2148840"/>
            <a:ext cx="10607040" cy="2377440"/>
          </a:xfrm>
          <a:prstGeom prst="rect">
            <a:avLst/>
          </a:prstGeom>
          <a:noFill/>
        </p:spPr>
        <p:txBody>
          <a:bodyPr wrap="square" lIns="0" tIns="0" rIns="0" bIns="0" anchor="t">
            <a:spAutoFit/>
          </a:bodyPr>
          <a:lstStyle/>
          <a:p>
            <a:pPr algn="l">
              <a:lnSpc>
                <a:spcPct val="102000"/>
              </a:lnSpc>
              <a:spcBef>
                <a:spcPts val="0"/>
              </a:spcBef>
              <a:spcAft>
                <a:spcPts val="800"/>
              </a:spcAft>
            </a:pPr>
            <a:r>
              <a:rPr sz="5200" b="1" i="0">
                <a:solidFill>
                  <a:srgbClr val="FFFFFF"/>
                </a:solidFill>
                <a:latin typeface="Arial"/>
              </a:rPr>
              <a:t>Software Engineering KISS Sorcar</a:t>
            </a:r>
          </a:p>
          <a:p>
            <a:pPr algn="l">
              <a:lnSpc>
                <a:spcPct val="102000"/>
              </a:lnSpc>
              <a:spcBef>
                <a:spcPts val="200"/>
              </a:spcBef>
              <a:spcAft>
                <a:spcPts val="800"/>
              </a:spcAft>
            </a:pPr>
            <a:r>
              <a:rPr sz="5200" b="1" i="0">
                <a:solidFill>
                  <a:srgbClr val="FDB515"/>
                </a:solidFill>
                <a:latin typeface="Arial"/>
              </a:rPr>
              <a:t>with KISS Sorcar</a:t>
            </a:r>
          </a:p>
        </p:txBody>
      </p:sp>
      <p:sp>
        <p:nvSpPr>
          <p:cNvPr id="6" name="TextBox 5"/>
          <p:cNvSpPr txBox="1"/>
          <p:nvPr/>
        </p:nvSpPr>
        <p:spPr>
          <a:xfrm>
            <a:off x="822960" y="4800600"/>
            <a:ext cx="10515600" cy="640080"/>
          </a:xfrm>
          <a:prstGeom prst="rect">
            <a:avLst/>
          </a:prstGeom>
          <a:noFill/>
        </p:spPr>
        <p:txBody>
          <a:bodyPr wrap="square" lIns="0" tIns="0" rIns="0" bIns="0" anchor="t">
            <a:spAutoFit/>
          </a:bodyPr>
          <a:lstStyle/>
          <a:p>
            <a:pPr algn="l">
              <a:lnSpc>
                <a:spcPct val="100000"/>
              </a:lnSpc>
              <a:spcBef>
                <a:spcPts val="0"/>
              </a:spcBef>
              <a:spcAft>
                <a:spcPts val="800"/>
              </a:spcAft>
            </a:pPr>
            <a:r>
              <a:rPr sz="2000" b="0" i="1">
                <a:solidFill>
                  <a:srgbClr val="E9E5D8"/>
                </a:solidFill>
                <a:latin typeface="Arial"/>
              </a:rPr>
              <a:t>Building a self-hosting AI assistant and IDE — and analyzing 3,099 tasks it ran on its own code</a:t>
            </a:r>
          </a:p>
        </p:txBody>
      </p:sp>
      <p:sp>
        <p:nvSpPr>
          <p:cNvPr id="7" name="TextBox 6"/>
          <p:cNvSpPr txBox="1"/>
          <p:nvPr/>
        </p:nvSpPr>
        <p:spPr>
          <a:xfrm>
            <a:off x="822960" y="5623560"/>
            <a:ext cx="10515600" cy="822960"/>
          </a:xfrm>
          <a:prstGeom prst="rect">
            <a:avLst/>
          </a:prstGeom>
          <a:noFill/>
        </p:spPr>
        <p:txBody>
          <a:bodyPr wrap="square" lIns="0" tIns="0" rIns="0" bIns="0" anchor="t">
            <a:spAutoFit/>
          </a:bodyPr>
          <a:lstStyle/>
          <a:p>
            <a:pPr algn="l">
              <a:lnSpc>
                <a:spcPct val="100000"/>
              </a:lnSpc>
              <a:spcBef>
                <a:spcPts val="0"/>
              </a:spcBef>
              <a:spcAft>
                <a:spcPts val="800"/>
              </a:spcAft>
            </a:pPr>
            <a:r>
              <a:rPr sz="2200" b="1" i="0">
                <a:solidFill>
                  <a:srgbClr val="FFFFFF"/>
                </a:solidFill>
                <a:latin typeface="Arial"/>
              </a:rPr>
              <a:t>Koushik Sen</a:t>
            </a:r>
          </a:p>
          <a:p>
            <a:pPr algn="l">
              <a:lnSpc>
                <a:spcPct val="100000"/>
              </a:lnSpc>
              <a:spcBef>
                <a:spcPts val="0"/>
              </a:spcBef>
              <a:spcAft>
                <a:spcPts val="800"/>
              </a:spcAft>
            </a:pPr>
            <a:r>
              <a:rPr sz="1600" b="0" i="0">
                <a:solidFill>
                  <a:srgbClr val="E9E5D8"/>
                </a:solidFill>
                <a:latin typeface="Arial"/>
              </a:rPr>
              <a:t>EECS Department, UC Berkeley  ·  ksen@berkeley.edu</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F2B"/>
        </a:solidFill>
        <a:effectLst/>
      </p:bgPr>
    </p:bg>
    <p:spTree>
      <p:nvGrpSpPr>
        <p:cNvPr id="1" name=""/>
        <p:cNvGrpSpPr/>
        <p:nvPr/>
      </p:nvGrpSpPr>
      <p:grpSpPr>
        <a:xfrm>
          <a:off x="0" y="0"/>
          <a:ext cx="0" cy="0"/>
          <a:chOff x="0" y="0"/>
          <a:chExt cx="0" cy="0"/>
        </a:xfrm>
      </p:grpSpPr>
      <p:sp>
        <p:nvSpPr>
          <p:cNvPr id="2" name="Rectangle 1"/>
          <p:cNvSpPr/>
          <p:nvPr/>
        </p:nvSpPr>
        <p:spPr>
          <a:xfrm>
            <a:off x="822960" y="1920240"/>
            <a:ext cx="146304" cy="201168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280160" y="1828800"/>
            <a:ext cx="9692640" cy="2560320"/>
          </a:xfrm>
          <a:prstGeom prst="rect">
            <a:avLst/>
          </a:prstGeom>
          <a:noFill/>
        </p:spPr>
        <p:txBody>
          <a:bodyPr wrap="square" lIns="0" tIns="0" rIns="0" bIns="0" anchor="ctr">
            <a:spAutoFit/>
          </a:bodyPr>
          <a:lstStyle/>
          <a:p>
            <a:pPr algn="l">
              <a:lnSpc>
                <a:spcPct val="108000"/>
              </a:lnSpc>
              <a:spcBef>
                <a:spcPts val="0"/>
              </a:spcBef>
              <a:spcAft>
                <a:spcPts val="800"/>
              </a:spcAft>
            </a:pPr>
            <a:r>
              <a:rPr sz="4000" b="0" i="1">
                <a:solidFill>
                  <a:srgbClr val="FFFFFF"/>
                </a:solidFill>
                <a:latin typeface="Arial"/>
              </a:rPr>
              <a:t>“Everything should be made as simple as possible, but not simpler.”</a:t>
            </a:r>
          </a:p>
          <a:p>
            <a:pPr algn="l">
              <a:lnSpc>
                <a:spcPct val="100000"/>
              </a:lnSpc>
              <a:spcBef>
                <a:spcPts val="1800"/>
              </a:spcBef>
              <a:spcAft>
                <a:spcPts val="800"/>
              </a:spcAft>
            </a:pPr>
            <a:r>
              <a:rPr sz="2200" b="1" i="0">
                <a:solidFill>
                  <a:srgbClr val="FDB515"/>
                </a:solidFill>
                <a:latin typeface="Arial"/>
              </a:rPr>
              <a:t>Albert Einstein</a:t>
            </a:r>
          </a:p>
        </p:txBody>
      </p:sp>
      <p:sp>
        <p:nvSpPr>
          <p:cNvPr id="4" name="TextBox 3"/>
          <p:cNvSpPr txBox="1"/>
          <p:nvPr/>
        </p:nvSpPr>
        <p:spPr>
          <a:xfrm>
            <a:off x="1280160" y="4937760"/>
            <a:ext cx="9692640" cy="914400"/>
          </a:xfrm>
          <a:prstGeom prst="rect">
            <a:avLst/>
          </a:prstGeom>
          <a:noFill/>
        </p:spPr>
        <p:txBody>
          <a:bodyPr wrap="square" lIns="0" tIns="0" rIns="0" bIns="0" anchor="t">
            <a:spAutoFit/>
          </a:bodyPr>
          <a:lstStyle/>
          <a:p>
            <a:pPr algn="l">
              <a:lnSpc>
                <a:spcPct val="100000"/>
              </a:lnSpc>
              <a:spcBef>
                <a:spcPts val="0"/>
              </a:spcBef>
              <a:spcAft>
                <a:spcPts val="800"/>
              </a:spcAft>
            </a:pPr>
            <a:r>
              <a:rPr sz="1900" b="0" i="1">
                <a:solidFill>
                  <a:srgbClr val="E9E5D8"/>
                </a:solidFill>
                <a:latin typeface="Arial"/>
              </a:rPr>
              <a:t>The KISS philosophy — each component does one thing, each concern lives in one place, no unnecessary abstraction.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B  I  G     I  D  E  A</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We built it with itself</a:t>
            </a:r>
          </a:p>
        </p:txBody>
      </p:sp>
      <p:sp>
        <p:nvSpPr>
          <p:cNvPr id="5" name="TextBox 4"/>
          <p:cNvSpPr txBox="1"/>
          <p:nvPr/>
        </p:nvSpPr>
        <p:spPr>
          <a:xfrm>
            <a:off x="822960" y="1783080"/>
            <a:ext cx="10515600" cy="86868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From the second month on, every code change, bug fix, feature, and paper draft was produced by KISS Sorcar operating on its own repository. Self-hosting turns the system into a continuous stress test.</a:t>
            </a:r>
          </a:p>
        </p:txBody>
      </p:sp>
      <p:sp>
        <p:nvSpPr>
          <p:cNvPr id="6" name="Rectangle 5"/>
          <p:cNvSpPr/>
          <p:nvPr/>
        </p:nvSpPr>
        <p:spPr>
          <a:xfrm>
            <a:off x="822960"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3,099</a:t>
            </a:r>
          </a:p>
          <a:p>
            <a:pPr algn="ctr">
              <a:lnSpc>
                <a:spcPct val="100000"/>
              </a:lnSpc>
              <a:spcBef>
                <a:spcPts val="0"/>
              </a:spcBef>
              <a:spcAft>
                <a:spcPts val="800"/>
              </a:spcAft>
            </a:pPr>
            <a:r>
              <a:rPr sz="1600" b="0" i="0">
                <a:solidFill>
                  <a:srgbClr val="4A5260"/>
                </a:solidFill>
                <a:latin typeface="Arial"/>
              </a:rPr>
              <a:t>tasks issued</a:t>
            </a:r>
          </a:p>
        </p:txBody>
      </p:sp>
      <p:sp>
        <p:nvSpPr>
          <p:cNvPr id="9" name="Rectangle 8"/>
          <p:cNvSpPr/>
          <p:nvPr/>
        </p:nvSpPr>
        <p:spPr>
          <a:xfrm>
            <a:off x="3547872"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47872"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76472"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44</a:t>
            </a:r>
          </a:p>
          <a:p>
            <a:pPr algn="ctr">
              <a:lnSpc>
                <a:spcPct val="100000"/>
              </a:lnSpc>
              <a:spcBef>
                <a:spcPts val="0"/>
              </a:spcBef>
              <a:spcAft>
                <a:spcPts val="800"/>
              </a:spcAft>
            </a:pPr>
            <a:r>
              <a:rPr sz="1600" b="0" i="0">
                <a:solidFill>
                  <a:srgbClr val="4A5260"/>
                </a:solidFill>
                <a:latin typeface="Arial"/>
              </a:rPr>
              <a:t>days of development</a:t>
            </a:r>
          </a:p>
        </p:txBody>
      </p:sp>
      <p:sp>
        <p:nvSpPr>
          <p:cNvPr id="12" name="Rectangle 11"/>
          <p:cNvSpPr/>
          <p:nvPr/>
        </p:nvSpPr>
        <p:spPr>
          <a:xfrm>
            <a:off x="6272784"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72784"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01384"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877</a:t>
            </a:r>
          </a:p>
          <a:p>
            <a:pPr algn="ctr">
              <a:lnSpc>
                <a:spcPct val="100000"/>
              </a:lnSpc>
              <a:spcBef>
                <a:spcPts val="0"/>
              </a:spcBef>
              <a:spcAft>
                <a:spcPts val="800"/>
              </a:spcAft>
            </a:pPr>
            <a:r>
              <a:rPr sz="1600" b="0" i="0">
                <a:solidFill>
                  <a:srgbClr val="4A5260"/>
                </a:solidFill>
                <a:latin typeface="Arial"/>
              </a:rPr>
              <a:t>chat sessions</a:t>
            </a:r>
          </a:p>
        </p:txBody>
      </p:sp>
      <p:sp>
        <p:nvSpPr>
          <p:cNvPr id="15" name="Rectangle 14"/>
          <p:cNvSpPr/>
          <p:nvPr/>
        </p:nvSpPr>
        <p:spPr>
          <a:xfrm>
            <a:off x="8997696"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997696"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26296"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4600" b="1" i="0">
                <a:solidFill>
                  <a:srgbClr val="003262"/>
                </a:solidFill>
                <a:latin typeface="Arial"/>
              </a:rPr>
              <a:t>~2,400</a:t>
            </a:r>
          </a:p>
          <a:p>
            <a:pPr algn="ctr">
              <a:lnSpc>
                <a:spcPct val="100000"/>
              </a:lnSpc>
              <a:spcBef>
                <a:spcPts val="0"/>
              </a:spcBef>
              <a:spcAft>
                <a:spcPts val="800"/>
              </a:spcAft>
            </a:pPr>
            <a:r>
              <a:rPr sz="1600" b="0" i="0">
                <a:solidFill>
                  <a:srgbClr val="4A5260"/>
                </a:solidFill>
                <a:latin typeface="Arial"/>
              </a:rPr>
              <a:t>lines of agent code</a:t>
            </a:r>
          </a:p>
        </p:txBody>
      </p:sp>
      <p:sp>
        <p:nvSpPr>
          <p:cNvPr id="18" name="Rectangle 17"/>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 name="TextBox 19"/>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A  R  C  H  I  T  E  C  T  U  R  E</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 five-layer agent hierarchy</a:t>
            </a:r>
          </a:p>
        </p:txBody>
      </p:sp>
      <p:sp>
        <p:nvSpPr>
          <p:cNvPr id="5" name="TextBox 4"/>
          <p:cNvSpPr txBox="1"/>
          <p:nvPr/>
        </p:nvSpPr>
        <p:spPr>
          <a:xfrm>
            <a:off x="822960" y="1783080"/>
            <a:ext cx="10515600" cy="50292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4A5260"/>
                </a:solidFill>
                <a:latin typeface="Arial"/>
              </a:rPr>
              <a:t>Each layer adds exactly one concern — ~2,400 lines total.</a:t>
            </a:r>
          </a:p>
        </p:txBody>
      </p:sp>
      <p:sp>
        <p:nvSpPr>
          <p:cNvPr id="6" name="Rectangle 5"/>
          <p:cNvSpPr/>
          <p:nvPr/>
        </p:nvSpPr>
        <p:spPr>
          <a:xfrm>
            <a:off x="822960" y="2423160"/>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423160"/>
            <a:ext cx="146304" cy="676656"/>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423160"/>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1.  KISS Agent</a:t>
            </a:r>
          </a:p>
        </p:txBody>
      </p:sp>
      <p:sp>
        <p:nvSpPr>
          <p:cNvPr id="9" name="TextBox 8"/>
          <p:cNvSpPr txBox="1"/>
          <p:nvPr/>
        </p:nvSpPr>
        <p:spPr>
          <a:xfrm>
            <a:off x="4297680" y="2423160"/>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Budget-tracked ReAct loop</a:t>
            </a:r>
          </a:p>
        </p:txBody>
      </p:sp>
      <p:sp>
        <p:nvSpPr>
          <p:cNvPr id="10" name="Rectangle 9"/>
          <p:cNvSpPr/>
          <p:nvPr/>
        </p:nvSpPr>
        <p:spPr>
          <a:xfrm>
            <a:off x="822960" y="3218688"/>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22960" y="3218688"/>
            <a:ext cx="146304" cy="676656"/>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3000" y="3218688"/>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2.  Relentless Agent</a:t>
            </a:r>
          </a:p>
        </p:txBody>
      </p:sp>
      <p:sp>
        <p:nvSpPr>
          <p:cNvPr id="13" name="TextBox 12"/>
          <p:cNvSpPr txBox="1"/>
          <p:nvPr/>
        </p:nvSpPr>
        <p:spPr>
          <a:xfrm>
            <a:off x="4297680" y="3218688"/>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Automatic continuation across sub-sessions via summarization</a:t>
            </a:r>
          </a:p>
        </p:txBody>
      </p:sp>
      <p:sp>
        <p:nvSpPr>
          <p:cNvPr id="14" name="Rectangle 13"/>
          <p:cNvSpPr/>
          <p:nvPr/>
        </p:nvSpPr>
        <p:spPr>
          <a:xfrm>
            <a:off x="822960" y="4014216"/>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22960" y="4014216"/>
            <a:ext cx="146304" cy="676656"/>
          </a:xfrm>
          <a:prstGeom prst="rect">
            <a:avLst/>
          </a:prstGeom>
          <a:solidFill>
            <a:srgbClr val="5591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3000" y="4014216"/>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3.  Sorcar Agent</a:t>
            </a:r>
          </a:p>
        </p:txBody>
      </p:sp>
      <p:sp>
        <p:nvSpPr>
          <p:cNvPr id="17" name="TextBox 16"/>
          <p:cNvSpPr txBox="1"/>
          <p:nvPr/>
        </p:nvSpPr>
        <p:spPr>
          <a:xfrm>
            <a:off x="4297680" y="4014216"/>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Coding tools, browser automation, parallel sub-agents</a:t>
            </a:r>
          </a:p>
        </p:txBody>
      </p:sp>
      <p:sp>
        <p:nvSpPr>
          <p:cNvPr id="18" name="Rectangle 17"/>
          <p:cNvSpPr/>
          <p:nvPr/>
        </p:nvSpPr>
        <p:spPr>
          <a:xfrm>
            <a:off x="822960" y="4809744"/>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809744"/>
            <a:ext cx="146304" cy="676656"/>
          </a:xfrm>
          <a:prstGeom prst="rect">
            <a:avLst/>
          </a:prstGeom>
          <a:solidFill>
            <a:srgbClr val="2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3000" y="4809744"/>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4.  Chat Sorcar Agent</a:t>
            </a:r>
          </a:p>
        </p:txBody>
      </p:sp>
      <p:sp>
        <p:nvSpPr>
          <p:cNvPr id="21" name="TextBox 20"/>
          <p:cNvSpPr txBox="1"/>
          <p:nvPr/>
        </p:nvSpPr>
        <p:spPr>
          <a:xfrm>
            <a:off x="4297680" y="4809744"/>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Persistent multi-turn chat</a:t>
            </a:r>
          </a:p>
        </p:txBody>
      </p:sp>
      <p:sp>
        <p:nvSpPr>
          <p:cNvPr id="22" name="Rectangle 21"/>
          <p:cNvSpPr/>
          <p:nvPr/>
        </p:nvSpPr>
        <p:spPr>
          <a:xfrm>
            <a:off x="822960" y="5605272"/>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22960" y="5605272"/>
            <a:ext cx="146304" cy="676656"/>
          </a:xfrm>
          <a:prstGeom prst="rect">
            <a:avLst/>
          </a:prstGeom>
          <a:solidFill>
            <a:srgbClr val="8A6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43000" y="5605272"/>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5.  Worktree Sorcar Agent</a:t>
            </a:r>
          </a:p>
        </p:txBody>
      </p:sp>
      <p:sp>
        <p:nvSpPr>
          <p:cNvPr id="25" name="TextBox 24"/>
          <p:cNvSpPr txBox="1"/>
          <p:nvPr/>
        </p:nvSpPr>
        <p:spPr>
          <a:xfrm>
            <a:off x="4297680" y="5605272"/>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Git worktree isolation per task</a:t>
            </a:r>
          </a:p>
        </p:txBody>
      </p:sp>
      <p:sp>
        <p:nvSpPr>
          <p:cNvPr id="26" name="Rectangle 2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8" name="TextBox 2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M  E  T  H  O  D  O  L  O  G  Y</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Mining the system's own usage log</a:t>
            </a:r>
          </a:p>
        </p:txBody>
      </p:sp>
      <p:sp>
        <p:nvSpPr>
          <p:cNvPr id="5" name="TextBox 4"/>
          <p:cNvSpPr txBox="1"/>
          <p:nvPr/>
        </p:nvSpPr>
        <p:spPr>
          <a:xfrm>
            <a:off x="822960" y="1920240"/>
            <a:ext cx="10607040" cy="420624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Single source of truth:  </a:t>
            </a:r>
            <a:r>
              <a:rPr sz="2100">
                <a:solidFill>
                  <a:srgbClr val="1A1F2B"/>
                </a:solidFill>
                <a:latin typeface="Arial"/>
              </a:rPr>
              <a:t>every task flows through the Chat Sorcar Agent into ~/.kiss/sorcar.db — a complete, unfiltered record.</a:t>
            </a:r>
          </a:p>
          <a:p>
            <a:pPr algn="l">
              <a:lnSpc>
                <a:spcPct val="106000"/>
              </a:lnSpc>
              <a:spcAft>
                <a:spcPts val="1800"/>
              </a:spcAft>
            </a:pPr>
            <a:r>
              <a:rPr sz="2100" b="1">
                <a:solidFill>
                  <a:srgbClr val="FDB515"/>
                </a:solidFill>
                <a:latin typeface="Arial"/>
              </a:rPr>
              <a:t>—  </a:t>
            </a:r>
            <a:r>
              <a:rPr sz="2100" b="1">
                <a:solidFill>
                  <a:srgbClr val="003262"/>
                </a:solidFill>
                <a:latin typeface="Arial"/>
              </a:rPr>
              <a:t>Small schema:  </a:t>
            </a:r>
            <a:r>
              <a:rPr sz="2100">
                <a:solidFill>
                  <a:srgbClr val="1A1F2B"/>
                </a:solidFill>
                <a:latin typeface="Arial"/>
              </a:rPr>
              <a:t>task_history, events, frequent_tasks, model_usage, file_usage tables capture prompts, trajectories, cost, and files.</a:t>
            </a:r>
          </a:p>
          <a:p>
            <a:pPr algn="l">
              <a:lnSpc>
                <a:spcPct val="106000"/>
              </a:lnSpc>
              <a:spcAft>
                <a:spcPts val="1800"/>
              </a:spcAft>
            </a:pPr>
            <a:r>
              <a:rPr sz="2100" b="1">
                <a:solidFill>
                  <a:srgbClr val="FDB515"/>
                </a:solidFill>
                <a:latin typeface="Arial"/>
              </a:rPr>
              <a:t>—  </a:t>
            </a:r>
            <a:r>
              <a:rPr sz="2100" b="1">
                <a:solidFill>
                  <a:srgbClr val="003262"/>
                </a:solidFill>
                <a:latin typeface="Arial"/>
              </a:rPr>
              <a:t>Three extraction methods:  </a:t>
            </a:r>
            <a:r>
              <a:rPr sz="2100">
                <a:solidFill>
                  <a:srgbClr val="1A1F2B"/>
                </a:solidFill>
                <a:latin typeface="Arial"/>
              </a:rPr>
              <a:t>cluster by frequency, full-text LIKE queries over descriptions, and manual reading of representatives.</a:t>
            </a:r>
          </a:p>
          <a:p>
            <a:pPr algn="l">
              <a:lnSpc>
                <a:spcPct val="106000"/>
              </a:lnSpc>
              <a:spcAft>
                <a:spcPts val="1800"/>
              </a:spcAft>
            </a:pPr>
            <a:r>
              <a:rPr sz="2100" b="1">
                <a:solidFill>
                  <a:srgbClr val="FDB515"/>
                </a:solidFill>
                <a:latin typeface="Arial"/>
              </a:rPr>
              <a:t>—  </a:t>
            </a:r>
            <a:r>
              <a:rPr sz="2100" b="1">
                <a:solidFill>
                  <a:srgbClr val="003262"/>
                </a:solidFill>
                <a:latin typeface="Arial"/>
              </a:rPr>
              <a:t>Scale:  </a:t>
            </a:r>
            <a:r>
              <a:rPr sz="2100">
                <a:solidFill>
                  <a:srgbClr val="1A1F2B"/>
                </a:solidFill>
                <a:latin typeface="Arial"/>
              </a:rPr>
              <a:t>3,099 tasks across 44 days group into 877 sessions — ~3.5 tasks per session, confirming an iterative workflow.</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W  H  A  T     T  H  E     D  E  V  E  L  O  P  E  R     D  I  D</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Task distribution (3,099 tasks)</a:t>
            </a:r>
          </a:p>
        </p:txBody>
      </p:sp>
      <p:sp>
        <p:nvSpPr>
          <p:cNvPr id="5" name="Rectangle 4"/>
          <p:cNvSpPr/>
          <p:nvPr/>
        </p:nvSpPr>
        <p:spPr>
          <a:xfrm>
            <a:off x="822960" y="1874519"/>
            <a:ext cx="10515600" cy="475488"/>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874519"/>
            <a:ext cx="6858000" cy="475488"/>
          </a:xfrm>
          <a:prstGeom prst="rect">
            <a:avLst/>
          </a:prstGeom>
          <a:noFill/>
        </p:spPr>
        <p:txBody>
          <a:bodyPr wrap="square" lIns="0" tIns="0" rIns="0" bIns="0" anchor="ctr">
            <a:spAutoFit/>
          </a:bodyPr>
          <a:lstStyle/>
          <a:p>
            <a:pPr algn="l">
              <a:lnSpc>
                <a:spcPct val="100000"/>
              </a:lnSpc>
              <a:spcBef>
                <a:spcPts val="0"/>
              </a:spcBef>
              <a:spcAft>
                <a:spcPts val="800"/>
              </a:spcAft>
            </a:pPr>
            <a:r>
              <a:rPr sz="1700" b="1" i="0">
                <a:solidFill>
                  <a:srgbClr val="FFFFFF"/>
                </a:solidFill>
                <a:latin typeface="Arial"/>
              </a:rPr>
              <a:t>Category</a:t>
            </a:r>
          </a:p>
        </p:txBody>
      </p:sp>
      <p:sp>
        <p:nvSpPr>
          <p:cNvPr id="7" name="TextBox 6"/>
          <p:cNvSpPr txBox="1"/>
          <p:nvPr/>
        </p:nvSpPr>
        <p:spPr>
          <a:xfrm>
            <a:off x="8138160" y="1874519"/>
            <a:ext cx="1463040" cy="475488"/>
          </a:xfrm>
          <a:prstGeom prst="rect">
            <a:avLst/>
          </a:prstGeom>
          <a:noFill/>
        </p:spPr>
        <p:txBody>
          <a:bodyPr wrap="square" lIns="0" tIns="0" rIns="0" bIns="0" anchor="ctr">
            <a:spAutoFit/>
          </a:bodyPr>
          <a:lstStyle/>
          <a:p>
            <a:pPr algn="r">
              <a:lnSpc>
                <a:spcPct val="100000"/>
              </a:lnSpc>
              <a:spcBef>
                <a:spcPts val="0"/>
              </a:spcBef>
              <a:spcAft>
                <a:spcPts val="800"/>
              </a:spcAft>
            </a:pPr>
            <a:r>
              <a:rPr sz="1700" b="1" i="0">
                <a:solidFill>
                  <a:srgbClr val="FFFFFF"/>
                </a:solidFill>
                <a:latin typeface="Arial"/>
              </a:rPr>
              <a:t>Count</a:t>
            </a:r>
          </a:p>
        </p:txBody>
      </p:sp>
      <p:sp>
        <p:nvSpPr>
          <p:cNvPr id="8" name="TextBox 7"/>
          <p:cNvSpPr txBox="1"/>
          <p:nvPr/>
        </p:nvSpPr>
        <p:spPr>
          <a:xfrm>
            <a:off x="9601200" y="1874519"/>
            <a:ext cx="1463040" cy="475488"/>
          </a:xfrm>
          <a:prstGeom prst="rect">
            <a:avLst/>
          </a:prstGeom>
          <a:noFill/>
        </p:spPr>
        <p:txBody>
          <a:bodyPr wrap="square" lIns="0" tIns="0" rIns="0" bIns="0" anchor="ctr">
            <a:spAutoFit/>
          </a:bodyPr>
          <a:lstStyle/>
          <a:p>
            <a:pPr algn="r">
              <a:lnSpc>
                <a:spcPct val="100000"/>
              </a:lnSpc>
              <a:spcBef>
                <a:spcPts val="0"/>
              </a:spcBef>
              <a:spcAft>
                <a:spcPts val="800"/>
              </a:spcAft>
            </a:pPr>
            <a:r>
              <a:rPr sz="1700" b="1" i="0">
                <a:solidFill>
                  <a:srgbClr val="FDB515"/>
                </a:solidFill>
                <a:latin typeface="Arial"/>
              </a:rPr>
              <a:t>Share</a:t>
            </a:r>
          </a:p>
        </p:txBody>
      </p:sp>
      <p:sp>
        <p:nvSpPr>
          <p:cNvPr id="9" name="Rectangle 8"/>
          <p:cNvSpPr/>
          <p:nvPr/>
        </p:nvSpPr>
        <p:spPr>
          <a:xfrm>
            <a:off x="822960" y="2350007"/>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50007"/>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Bug finding, reproducing &amp; fixing</a:t>
            </a:r>
          </a:p>
        </p:txBody>
      </p:sp>
      <p:sp>
        <p:nvSpPr>
          <p:cNvPr id="11" name="TextBox 10"/>
          <p:cNvSpPr txBox="1"/>
          <p:nvPr/>
        </p:nvSpPr>
        <p:spPr>
          <a:xfrm>
            <a:off x="8138160" y="235000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~620</a:t>
            </a:r>
          </a:p>
        </p:txBody>
      </p:sp>
      <p:sp>
        <p:nvSpPr>
          <p:cNvPr id="12" name="TextBox 11"/>
          <p:cNvSpPr txBox="1"/>
          <p:nvPr/>
        </p:nvSpPr>
        <p:spPr>
          <a:xfrm>
            <a:off x="9601200" y="235000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20%</a:t>
            </a:r>
          </a:p>
        </p:txBody>
      </p:sp>
      <p:sp>
        <p:nvSpPr>
          <p:cNvPr id="13" name="Rectangle 12"/>
          <p:cNvSpPr/>
          <p:nvPr/>
        </p:nvSpPr>
        <p:spPr>
          <a:xfrm>
            <a:off x="822960" y="2752343"/>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2752343"/>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Feature implementation</a:t>
            </a:r>
          </a:p>
        </p:txBody>
      </p:sp>
      <p:sp>
        <p:nvSpPr>
          <p:cNvPr id="15" name="TextBox 14"/>
          <p:cNvSpPr txBox="1"/>
          <p:nvPr/>
        </p:nvSpPr>
        <p:spPr>
          <a:xfrm>
            <a:off x="8138160" y="275234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~520</a:t>
            </a:r>
          </a:p>
        </p:txBody>
      </p:sp>
      <p:sp>
        <p:nvSpPr>
          <p:cNvPr id="16" name="TextBox 15"/>
          <p:cNvSpPr txBox="1"/>
          <p:nvPr/>
        </p:nvSpPr>
        <p:spPr>
          <a:xfrm>
            <a:off x="9601200" y="275234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17%</a:t>
            </a:r>
          </a:p>
        </p:txBody>
      </p:sp>
      <p:sp>
        <p:nvSpPr>
          <p:cNvPr id="17" name="Rectangle 16"/>
          <p:cNvSpPr/>
          <p:nvPr/>
        </p:nvSpPr>
        <p:spPr>
          <a:xfrm>
            <a:off x="822960" y="3154679"/>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3154679"/>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UI / UX refinement</a:t>
            </a:r>
          </a:p>
        </p:txBody>
      </p:sp>
      <p:sp>
        <p:nvSpPr>
          <p:cNvPr id="19" name="TextBox 18"/>
          <p:cNvSpPr txBox="1"/>
          <p:nvPr/>
        </p:nvSpPr>
        <p:spPr>
          <a:xfrm>
            <a:off x="8138160" y="315467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~360</a:t>
            </a:r>
          </a:p>
        </p:txBody>
      </p:sp>
      <p:sp>
        <p:nvSpPr>
          <p:cNvPr id="20" name="TextBox 19"/>
          <p:cNvSpPr txBox="1"/>
          <p:nvPr/>
        </p:nvSpPr>
        <p:spPr>
          <a:xfrm>
            <a:off x="9601200" y="315467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12%</a:t>
            </a:r>
          </a:p>
        </p:txBody>
      </p:sp>
      <p:sp>
        <p:nvSpPr>
          <p:cNvPr id="21" name="Rectangle 20"/>
          <p:cNvSpPr/>
          <p:nvPr/>
        </p:nvSpPr>
        <p:spPr>
          <a:xfrm>
            <a:off x="822960" y="3557015"/>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3557015"/>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Paper writing &amp; building</a:t>
            </a:r>
          </a:p>
        </p:txBody>
      </p:sp>
      <p:sp>
        <p:nvSpPr>
          <p:cNvPr id="23" name="TextBox 22"/>
          <p:cNvSpPr txBox="1"/>
          <p:nvPr/>
        </p:nvSpPr>
        <p:spPr>
          <a:xfrm>
            <a:off x="8138160" y="355701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~310</a:t>
            </a:r>
          </a:p>
        </p:txBody>
      </p:sp>
      <p:sp>
        <p:nvSpPr>
          <p:cNvPr id="24" name="TextBox 23"/>
          <p:cNvSpPr txBox="1"/>
          <p:nvPr/>
        </p:nvSpPr>
        <p:spPr>
          <a:xfrm>
            <a:off x="9601200" y="355701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10%</a:t>
            </a:r>
          </a:p>
        </p:txBody>
      </p:sp>
      <p:sp>
        <p:nvSpPr>
          <p:cNvPr id="25" name="Rectangle 24"/>
          <p:cNvSpPr/>
          <p:nvPr/>
        </p:nvSpPr>
        <p:spPr>
          <a:xfrm>
            <a:off x="822960" y="3959351"/>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51560" y="3959351"/>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Code quality / refactoring</a:t>
            </a:r>
          </a:p>
        </p:txBody>
      </p:sp>
      <p:sp>
        <p:nvSpPr>
          <p:cNvPr id="27" name="TextBox 26"/>
          <p:cNvSpPr txBox="1"/>
          <p:nvPr/>
        </p:nvSpPr>
        <p:spPr>
          <a:xfrm>
            <a:off x="8138160" y="395935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~250</a:t>
            </a:r>
          </a:p>
        </p:txBody>
      </p:sp>
      <p:sp>
        <p:nvSpPr>
          <p:cNvPr id="28" name="TextBox 27"/>
          <p:cNvSpPr txBox="1"/>
          <p:nvPr/>
        </p:nvSpPr>
        <p:spPr>
          <a:xfrm>
            <a:off x="9601200" y="395935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8%</a:t>
            </a:r>
          </a:p>
        </p:txBody>
      </p:sp>
      <p:sp>
        <p:nvSpPr>
          <p:cNvPr id="29" name="Rectangle 28"/>
          <p:cNvSpPr/>
          <p:nvPr/>
        </p:nvSpPr>
        <p:spPr>
          <a:xfrm>
            <a:off x="822960" y="4361687"/>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51560" y="4361687"/>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Testing &amp; CI</a:t>
            </a:r>
          </a:p>
        </p:txBody>
      </p:sp>
      <p:sp>
        <p:nvSpPr>
          <p:cNvPr id="31" name="TextBox 30"/>
          <p:cNvSpPr txBox="1"/>
          <p:nvPr/>
        </p:nvSpPr>
        <p:spPr>
          <a:xfrm>
            <a:off x="8138160" y="436168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~210</a:t>
            </a:r>
          </a:p>
        </p:txBody>
      </p:sp>
      <p:sp>
        <p:nvSpPr>
          <p:cNvPr id="32" name="TextBox 31"/>
          <p:cNvSpPr txBox="1"/>
          <p:nvPr/>
        </p:nvSpPr>
        <p:spPr>
          <a:xfrm>
            <a:off x="9601200" y="436168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7%</a:t>
            </a:r>
          </a:p>
        </p:txBody>
      </p:sp>
      <p:sp>
        <p:nvSpPr>
          <p:cNvPr id="33" name="Rectangle 32"/>
          <p:cNvSpPr/>
          <p:nvPr/>
        </p:nvSpPr>
        <p:spPr>
          <a:xfrm>
            <a:off x="822960" y="4764023"/>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51560" y="4764023"/>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General assistance (weather, travel, stocks…)</a:t>
            </a:r>
          </a:p>
        </p:txBody>
      </p:sp>
      <p:sp>
        <p:nvSpPr>
          <p:cNvPr id="35" name="TextBox 34"/>
          <p:cNvSpPr txBox="1"/>
          <p:nvPr/>
        </p:nvSpPr>
        <p:spPr>
          <a:xfrm>
            <a:off x="8138160" y="476402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~210</a:t>
            </a:r>
          </a:p>
        </p:txBody>
      </p:sp>
      <p:sp>
        <p:nvSpPr>
          <p:cNvPr id="36" name="TextBox 35"/>
          <p:cNvSpPr txBox="1"/>
          <p:nvPr/>
        </p:nvSpPr>
        <p:spPr>
          <a:xfrm>
            <a:off x="9601200" y="476402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7%</a:t>
            </a:r>
          </a:p>
        </p:txBody>
      </p:sp>
      <p:sp>
        <p:nvSpPr>
          <p:cNvPr id="37" name="Rectangle 36"/>
          <p:cNvSpPr/>
          <p:nvPr/>
        </p:nvSpPr>
        <p:spPr>
          <a:xfrm>
            <a:off x="822960" y="5166359"/>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51560" y="5166359"/>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Git operations</a:t>
            </a:r>
          </a:p>
        </p:txBody>
      </p:sp>
      <p:sp>
        <p:nvSpPr>
          <p:cNvPr id="39" name="TextBox 38"/>
          <p:cNvSpPr txBox="1"/>
          <p:nvPr/>
        </p:nvSpPr>
        <p:spPr>
          <a:xfrm>
            <a:off x="8138160" y="516635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~155</a:t>
            </a:r>
          </a:p>
        </p:txBody>
      </p:sp>
      <p:sp>
        <p:nvSpPr>
          <p:cNvPr id="40" name="TextBox 39"/>
          <p:cNvSpPr txBox="1"/>
          <p:nvPr/>
        </p:nvSpPr>
        <p:spPr>
          <a:xfrm>
            <a:off x="9601200" y="516635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5%</a:t>
            </a:r>
          </a:p>
        </p:txBody>
      </p:sp>
      <p:sp>
        <p:nvSpPr>
          <p:cNvPr id="41" name="Rectangle 40"/>
          <p:cNvSpPr/>
          <p:nvPr/>
        </p:nvSpPr>
        <p:spPr>
          <a:xfrm>
            <a:off x="822960" y="5568695"/>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51560" y="5568695"/>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Greetings &amp; identity</a:t>
            </a:r>
          </a:p>
        </p:txBody>
      </p:sp>
      <p:sp>
        <p:nvSpPr>
          <p:cNvPr id="43" name="TextBox 42"/>
          <p:cNvSpPr txBox="1"/>
          <p:nvPr/>
        </p:nvSpPr>
        <p:spPr>
          <a:xfrm>
            <a:off x="8138160" y="556869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~150</a:t>
            </a:r>
          </a:p>
        </p:txBody>
      </p:sp>
      <p:sp>
        <p:nvSpPr>
          <p:cNvPr id="44" name="TextBox 43"/>
          <p:cNvSpPr txBox="1"/>
          <p:nvPr/>
        </p:nvSpPr>
        <p:spPr>
          <a:xfrm>
            <a:off x="9601200" y="556869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5%</a:t>
            </a:r>
          </a:p>
        </p:txBody>
      </p:sp>
      <p:sp>
        <p:nvSpPr>
          <p:cNvPr id="45" name="Rectangle 44"/>
          <p:cNvSpPr/>
          <p:nvPr/>
        </p:nvSpPr>
        <p:spPr>
          <a:xfrm>
            <a:off x="822960" y="5971031"/>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51560" y="5971031"/>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Communication / smart-home / other</a:t>
            </a:r>
          </a:p>
        </p:txBody>
      </p:sp>
      <p:sp>
        <p:nvSpPr>
          <p:cNvPr id="47" name="TextBox 46"/>
          <p:cNvSpPr txBox="1"/>
          <p:nvPr/>
        </p:nvSpPr>
        <p:spPr>
          <a:xfrm>
            <a:off x="8138160" y="597103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~290</a:t>
            </a:r>
          </a:p>
        </p:txBody>
      </p:sp>
      <p:sp>
        <p:nvSpPr>
          <p:cNvPr id="48" name="TextBox 47"/>
          <p:cNvSpPr txBox="1"/>
          <p:nvPr/>
        </p:nvSpPr>
        <p:spPr>
          <a:xfrm>
            <a:off x="9601200" y="597103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10%</a:t>
            </a:r>
          </a:p>
        </p:txBody>
      </p:sp>
      <p:sp>
        <p:nvSpPr>
          <p:cNvPr id="49" name="Rectangle 4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51" name="TextBox 5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F  I  N  D  I  N  G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Nine recurring usage patterns</a:t>
            </a:r>
          </a:p>
        </p:txBody>
      </p:sp>
      <p:sp>
        <p:nvSpPr>
          <p:cNvPr id="5" name="Rectangle 4"/>
          <p:cNvSpPr/>
          <p:nvPr/>
        </p:nvSpPr>
        <p:spPr>
          <a:xfrm>
            <a:off x="82296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1</a:t>
            </a:r>
          </a:p>
        </p:txBody>
      </p:sp>
      <p:sp>
        <p:nvSpPr>
          <p:cNvPr id="8" name="TextBox 7"/>
          <p:cNvSpPr txBox="1"/>
          <p:nvPr/>
        </p:nvSpPr>
        <p:spPr>
          <a:xfrm>
            <a:off x="169164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Test-first bug fixing</a:t>
            </a:r>
          </a:p>
        </p:txBody>
      </p:sp>
      <p:sp>
        <p:nvSpPr>
          <p:cNvPr id="9" name="Rectangle 8"/>
          <p:cNvSpPr/>
          <p:nvPr/>
        </p:nvSpPr>
        <p:spPr>
          <a:xfrm>
            <a:off x="617220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7220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2</a:t>
            </a:r>
          </a:p>
        </p:txBody>
      </p:sp>
      <p:sp>
        <p:nvSpPr>
          <p:cNvPr id="12" name="TextBox 11"/>
          <p:cNvSpPr txBox="1"/>
          <p:nvPr/>
        </p:nvSpPr>
        <p:spPr>
          <a:xfrm>
            <a:off x="704088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Iterative feature construction</a:t>
            </a:r>
          </a:p>
        </p:txBody>
      </p:sp>
      <p:sp>
        <p:nvSpPr>
          <p:cNvPr id="13" name="Rectangle 12"/>
          <p:cNvSpPr/>
          <p:nvPr/>
        </p:nvSpPr>
        <p:spPr>
          <a:xfrm>
            <a:off x="82296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3</a:t>
            </a:r>
          </a:p>
        </p:txBody>
      </p:sp>
      <p:sp>
        <p:nvSpPr>
          <p:cNvPr id="16" name="TextBox 15"/>
          <p:cNvSpPr txBox="1"/>
          <p:nvPr/>
        </p:nvSpPr>
        <p:spPr>
          <a:xfrm>
            <a:off x="169164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Periodic code hygiene</a:t>
            </a:r>
          </a:p>
        </p:txBody>
      </p:sp>
      <p:sp>
        <p:nvSpPr>
          <p:cNvPr id="17" name="Rectangle 16"/>
          <p:cNvSpPr/>
          <p:nvPr/>
        </p:nvSpPr>
        <p:spPr>
          <a:xfrm>
            <a:off x="617220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7220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4</a:t>
            </a:r>
          </a:p>
        </p:txBody>
      </p:sp>
      <p:sp>
        <p:nvSpPr>
          <p:cNvPr id="20" name="TextBox 19"/>
          <p:cNvSpPr txBox="1"/>
          <p:nvPr/>
        </p:nvSpPr>
        <p:spPr>
          <a:xfrm>
            <a:off x="704088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Paper–code co-evolution</a:t>
            </a:r>
          </a:p>
        </p:txBody>
      </p:sp>
      <p:sp>
        <p:nvSpPr>
          <p:cNvPr id="21" name="Rectangle 20"/>
          <p:cNvSpPr/>
          <p:nvPr/>
        </p:nvSpPr>
        <p:spPr>
          <a:xfrm>
            <a:off x="82296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5</a:t>
            </a:r>
          </a:p>
        </p:txBody>
      </p:sp>
      <p:sp>
        <p:nvSpPr>
          <p:cNvPr id="24" name="TextBox 23"/>
          <p:cNvSpPr txBox="1"/>
          <p:nvPr/>
        </p:nvSpPr>
        <p:spPr>
          <a:xfrm>
            <a:off x="169164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Architecture investigation before change</a:t>
            </a:r>
          </a:p>
        </p:txBody>
      </p:sp>
      <p:sp>
        <p:nvSpPr>
          <p:cNvPr id="25" name="Rectangle 24"/>
          <p:cNvSpPr/>
          <p:nvPr/>
        </p:nvSpPr>
        <p:spPr>
          <a:xfrm>
            <a:off x="617220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7220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7220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6</a:t>
            </a:r>
          </a:p>
        </p:txBody>
      </p:sp>
      <p:sp>
        <p:nvSpPr>
          <p:cNvPr id="28" name="TextBox 27"/>
          <p:cNvSpPr txBox="1"/>
          <p:nvPr/>
        </p:nvSpPr>
        <p:spPr>
          <a:xfrm>
            <a:off x="704088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System-prompt engineering</a:t>
            </a:r>
          </a:p>
        </p:txBody>
      </p:sp>
      <p:sp>
        <p:nvSpPr>
          <p:cNvPr id="29" name="Rectangle 28"/>
          <p:cNvSpPr/>
          <p:nvPr/>
        </p:nvSpPr>
        <p:spPr>
          <a:xfrm>
            <a:off x="82296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7</a:t>
            </a:r>
          </a:p>
        </p:txBody>
      </p:sp>
      <p:sp>
        <p:nvSpPr>
          <p:cNvPr id="32" name="TextBox 31"/>
          <p:cNvSpPr txBox="1"/>
          <p:nvPr/>
        </p:nvSpPr>
        <p:spPr>
          <a:xfrm>
            <a:off x="169164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Multi-channel general assistance</a:t>
            </a:r>
          </a:p>
        </p:txBody>
      </p:sp>
      <p:sp>
        <p:nvSpPr>
          <p:cNvPr id="33" name="Rectangle 3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5" name="TextBox 3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07</a:t>
            </a:r>
          </a:p>
        </p:txBody>
      </p:sp>
      <p:sp>
        <p:nvSpPr>
          <p:cNvPr id="36" name="Rectangle 28"/>
          <p:cNvSpPr/>
          <p:nvPr/>
        </p:nvSpPr>
        <p:spPr>
          <a:xfrm>
            <a:off x="617220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29"/>
          <p:cNvSpPr/>
          <p:nvPr/>
        </p:nvSpPr>
        <p:spPr>
          <a:xfrm>
            <a:off x="617220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0"/>
          <p:cNvSpPr txBox="1"/>
          <p:nvPr/>
        </p:nvSpPr>
        <p:spPr>
          <a:xfrm>
            <a:off x="617220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8</a:t>
            </a:r>
          </a:p>
        </p:txBody>
      </p:sp>
      <p:sp>
        <p:nvSpPr>
          <p:cNvPr id="39" name="TextBox 31"/>
          <p:cNvSpPr txBox="1"/>
          <p:nvPr/>
        </p:nvSpPr>
        <p:spPr>
          <a:xfrm>
            <a:off x="704088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Invariant specification and repair</a:t>
            </a:r>
          </a:p>
        </p:txBody>
      </p:sp>
      <p:sp>
        <p:nvSpPr>
          <p:cNvPr id="40" name="Rectangle 28"/>
          <p:cNvSpPr/>
          <p:nvPr/>
        </p:nvSpPr>
        <p:spPr>
          <a:xfrm>
            <a:off x="822960" y="55433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29"/>
          <p:cNvSpPr/>
          <p:nvPr/>
        </p:nvSpPr>
        <p:spPr>
          <a:xfrm>
            <a:off x="822960" y="55433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30"/>
          <p:cNvSpPr txBox="1"/>
          <p:nvPr/>
        </p:nvSpPr>
        <p:spPr>
          <a:xfrm>
            <a:off x="822960" y="554330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9</a:t>
            </a:r>
          </a:p>
        </p:txBody>
      </p:sp>
      <p:sp>
        <p:nvSpPr>
          <p:cNvPr id="43" name="TextBox 31"/>
          <p:cNvSpPr txBox="1"/>
          <p:nvPr/>
        </p:nvSpPr>
        <p:spPr>
          <a:xfrm>
            <a:off x="1691640" y="554330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Cross-model iterative review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1</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Test-first bug fixing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most common pattern (~20% of tasks): report a bug, write a test that reproduces it, then fix the root cause and verify.</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700" b="1">
                <a:solidFill>
                  <a:srgbClr val="FDB515"/>
                </a:solidFill>
                <a:latin typeface="Arial"/>
              </a:rPr>
              <a:t>—  </a:t>
            </a:r>
            <a:r>
              <a:rPr sz="1700" b="1">
                <a:solidFill>
                  <a:srgbClr val="003262"/>
                </a:solidFill>
                <a:latin typeface="Arial"/>
              </a:rPr>
              <a:t>Three-step protocol:  </a:t>
            </a:r>
            <a:r>
              <a:rPr sz="1700">
                <a:solidFill>
                  <a:srgbClr val="1A1F2B"/>
                </a:solidFill>
                <a:latin typeface="Arial"/>
              </a:rPr>
              <a:t>report → reproduce with an integration test → fix root cause and confirm the test passes.</a:t>
            </a:r>
          </a:p>
          <a:p>
            <a:pPr algn="l">
              <a:lnSpc>
                <a:spcPct val="106000"/>
              </a:lnSpc>
              <a:spcAft>
                <a:spcPts val="1400"/>
              </a:spcAft>
            </a:pPr>
            <a:r>
              <a:rPr sz="1700" b="1">
                <a:solidFill>
                  <a:srgbClr val="FDB515"/>
                </a:solidFill>
                <a:latin typeface="Arial"/>
              </a:rPr>
              <a:t>—  </a:t>
            </a:r>
            <a:r>
              <a:rPr sz="1700" b="1">
                <a:solidFill>
                  <a:srgbClr val="003262"/>
                </a:solidFill>
                <a:latin typeface="Arial"/>
              </a:rPr>
              <a:t>Evidence, not edits:  </a:t>
            </a:r>
            <a:r>
              <a:rPr sz="1700">
                <a:solidFill>
                  <a:srgbClr val="1A1F2B"/>
                </a:solidFill>
                <a:latin typeface="Arial"/>
              </a:rPr>
              <a:t>a test that fails before and passes after proves the bug was real and the fix addressed it.</a:t>
            </a:r>
          </a:p>
          <a:p>
            <a:pPr algn="l">
              <a:lnSpc>
                <a:spcPct val="106000"/>
              </a:lnSpc>
              <a:spcAft>
                <a:spcPts val="1400"/>
              </a:spcAft>
            </a:pPr>
            <a:r>
              <a:rPr sz="1700" b="1">
                <a:solidFill>
                  <a:srgbClr val="FDB515"/>
                </a:solidFill>
                <a:latin typeface="Arial"/>
              </a:rPr>
              <a:t>—  </a:t>
            </a:r>
            <a:r>
              <a:rPr sz="1700" b="1">
                <a:solidFill>
                  <a:srgbClr val="003262"/>
                </a:solidFill>
                <a:latin typeface="Arial"/>
              </a:rPr>
              <a:t>Concurrency sub-class:  </a:t>
            </a:r>
            <a:r>
              <a:rPr sz="1700">
                <a:solidFill>
                  <a:srgbClr val="1A1F2B"/>
                </a:solidFill>
                <a:latin typeface="Arial"/>
              </a:rPr>
              <a:t>race conditions exposed by running many tabs and a remote server against one repo.</a:t>
            </a:r>
          </a:p>
          <a:p>
            <a:pPr algn="l">
              <a:lnSpc>
                <a:spcPct val="106000"/>
              </a:lnSpc>
              <a:spcAft>
                <a:spcPts val="1400"/>
              </a:spcAft>
            </a:pPr>
            <a:r>
              <a:rPr sz="1700" b="1">
                <a:solidFill>
                  <a:srgbClr val="FDB515"/>
                </a:solidFill>
                <a:latin typeface="Arial"/>
              </a:rPr>
              <a:t>—  </a:t>
            </a:r>
            <a:r>
              <a:rPr sz="1700" b="1">
                <a:solidFill>
                  <a:srgbClr val="003262"/>
                </a:solidFill>
                <a:latin typeface="Arial"/>
              </a:rPr>
              <a:t>Defensive revert:  </a:t>
            </a:r>
            <a:r>
              <a:rPr sz="1700">
                <a:solidFill>
                  <a:srgbClr val="1A1F2B"/>
                </a:solidFill>
                <a:latin typeface="Arial"/>
              </a:rPr>
              <a:t>“get rid of the last commit” recurs 30+ times — undo first, re-attempt fresh.</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700" b="0" i="1">
                <a:solidFill>
                  <a:srgbClr val="FFFFFF"/>
                </a:solidFill>
                <a:latin typeface="Arial"/>
              </a:rPr>
              <a:t>“Can you reproduce the bug by writing an integration test? Then fix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2</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Iterative feature construction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Features were never built in one task. Describe → observe → refine, often across 5–20 tasks in a single chat session.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700" b="1">
                <a:solidFill>
                  <a:srgbClr val="FDB515"/>
                </a:solidFill>
                <a:latin typeface="Arial"/>
              </a:rPr>
              <a:t>—  </a:t>
            </a:r>
            <a:r>
              <a:rPr sz="1700" b="1">
                <a:solidFill>
                  <a:srgbClr val="003262"/>
                </a:solidFill>
                <a:latin typeface="Arial"/>
              </a:rPr>
              <a:t>Remote web server:  </a:t>
            </a:r>
            <a:r>
              <a:rPr sz="1700">
                <a:solidFill>
                  <a:srgbClr val="1A1F2B"/>
                </a:solidFill>
                <a:latin typeface="Arial"/>
              </a:rPr>
              <a:t>started with one task, hardened over 60+ tasks — TLS, mobile layout, auth, URL discovery, robustness.</a:t>
            </a:r>
          </a:p>
          <a:p>
            <a:pPr algn="l">
              <a:lnSpc>
                <a:spcPct val="106000"/>
              </a:lnSpc>
              <a:spcAft>
                <a:spcPts val="1400"/>
              </a:spcAft>
            </a:pPr>
            <a:r>
              <a:rPr sz="1700" b="1">
                <a:solidFill>
                  <a:srgbClr val="FDB515"/>
                </a:solidFill>
                <a:latin typeface="Arial"/>
              </a:rPr>
              <a:t>—  </a:t>
            </a:r>
            <a:r>
              <a:rPr sz="1700" b="1">
                <a:solidFill>
                  <a:srgbClr val="003262"/>
                </a:solidFill>
                <a:latin typeface="Arial"/>
              </a:rPr>
              <a:t>Spec emerges from use:  </a:t>
            </a:r>
            <a:r>
              <a:rPr sz="1700">
                <a:solidFill>
                  <a:srgbClr val="1A1F2B"/>
                </a:solidFill>
                <a:latin typeface="Arial"/>
              </a:rPr>
              <a:t>no design document; each refinement was prompted by actually using the feature and hitting a limit.</a:t>
            </a:r>
          </a:p>
          <a:p>
            <a:pPr algn="l">
              <a:lnSpc>
                <a:spcPct val="106000"/>
              </a:lnSpc>
              <a:spcAft>
                <a:spcPts val="1400"/>
              </a:spcAft>
            </a:pPr>
            <a:r>
              <a:rPr sz="1700" b="1">
                <a:solidFill>
                  <a:srgbClr val="FDB515"/>
                </a:solidFill>
                <a:latin typeface="Arial"/>
              </a:rPr>
              <a:t>—  </a:t>
            </a:r>
            <a:r>
              <a:rPr sz="1700" b="1">
                <a:solidFill>
                  <a:srgbClr val="003262"/>
                </a:solidFill>
                <a:latin typeface="Arial"/>
              </a:rPr>
              <a:t>Interleaved with fixing:  </a:t>
            </a:r>
            <a:r>
              <a:rPr sz="1700">
                <a:solidFill>
                  <a:srgbClr val="1A1F2B"/>
                </a:solidFill>
                <a:latin typeface="Arial"/>
              </a:rPr>
              <a:t>~half the follow-ups in a feature session are themselves test-first bug reports.</a:t>
            </a:r>
          </a:p>
          <a:p>
            <a:pPr algn="l">
              <a:lnSpc>
                <a:spcPct val="106000"/>
              </a:lnSpc>
              <a:spcAft>
                <a:spcPts val="1400"/>
              </a:spcAft>
            </a:pPr>
            <a:r>
              <a:rPr sz="1700" b="1">
                <a:solidFill>
                  <a:srgbClr val="FDB515"/>
                </a:solidFill>
                <a:latin typeface="Arial"/>
              </a:rPr>
              <a:t>—  </a:t>
            </a:r>
            <a:r>
              <a:rPr sz="1700" b="1">
                <a:solidFill>
                  <a:srgbClr val="003262"/>
                </a:solidFill>
                <a:latin typeface="Arial"/>
              </a:rPr>
              <a:t>Demo mode:  </a:t>
            </a:r>
            <a:r>
              <a:rPr sz="1700">
                <a:solidFill>
                  <a:srgbClr val="1A1F2B"/>
                </a:solidFill>
                <a:latin typeface="Arial"/>
              </a:rPr>
              <a:t>refined over many days — a feature is never “done” when it first works.</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700" b="0" i="1">
                <a:solidFill>
                  <a:srgbClr val="FFFFFF"/>
                </a:solidFill>
                <a:latin typeface="Arial"/>
              </a:rPr>
              <a:t>“…implement a feature where the user can access KISS Sorcar from any device with a browser.”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3</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Periodic code hygiene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Every 20–30 tasks, the developer ran a dedicated cleanup sweep — decoupled from feature work.</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“uv run check --full and fix”:  </a:t>
            </a:r>
            <a:r>
              <a:rPr sz="2100">
                <a:solidFill>
                  <a:srgbClr val="1A1F2B"/>
                </a:solidFill>
                <a:latin typeface="Arial"/>
              </a:rPr>
              <a:t>the 2nd most frequent command in the log (50 verbatim occurrences).</a:t>
            </a:r>
          </a:p>
          <a:p>
            <a:pPr algn="l">
              <a:lnSpc>
                <a:spcPct val="106000"/>
              </a:lnSpc>
              <a:spcAft>
                <a:spcPts val="1800"/>
              </a:spcAft>
            </a:pPr>
            <a:r>
              <a:rPr sz="2100" b="1">
                <a:solidFill>
                  <a:srgbClr val="FDB515"/>
                </a:solidFill>
                <a:latin typeface="Arial"/>
              </a:rPr>
              <a:t>—  </a:t>
            </a:r>
            <a:r>
              <a:rPr sz="2100" b="1">
                <a:solidFill>
                  <a:srgbClr val="003262"/>
                </a:solidFill>
                <a:latin typeface="Arial"/>
              </a:rPr>
              <a:t>Directory audits:  </a:t>
            </a:r>
            <a:r>
              <a:rPr sz="2100">
                <a:solidFill>
                  <a:srgbClr val="1A1F2B"/>
                </a:solidFill>
                <a:latin typeface="Arial"/>
              </a:rPr>
              <a:t>“find all bugs, redundancies, and inconsistencies” invokes a collect-then-act discipline.</a:t>
            </a:r>
          </a:p>
          <a:p>
            <a:pPr algn="l">
              <a:lnSpc>
                <a:spcPct val="106000"/>
              </a:lnSpc>
              <a:spcAft>
                <a:spcPts val="1800"/>
              </a:spcAft>
            </a:pPr>
            <a:r>
              <a:rPr sz="2100" b="1">
                <a:solidFill>
                  <a:srgbClr val="FDB515"/>
                </a:solidFill>
                <a:latin typeface="Arial"/>
              </a:rPr>
              <a:t>—  </a:t>
            </a:r>
            <a:r>
              <a:rPr sz="2100" b="1">
                <a:solidFill>
                  <a:srgbClr val="003262"/>
                </a:solidFill>
                <a:latin typeface="Arial"/>
              </a:rPr>
              <a:t>Honest test oracle:  </a:t>
            </a:r>
            <a:r>
              <a:rPr sz="2100">
                <a:solidFill>
                  <a:srgbClr val="1A1F2B"/>
                </a:solidFill>
                <a:latin typeface="Arial"/>
              </a:rPr>
              <a:t>“fix tests only if there is no bug in the code — report the bugs” guards against weakened assertions.</a:t>
            </a:r>
          </a:p>
          <a:p>
            <a:pPr algn="l">
              <a:lnSpc>
                <a:spcPct val="106000"/>
              </a:lnSpc>
              <a:spcAft>
                <a:spcPts val="1800"/>
              </a:spcAft>
            </a:pPr>
            <a:r>
              <a:rPr sz="2100" b="1">
                <a:solidFill>
                  <a:srgbClr val="FDB515"/>
                </a:solidFill>
                <a:latin typeface="Arial"/>
              </a:rPr>
              <a:t>—  </a:t>
            </a:r>
            <a:r>
              <a:rPr sz="2100" b="1">
                <a:solidFill>
                  <a:srgbClr val="003262"/>
                </a:solidFill>
                <a:latin typeface="Arial"/>
              </a:rPr>
              <a:t>Garbage collection:  </a:t>
            </a:r>
            <a:r>
              <a:rPr sz="2100">
                <a:solidFill>
                  <a:srgbClr val="1A1F2B"/>
                </a:solidFill>
                <a:latin typeface="Arial"/>
              </a:rPr>
              <a:t>lets small inconsistencies accumulate, then clears them in one pass.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4</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Paper–code co-evolution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system prompt and the paper describing it evolved together — a self-hosted documentation loop.</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Code-to-paper:  </a:t>
            </a:r>
            <a:r>
              <a:rPr sz="2100">
                <a:solidFill>
                  <a:srgbClr val="1A1F2B"/>
                </a:solidFill>
                <a:latin typeface="Arial"/>
              </a:rPr>
              <a:t>“SYSTEM.md has changed — update and build the paper” (Tasks 84, 167, 233, 261, 274, 312, 665, 693, 766…).</a:t>
            </a:r>
          </a:p>
          <a:p>
            <a:pPr algn="l">
              <a:lnSpc>
                <a:spcPct val="106000"/>
              </a:lnSpc>
              <a:spcAft>
                <a:spcPts val="1800"/>
              </a:spcAft>
            </a:pPr>
            <a:r>
              <a:rPr sz="2100" b="1">
                <a:solidFill>
                  <a:srgbClr val="FDB515"/>
                </a:solidFill>
                <a:latin typeface="Arial"/>
              </a:rPr>
              <a:t>—  </a:t>
            </a:r>
            <a:r>
              <a:rPr sz="2100" b="1">
                <a:solidFill>
                  <a:srgbClr val="003262"/>
                </a:solidFill>
                <a:latin typeface="Arial"/>
              </a:rPr>
              <a:t>Consistency audits:  </a:t>
            </a:r>
            <a:r>
              <a:rPr sz="2100">
                <a:solidFill>
                  <a:srgbClr val="1A1F2B"/>
                </a:solidFill>
                <a:latin typeface="Arial"/>
              </a:rPr>
              <a:t>“check the paper against itself and the latest code” closes the loop — divergence is mechanically detectable.</a:t>
            </a:r>
          </a:p>
          <a:p>
            <a:pPr algn="l">
              <a:lnSpc>
                <a:spcPct val="106000"/>
              </a:lnSpc>
              <a:spcAft>
                <a:spcPts val="1800"/>
              </a:spcAft>
            </a:pPr>
            <a:r>
              <a:rPr sz="2100" b="1">
                <a:solidFill>
                  <a:srgbClr val="FDB515"/>
                </a:solidFill>
                <a:latin typeface="Arial"/>
              </a:rPr>
              <a:t>—  </a:t>
            </a:r>
            <a:r>
              <a:rPr sz="2100" b="1">
                <a:solidFill>
                  <a:srgbClr val="003262"/>
                </a:solidFill>
                <a:latin typeface="Arial"/>
              </a:rPr>
              <a:t>Paper-to-code:  </a:t>
            </a:r>
            <a:r>
              <a:rPr sz="2100">
                <a:solidFill>
                  <a:srgbClr val="1A1F2B"/>
                </a:solidFill>
                <a:latin typeface="Arial"/>
              </a:rPr>
              <a:t>Task 700 used the paper as source of truth — typo fixes in the paper were propagated back into SYSTEM.md.</a:t>
            </a:r>
          </a:p>
          <a:p>
            <a:pPr algn="l">
              <a:lnSpc>
                <a:spcPct val="106000"/>
              </a:lnSpc>
              <a:spcAft>
                <a:spcPts val="1800"/>
              </a:spcAft>
            </a:pPr>
            <a:r>
              <a:rPr sz="2100" b="1">
                <a:solidFill>
                  <a:srgbClr val="FDB515"/>
                </a:solidFill>
                <a:latin typeface="Arial"/>
              </a:rPr>
              <a:t>—  </a:t>
            </a:r>
            <a:r>
              <a:rPr sz="2100" b="1">
                <a:solidFill>
                  <a:srgbClr val="003262"/>
                </a:solidFill>
                <a:latin typeface="Arial"/>
              </a:rPr>
              <a:t>High volume:  </a:t>
            </a:r>
            <a:r>
              <a:rPr sz="2100">
                <a:solidFill>
                  <a:srgbClr val="1A1F2B"/>
                </a:solidFill>
                <a:latin typeface="Arial"/>
              </a:rPr>
              <a:t>“build the paper” appears in 73 tasks — one of the highest-volume non-coding activities in the log.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5</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Architecture investigation before change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Before non-trivial changes, the developer asks the agent to explain the current design — “understand before you change.”</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dirty="0">
                <a:solidFill>
                  <a:srgbClr val="FDB515"/>
                </a:solidFill>
                <a:latin typeface="Arial"/>
              </a:rPr>
              <a:t>—  </a:t>
            </a:r>
            <a:r>
              <a:rPr sz="2100" b="1" dirty="0">
                <a:solidFill>
                  <a:srgbClr val="003262"/>
                </a:solidFill>
                <a:latin typeface="Arial"/>
              </a:rPr>
              <a:t>Explain first:  </a:t>
            </a:r>
            <a:r>
              <a:rPr sz="2100" dirty="0">
                <a:solidFill>
                  <a:srgbClr val="1A1F2B"/>
                </a:solidFill>
                <a:latin typeface="Arial"/>
              </a:rPr>
              <a:t>“show me the step-by-step workflow of </a:t>
            </a:r>
            <a:r>
              <a:rPr sz="2100" dirty="0" err="1">
                <a:solidFill>
                  <a:srgbClr val="1A1F2B"/>
                </a:solidFill>
                <a:latin typeface="Arial"/>
              </a:rPr>
              <a:t>web_server.py</a:t>
            </a:r>
            <a:r>
              <a:rPr sz="2100" dirty="0">
                <a:solidFill>
                  <a:srgbClr val="1A1F2B"/>
                </a:solidFill>
                <a:latin typeface="Arial"/>
              </a:rPr>
              <a:t>”; “what happens when two tasks run at once?”</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No translation loss:  </a:t>
            </a:r>
            <a:r>
              <a:rPr sz="2100" dirty="0">
                <a:solidFill>
                  <a:srgbClr val="1A1F2B"/>
                </a:solidFill>
                <a:latin typeface="Arial"/>
              </a:rPr>
              <a:t>the same agent produces both the explanation and the subsequent edits over the same source.</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Visual variant:  </a:t>
            </a:r>
            <a:r>
              <a:rPr sz="2100" dirty="0">
                <a:solidFill>
                  <a:srgbClr val="1A1F2B"/>
                </a:solidFill>
                <a:latin typeface="Arial"/>
              </a:rPr>
              <a:t>“create a graph diagram of how the server-side files are related” before reorganizing them.</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Front-loaded comprehension:  </a:t>
            </a:r>
            <a:r>
              <a:rPr sz="2100" dirty="0">
                <a:solidFill>
                  <a:srgbClr val="1A1F2B"/>
                </a:solidFill>
                <a:latin typeface="Arial"/>
              </a:rPr>
              <a:t>turns a vague aspiration into a precise, local edit request.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(1 of 3), no file ever opened by hand.</a:t>
            </a:r>
          </a:p>
        </p:txBody>
      </p:sp>
      <p:sp>
        <p:nvSpPr>
          <p:cNvPr id="100" name="CardBg1"/>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1"/>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1"/>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1  </a:t>
            </a:r>
            <a:r>
              <a:rPr sz="2000" b="1">
                <a:solidFill>
                  <a:srgbClr val="003262"/>
                </a:solidFill>
                <a:latin typeface="Arial"/>
              </a:rPr>
              <a:t>Elicit</a:t>
            </a:r>
          </a:p>
        </p:txBody>
      </p:sp>
      <p:sp>
        <p:nvSpPr>
          <p:cNvPr id="103" name="CardPrompt1"/>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tell me what happens, step by step, with git in worktree_sorcar_agent.py when a task finishes?</a:t>
            </a:r>
          </a:p>
        </p:txBody>
      </p:sp>
      <p:sp>
        <p:nvSpPr>
          <p:cNvPr id="110" name="CardBg2"/>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2"/>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2"/>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2  </a:t>
            </a:r>
            <a:r>
              <a:rPr sz="2000" b="1">
                <a:solidFill>
                  <a:srgbClr val="003262"/>
                </a:solidFill>
                <a:latin typeface="Arial"/>
              </a:rPr>
              <a:t>Revise</a:t>
            </a:r>
          </a:p>
        </p:txBody>
      </p:sp>
      <p:sp>
        <p:nvSpPr>
          <p:cNvPr id="113" name="CardPrompt2"/>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change worktree_sorcar_agent.py and the extension so that after the agent finishes its task, it simply asks "Commit and Merge" or "Discard". When "Commit and Merge" is clicked by the user, the agent must commit the changes with a generated commit message, merge the branch with the original branch, and delete the worktree and the branch associated with the worktree. If the user clicks "discard", it must delete the worktree and the branch, and checkout the original branch.</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17</a:t>
            </a:r>
          </a:p>
        </p:txBody>
      </p:sp>
    </p:spTree>
    <p:extLst>
      <p:ext uri="{BB962C8B-B14F-4D97-AF65-F5344CB8AC3E}">
        <p14:creationId xmlns:p14="http://schemas.microsoft.com/office/powerpoint/2010/main" val="18370079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(2 of 3), no file ever opened by hand.</a:t>
            </a:r>
          </a:p>
        </p:txBody>
      </p:sp>
      <p:sp>
        <p:nvSpPr>
          <p:cNvPr id="100" name="CardBg3"/>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3"/>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3"/>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3  </a:t>
            </a:r>
            <a:r>
              <a:rPr sz="2000" b="1">
                <a:solidFill>
                  <a:srgbClr val="003262"/>
                </a:solidFill>
                <a:latin typeface="Arial"/>
              </a:rPr>
              <a:t>Diagnose</a:t>
            </a:r>
          </a:p>
        </p:txBody>
      </p:sp>
      <p:sp>
        <p:nvSpPr>
          <p:cNvPr id="103" name="CardPrompt3"/>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After the user presses "Commit and Merge", why do the modified files show up as committed in the original branch?</a:t>
            </a:r>
          </a:p>
        </p:txBody>
      </p:sp>
      <p:sp>
        <p:nvSpPr>
          <p:cNvPr id="110" name="CardBg4"/>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4"/>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4"/>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4  </a:t>
            </a:r>
            <a:r>
              <a:rPr sz="2000" b="1">
                <a:solidFill>
                  <a:srgbClr val="003262"/>
                </a:solidFill>
                <a:latin typeface="Arial"/>
              </a:rPr>
              <a:t>Fix</a:t>
            </a:r>
          </a:p>
        </p:txBody>
      </p:sp>
      <p:sp>
        <p:nvSpPr>
          <p:cNvPr id="113" name="CardPrompt4"/>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The review is already happening in the worktree branch. You don't need the user to review the modified and new files in the original branch. Fix it.</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18</a:t>
            </a:r>
          </a:p>
        </p:txBody>
      </p:sp>
    </p:spTree>
    <p:extLst>
      <p:ext uri="{BB962C8B-B14F-4D97-AF65-F5344CB8AC3E}">
        <p14:creationId xmlns:p14="http://schemas.microsoft.com/office/powerpoint/2010/main" val="22638605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(3 of 3), no file ever opened by hand.</a:t>
            </a:r>
          </a:p>
        </p:txBody>
      </p:sp>
      <p:sp>
        <p:nvSpPr>
          <p:cNvPr id="100" name="CardBg5"/>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5"/>
          <p:cNvSpPr/>
          <p:nvPr/>
        </p:nvSpPr>
        <p:spPr>
          <a:xfrm>
            <a:off x="81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5"/>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5  </a:t>
            </a:r>
            <a:r>
              <a:rPr sz="2000" b="1">
                <a:solidFill>
                  <a:srgbClr val="003262"/>
                </a:solidFill>
                <a:latin typeface="Arial"/>
              </a:rPr>
              <a:t>Audit</a:t>
            </a:r>
          </a:p>
        </p:txBody>
      </p:sp>
      <p:sp>
        <p:nvSpPr>
          <p:cNvPr id="103" name="CardPrompt5"/>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to my uncommitted changes if I start a task while the working tree is dirty and then click "Commit and Merge"?</a:t>
            </a:r>
          </a:p>
        </p:txBody>
      </p:sp>
      <p:sp>
        <p:nvSpPr>
          <p:cNvPr id="110" name="CardBg6"/>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6"/>
          <p:cNvSpPr/>
          <p:nvPr/>
        </p:nvSpPr>
        <p:spPr>
          <a:xfrm>
            <a:off x="619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6"/>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6  </a:t>
            </a:r>
            <a:r>
              <a:rPr sz="2000" b="1">
                <a:solidFill>
                  <a:srgbClr val="003262"/>
                </a:solidFill>
                <a:latin typeface="Arial"/>
              </a:rPr>
              <a:t>Audit</a:t>
            </a:r>
          </a:p>
        </p:txBody>
      </p:sp>
      <p:sp>
        <p:nvSpPr>
          <p:cNvPr id="113" name="CardPrompt6"/>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if two tabs both press "Commit and Merge" on the same repo at the same time? Can the checkout/merge steps interleave?</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19</a:t>
            </a:r>
          </a:p>
        </p:txBody>
      </p:sp>
    </p:spTree>
    <p:extLst>
      <p:ext uri="{BB962C8B-B14F-4D97-AF65-F5344CB8AC3E}">
        <p14:creationId xmlns:p14="http://schemas.microsoft.com/office/powerpoint/2010/main" val="1471008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6</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System-prompt engineering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~100 tasks refined the system prompt itself — treated as production code, tested against observed behavior.</a:t>
            </a:r>
          </a:p>
        </p:txBody>
      </p:sp>
      <p:sp>
        <p:nvSpPr>
          <p:cNvPr id="6" name="TextBox 5"/>
          <p:cNvSpPr txBox="1"/>
          <p:nvPr/>
        </p:nvSpPr>
        <p:spPr>
          <a:xfrm>
            <a:off x="822960" y="2743200"/>
            <a:ext cx="10607040" cy="1919180"/>
          </a:xfrm>
          <a:prstGeom prst="rect">
            <a:avLst/>
          </a:prstGeom>
          <a:noFill/>
        </p:spPr>
        <p:txBody>
          <a:bodyPr wrap="square" lIns="0" tIns="0" rIns="0" bIns="0" anchor="t">
            <a:spAutoFit/>
          </a:bodyPr>
          <a:lstStyle/>
          <a:p>
            <a:pPr algn="l">
              <a:lnSpc>
                <a:spcPct val="106000"/>
              </a:lnSpc>
              <a:spcAft>
                <a:spcPts val="1800"/>
              </a:spcAft>
            </a:pPr>
            <a:r>
              <a:rPr sz="2100" b="1" dirty="0">
                <a:solidFill>
                  <a:srgbClr val="FDB515"/>
                </a:solidFill>
                <a:latin typeface="Arial"/>
              </a:rPr>
              <a:t>—  </a:t>
            </a:r>
            <a:r>
              <a:rPr sz="2100" b="1" dirty="0">
                <a:solidFill>
                  <a:srgbClr val="003262"/>
                </a:solidFill>
                <a:latin typeface="Arial"/>
              </a:rPr>
              <a:t>Log as test data:  </a:t>
            </a:r>
            <a:r>
              <a:rPr sz="2100" dirty="0">
                <a:solidFill>
                  <a:srgbClr val="1A1F2B"/>
                </a:solidFill>
                <a:latin typeface="Arial"/>
              </a:rPr>
              <a:t>“</a:t>
            </a:r>
            <a:r>
              <a:rPr lang="en-US" sz="2100" dirty="0">
                <a:solidFill>
                  <a:srgbClr val="1A1F2B"/>
                </a:solidFill>
                <a:latin typeface="Arial"/>
              </a:rPr>
              <a:t>L</a:t>
            </a:r>
            <a:r>
              <a:rPr sz="2100" dirty="0">
                <a:solidFill>
                  <a:srgbClr val="1A1F2B"/>
                </a:solidFill>
                <a:latin typeface="Arial"/>
              </a:rPr>
              <a:t>ook at </a:t>
            </a:r>
            <a:r>
              <a:rPr lang="en-US" sz="2100" dirty="0">
                <a:solidFill>
                  <a:srgbClr val="1A1F2B"/>
                </a:solidFill>
                <a:latin typeface="Arial"/>
              </a:rPr>
              <a:t>this week’s</a:t>
            </a:r>
            <a:r>
              <a:rPr sz="2100" dirty="0">
                <a:solidFill>
                  <a:srgbClr val="1A1F2B"/>
                </a:solidFill>
                <a:latin typeface="Arial"/>
              </a:rPr>
              <a:t> tasks</a:t>
            </a:r>
            <a:r>
              <a:rPr lang="en-US" sz="2100" dirty="0">
                <a:solidFill>
                  <a:srgbClr val="1A1F2B"/>
                </a:solidFill>
                <a:latin typeface="Arial"/>
              </a:rPr>
              <a:t> and their trajectories</a:t>
            </a:r>
            <a:r>
              <a:rPr sz="2100" dirty="0">
                <a:solidFill>
                  <a:srgbClr val="1A1F2B"/>
                </a:solidFill>
                <a:latin typeface="Arial"/>
              </a:rPr>
              <a:t>; which instructions </a:t>
            </a:r>
            <a:r>
              <a:rPr lang="en-US" sz="2100" dirty="0">
                <a:solidFill>
                  <a:srgbClr val="1A1F2B"/>
                </a:solidFill>
                <a:latin typeface="Arial"/>
              </a:rPr>
              <a:t>in the system prompt </a:t>
            </a:r>
            <a:r>
              <a:rPr sz="2100" dirty="0">
                <a:solidFill>
                  <a:srgbClr val="1A1F2B"/>
                </a:solidFill>
                <a:latin typeface="Arial"/>
              </a:rPr>
              <a:t>are not being followed? </a:t>
            </a:r>
            <a:r>
              <a:rPr lang="en-US" sz="2100" dirty="0">
                <a:solidFill>
                  <a:srgbClr val="1A1F2B"/>
                </a:solidFill>
                <a:latin typeface="Arial"/>
              </a:rPr>
              <a:t>Write a test with a real task and real LLM call to reproduce each issue. </a:t>
            </a:r>
            <a:r>
              <a:rPr sz="2100" dirty="0">
                <a:solidFill>
                  <a:srgbClr val="1A1F2B"/>
                </a:solidFill>
                <a:latin typeface="Arial"/>
              </a:rPr>
              <a:t>Fix the</a:t>
            </a:r>
            <a:r>
              <a:rPr lang="en-US" sz="2100" dirty="0">
                <a:solidFill>
                  <a:srgbClr val="1A1F2B"/>
                </a:solidFill>
                <a:latin typeface="Arial"/>
              </a:rPr>
              <a:t> system prompt</a:t>
            </a:r>
            <a:r>
              <a:rPr sz="2100" dirty="0">
                <a:solidFill>
                  <a:srgbClr val="1A1F2B"/>
                </a:solidFill>
                <a:latin typeface="Arial"/>
              </a:rPr>
              <a:t>.</a:t>
            </a:r>
            <a:r>
              <a:rPr lang="en-US" sz="2100" dirty="0">
                <a:solidFill>
                  <a:srgbClr val="1A1F2B"/>
                </a:solidFill>
                <a:latin typeface="Arial"/>
              </a:rPr>
              <a:t> Test.</a:t>
            </a:r>
            <a:r>
              <a:rPr sz="2100" dirty="0">
                <a:solidFill>
                  <a:srgbClr val="1A1F2B"/>
                </a:solidFill>
                <a:latin typeface="Arial"/>
              </a:rPr>
              <a:t>”</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Mutation testing for a spec:  </a:t>
            </a:r>
            <a:r>
              <a:rPr sz="2100" dirty="0">
                <a:solidFill>
                  <a:srgbClr val="1A1F2B"/>
                </a:solidFill>
                <a:latin typeface="Arial"/>
              </a:rPr>
              <a:t>write a real-LLM test to confirm an observed deviation, then patch the prompt.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7</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Multi-channel general assistance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same prompt and architecture serve non-coding tasks — one agent, one prompt, one architecture, scaling across domains.</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Smart home:  </a:t>
            </a:r>
            <a:r>
              <a:rPr sz="2100">
                <a:solidFill>
                  <a:srgbClr val="1A1F2B"/>
                </a:solidFill>
                <a:latin typeface="Arial"/>
              </a:rPr>
              <a:t>Govee lights.   Travel: Yosemite trip planning.</a:t>
            </a:r>
          </a:p>
          <a:p>
            <a:pPr algn="l">
              <a:lnSpc>
                <a:spcPct val="106000"/>
              </a:lnSpc>
              <a:spcAft>
                <a:spcPts val="1800"/>
              </a:spcAft>
            </a:pPr>
            <a:r>
              <a:rPr sz="2100" b="1">
                <a:solidFill>
                  <a:srgbClr val="FDB515"/>
                </a:solidFill>
                <a:latin typeface="Arial"/>
              </a:rPr>
              <a:t>—  </a:t>
            </a:r>
            <a:r>
              <a:rPr sz="2100" b="1">
                <a:solidFill>
                  <a:srgbClr val="003262"/>
                </a:solidFill>
                <a:latin typeface="Arial"/>
              </a:rPr>
              <a:t>Weather, shopping, finance:  </a:t>
            </a:r>
            <a:r>
              <a:rPr sz="2100">
                <a:solidFill>
                  <a:srgbClr val="1A1F2B"/>
                </a:solidFill>
                <a:latin typeface="Arial"/>
              </a:rPr>
              <a:t>current-data queries and ETF analysis.</a:t>
            </a:r>
          </a:p>
          <a:p>
            <a:pPr algn="l">
              <a:lnSpc>
                <a:spcPct val="106000"/>
              </a:lnSpc>
              <a:spcAft>
                <a:spcPts val="1800"/>
              </a:spcAft>
            </a:pPr>
            <a:r>
              <a:rPr sz="2100" b="1">
                <a:solidFill>
                  <a:srgbClr val="FDB515"/>
                </a:solidFill>
                <a:latin typeface="Arial"/>
              </a:rPr>
              <a:t>—  </a:t>
            </a:r>
            <a:r>
              <a:rPr sz="2100" b="1">
                <a:solidFill>
                  <a:srgbClr val="003262"/>
                </a:solidFill>
                <a:latin typeface="Arial"/>
              </a:rPr>
              <a:t>Communication:  </a:t>
            </a:r>
            <a:r>
              <a:rPr sz="2100">
                <a:solidFill>
                  <a:srgbClr val="1A1F2B"/>
                </a:solidFill>
                <a:latin typeface="Arial"/>
              </a:rPr>
              <a:t>Slack, iMessage, Gmail — uniform third-party agent interface, no special routing.</a:t>
            </a:r>
          </a:p>
          <a:p>
            <a:pPr algn="l">
              <a:lnSpc>
                <a:spcPct val="106000"/>
              </a:lnSpc>
              <a:spcAft>
                <a:spcPts val="1800"/>
              </a:spcAft>
            </a:pPr>
            <a:r>
              <a:rPr sz="2100" b="1">
                <a:solidFill>
                  <a:srgbClr val="FDB515"/>
                </a:solidFill>
                <a:latin typeface="Arial"/>
              </a:rPr>
              <a:t>—  </a:t>
            </a:r>
            <a:r>
              <a:rPr sz="2100" b="1">
                <a:solidFill>
                  <a:srgbClr val="003262"/>
                </a:solidFill>
                <a:latin typeface="Arial"/>
              </a:rPr>
              <a:t>Same rigor off-task:  </a:t>
            </a:r>
            <a:r>
              <a:rPr sz="2100">
                <a:solidFill>
                  <a:srgbClr val="1A1F2B"/>
                </a:solidFill>
                <a:latin typeface="Arial"/>
              </a:rPr>
              <a:t>Web Research protocol applies; an unethical hacking request was refused with five legitimate alternatives.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4011740"/>
            <a:ext cx="3520440" cy="754758"/>
          </a:xfrm>
          <a:prstGeom prst="rect">
            <a:avLst/>
          </a:prstGeom>
          <a:noFill/>
        </p:spPr>
        <p:txBody>
          <a:bodyPr wrap="square" lIns="0" tIns="0" rIns="0" bIns="0" anchor="ctr">
            <a:spAutoFit/>
          </a:bodyPr>
          <a:lstStyle/>
          <a:p>
            <a:pPr>
              <a:lnSpc>
                <a:spcPct val="112000"/>
              </a:lnSpc>
              <a:spcAft>
                <a:spcPts val="800"/>
              </a:spcAft>
            </a:pPr>
            <a:r>
              <a:rPr lang="en-US" sz="1500" i="1" dirty="0">
                <a:solidFill>
                  <a:srgbClr val="FFFFFF"/>
                </a:solidFill>
                <a:latin typeface="Arial"/>
              </a:rPr>
              <a:t>“The remote web server MUST remain responsive even after the MacBook lid is closed.</a:t>
            </a:r>
            <a:r>
              <a:rPr sz="1500" b="0" i="1" dirty="0">
                <a:solidFill>
                  <a:srgbClr val="FFFFFF"/>
                </a:solidFill>
                <a:latin typeface="Arial"/>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941F0-0FB9-B3B1-D039-513C6294D82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F56C5A3-78BB-F7C8-D75E-819B29CBD7BE}"/>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E4C919C-C191-B0D7-D00E-5E4C806DB7C6}"/>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a:extLst>
              <a:ext uri="{FF2B5EF4-FFF2-40B4-BE49-F238E27FC236}">
                <a16:creationId xmlns:a16="http://schemas.microsoft.com/office/drawing/2014/main" id="{0C0B4FCF-D6BB-C044-3B99-4E58565E859A}"/>
              </a:ext>
            </a:extLst>
          </p:cNvPr>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a:extLst>
              <a:ext uri="{FF2B5EF4-FFF2-40B4-BE49-F238E27FC236}">
                <a16:creationId xmlns:a16="http://schemas.microsoft.com/office/drawing/2014/main" id="{CF187E9B-D0B4-D119-4D5B-AF8347E2A499}"/>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a:extLst>
              <a:ext uri="{FF2B5EF4-FFF2-40B4-BE49-F238E27FC236}">
                <a16:creationId xmlns:a16="http://schemas.microsoft.com/office/drawing/2014/main" id="{18DB912E-425F-E4EF-E7F6-D9B58B5028CE}"/>
              </a:ext>
            </a:extLst>
          </p:cNvPr>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a:extLst>
              <a:ext uri="{FF2B5EF4-FFF2-40B4-BE49-F238E27FC236}">
                <a16:creationId xmlns:a16="http://schemas.microsoft.com/office/drawing/2014/main" id="{3EAA8EAA-81E5-B4DA-9FA2-330933D59E04}"/>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2A6B2792-F052-96CA-B84E-F18594A1B68E}"/>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B39D6703-C0A8-9AEF-6523-7A28F8B2E040}"/>
              </a:ext>
            </a:extLst>
          </p:cNvPr>
          <p:cNvSpPr txBox="1"/>
          <p:nvPr/>
        </p:nvSpPr>
        <p:spPr>
          <a:xfrm>
            <a:off x="7498080" y="4042871"/>
            <a:ext cx="3520440" cy="692497"/>
          </a:xfrm>
          <a:prstGeom prst="rect">
            <a:avLst/>
          </a:prstGeom>
          <a:noFill/>
        </p:spPr>
        <p:txBody>
          <a:bodyPr wrap="square" lIns="0" tIns="0" rIns="0" bIns="0" anchor="ctr">
            <a:spAutoFit/>
          </a:bodyPr>
          <a:lstStyle/>
          <a:p>
            <a:r>
              <a:rPr lang="en-US" sz="1500" i="1" dirty="0">
                <a:solidFill>
                  <a:srgbClr val="FFFFFF"/>
                </a:solidFill>
                <a:latin typeface="Arial"/>
              </a:rPr>
              <a:t>“The Sorcar CLI MUST set </a:t>
            </a:r>
            <a:r>
              <a:rPr lang="en-US" sz="1500" i="1" dirty="0" err="1">
                <a:solidFill>
                  <a:srgbClr val="FFFFFF"/>
                </a:solidFill>
                <a:latin typeface="Arial"/>
              </a:rPr>
              <a:t>worktree</a:t>
            </a:r>
            <a:r>
              <a:rPr lang="en-US" sz="1500" i="1" dirty="0">
                <a:solidFill>
                  <a:srgbClr val="FFFFFF"/>
                </a:solidFill>
                <a:latin typeface="Arial"/>
              </a:rPr>
              <a:t> mode on, parallel mode on, and auto-commit on by default.</a:t>
            </a:r>
            <a:r>
              <a:rPr sz="1500" i="1" dirty="0">
                <a:solidFill>
                  <a:srgbClr val="FFFFFF"/>
                </a:solidFill>
                <a:latin typeface="Arial"/>
              </a:rPr>
              <a:t>”</a:t>
            </a:r>
          </a:p>
        </p:txBody>
      </p:sp>
    </p:spTree>
    <p:extLst>
      <p:ext uri="{BB962C8B-B14F-4D97-AF65-F5344CB8AC3E}">
        <p14:creationId xmlns:p14="http://schemas.microsoft.com/office/powerpoint/2010/main" val="24077324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52CEE-F829-C23B-F1F0-5D31110D2FE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F3F116C-9CD8-711A-B41A-CA4285021745}"/>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54C1749-671E-E926-87C9-77A201A53EC5}"/>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a:extLst>
              <a:ext uri="{FF2B5EF4-FFF2-40B4-BE49-F238E27FC236}">
                <a16:creationId xmlns:a16="http://schemas.microsoft.com/office/drawing/2014/main" id="{992CDE05-E1F2-315A-60DF-4B183F694042}"/>
              </a:ext>
            </a:extLst>
          </p:cNvPr>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a:extLst>
              <a:ext uri="{FF2B5EF4-FFF2-40B4-BE49-F238E27FC236}">
                <a16:creationId xmlns:a16="http://schemas.microsoft.com/office/drawing/2014/main" id="{F5351F28-F970-C03F-6E32-A5BBB477DE9B}"/>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a:extLst>
              <a:ext uri="{FF2B5EF4-FFF2-40B4-BE49-F238E27FC236}">
                <a16:creationId xmlns:a16="http://schemas.microsoft.com/office/drawing/2014/main" id="{6F82916E-D6EF-4099-D5A3-AE98B1FA0C86}"/>
              </a:ext>
            </a:extLst>
          </p:cNvPr>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a:extLst>
              <a:ext uri="{FF2B5EF4-FFF2-40B4-BE49-F238E27FC236}">
                <a16:creationId xmlns:a16="http://schemas.microsoft.com/office/drawing/2014/main" id="{B312CF0A-9813-00CF-4C5A-0965E31CEE6A}"/>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6B97681A-5AEF-2CA9-ACDA-C01948110F5E}"/>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5765AA98-33B8-EAF1-5455-262AFF87DF6C}"/>
              </a:ext>
            </a:extLst>
          </p:cNvPr>
          <p:cNvSpPr txBox="1"/>
          <p:nvPr/>
        </p:nvSpPr>
        <p:spPr>
          <a:xfrm>
            <a:off x="7498080" y="4011740"/>
            <a:ext cx="3520440" cy="754758"/>
          </a:xfrm>
          <a:prstGeom prst="rect">
            <a:avLst/>
          </a:prstGeom>
          <a:noFill/>
        </p:spPr>
        <p:txBody>
          <a:bodyPr wrap="square" lIns="0" tIns="0" rIns="0" bIns="0" anchor="ctr">
            <a:spAutoFit/>
          </a:bodyPr>
          <a:lstStyle/>
          <a:p>
            <a:pPr>
              <a:lnSpc>
                <a:spcPct val="112000"/>
              </a:lnSpc>
              <a:spcAft>
                <a:spcPts val="800"/>
              </a:spcAft>
            </a:pPr>
            <a:r>
              <a:rPr lang="en-US" sz="1500" i="1" dirty="0">
                <a:solidFill>
                  <a:srgbClr val="FFFFFF"/>
                </a:solidFill>
                <a:latin typeface="Arial"/>
              </a:rPr>
              <a:t>“The remote web server MUST remain responsive even after the MacBook lid is closed.</a:t>
            </a:r>
            <a:r>
              <a:rPr sz="1500" b="0" i="1" dirty="0">
                <a:solidFill>
                  <a:srgbClr val="FFFFFF"/>
                </a:solidFill>
                <a:latin typeface="Arial"/>
              </a:rPr>
              <a:t>”</a:t>
            </a:r>
          </a:p>
        </p:txBody>
      </p:sp>
    </p:spTree>
    <p:extLst>
      <p:ext uri="{BB962C8B-B14F-4D97-AF65-F5344CB8AC3E}">
        <p14:creationId xmlns:p14="http://schemas.microsoft.com/office/powerpoint/2010/main" val="1999060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p:cNvSpPr txBox="1"/>
          <p:nvPr/>
        </p:nvSpPr>
        <p:spPr>
          <a:xfrm>
            <a:off x="822960" y="868680"/>
            <a:ext cx="10515600" cy="523220"/>
          </a:xfrm>
          <a:prstGeom prst="rect">
            <a:avLst/>
          </a:prstGeom>
          <a:noFill/>
        </p:spPr>
        <p:txBody>
          <a:bodyPr wrap="square" lIns="0" tIns="0" rIns="0" bIns="0" anchor="t">
            <a:spAutoFit/>
          </a:bodyPr>
          <a:lstStyle/>
          <a:p>
            <a:pPr algn="l">
              <a:lnSpc>
                <a:spcPct val="100000"/>
              </a:lnSpc>
              <a:spcBef>
                <a:spcPts val="0"/>
              </a:spcBef>
              <a:spcAft>
                <a:spcPts val="800"/>
              </a:spcAft>
            </a:pPr>
            <a:r>
              <a:rPr sz="3400" b="1" i="0" dirty="0">
                <a:solidFill>
                  <a:srgbClr val="003262"/>
                </a:solidFill>
                <a:latin typeface="Arial"/>
              </a:rPr>
              <a:t>Cross-model </a:t>
            </a:r>
            <a:r>
              <a:rPr lang="en-US" sz="3400" b="1" i="0" dirty="0">
                <a:solidFill>
                  <a:srgbClr val="003262"/>
                </a:solidFill>
                <a:latin typeface="Arial"/>
              </a:rPr>
              <a:t>workflow</a:t>
            </a:r>
            <a:endParaRPr sz="3400" b="1" i="0" dirty="0">
              <a:solidFill>
                <a:srgbClr val="003262"/>
              </a:solidFill>
              <a:latin typeface="Arial"/>
            </a:endParaRP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753208"/>
            <a:ext cx="3520440" cy="1271823"/>
          </a:xfrm>
          <a:prstGeom prst="rect">
            <a:avLst/>
          </a:prstGeom>
          <a:noFill/>
        </p:spPr>
        <p:txBody>
          <a:bodyPr wrap="square" lIns="0" tIns="0" rIns="0" bIns="0" anchor="ctr">
            <a:spAutoFit/>
          </a:bodyPr>
          <a:lstStyle/>
          <a:p>
            <a:pPr algn="l">
              <a:lnSpc>
                <a:spcPct val="112000"/>
              </a:lnSpc>
              <a:spcBef>
                <a:spcPts val="0"/>
              </a:spcBef>
              <a:spcAft>
                <a:spcPts val="800"/>
              </a:spcAft>
            </a:pPr>
            <a:r>
              <a:rPr sz="1500" b="0" i="1" dirty="0">
                <a:solidFill>
                  <a:srgbClr val="FFFFFF"/>
                </a:solidFill>
                <a:latin typeface="Arial"/>
              </a:rPr>
              <a:t>“Use claude-opus-4-7 for coding, bug fixing, and test creation. Use gpt-5.5 (not codex) for thorough review and debugging of the work done by the other model.”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588DD-7D70-3E64-C61A-85754ACC671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86E39F2-C331-B6B7-E4E0-33075D29B97A}"/>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53886CF-E8BE-7A30-C52F-E33706C5B199}"/>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a:extLst>
              <a:ext uri="{FF2B5EF4-FFF2-40B4-BE49-F238E27FC236}">
                <a16:creationId xmlns:a16="http://schemas.microsoft.com/office/drawing/2014/main" id="{151AE738-2E3B-DBFE-483C-88DC24292357}"/>
              </a:ext>
            </a:extLst>
          </p:cNvPr>
          <p:cNvSpPr txBox="1"/>
          <p:nvPr/>
        </p:nvSpPr>
        <p:spPr>
          <a:xfrm>
            <a:off x="822960" y="868680"/>
            <a:ext cx="10515600" cy="523220"/>
          </a:xfrm>
          <a:prstGeom prst="rect">
            <a:avLst/>
          </a:prstGeom>
          <a:noFill/>
        </p:spPr>
        <p:txBody>
          <a:bodyPr wrap="square" lIns="0" tIns="0" rIns="0" bIns="0" anchor="t">
            <a:spAutoFit/>
          </a:bodyPr>
          <a:lstStyle/>
          <a:p>
            <a:pPr>
              <a:spcAft>
                <a:spcPts val="800"/>
              </a:spcAft>
            </a:pPr>
            <a:r>
              <a:rPr lang="en-US" sz="3400" b="1" dirty="0">
                <a:solidFill>
                  <a:srgbClr val="003262"/>
                </a:solidFill>
                <a:latin typeface="Arial"/>
              </a:rPr>
              <a:t>Cross-model workflow</a:t>
            </a:r>
          </a:p>
        </p:txBody>
      </p:sp>
      <p:sp>
        <p:nvSpPr>
          <p:cNvPr id="5" name="TextBox 4">
            <a:extLst>
              <a:ext uri="{FF2B5EF4-FFF2-40B4-BE49-F238E27FC236}">
                <a16:creationId xmlns:a16="http://schemas.microsoft.com/office/drawing/2014/main" id="{01C0054D-3831-1183-D1B2-22DB4F444FB0}"/>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a:extLst>
              <a:ext uri="{FF2B5EF4-FFF2-40B4-BE49-F238E27FC236}">
                <a16:creationId xmlns:a16="http://schemas.microsoft.com/office/drawing/2014/main" id="{3987BE29-1D3C-6091-99EF-D3A1F264D9EF}"/>
              </a:ext>
            </a:extLst>
          </p:cNvPr>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a:extLst>
              <a:ext uri="{FF2B5EF4-FFF2-40B4-BE49-F238E27FC236}">
                <a16:creationId xmlns:a16="http://schemas.microsoft.com/office/drawing/2014/main" id="{32A8DC7B-5D5F-C0E3-F562-4E0B8E08D850}"/>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03C8C57D-6829-85AC-9497-6F6E7DA0DC20}"/>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C333242E-1578-33E9-39B6-29B97D978515}"/>
              </a:ext>
            </a:extLst>
          </p:cNvPr>
          <p:cNvSpPr txBox="1"/>
          <p:nvPr/>
        </p:nvSpPr>
        <p:spPr>
          <a:xfrm>
            <a:off x="7498080" y="3494676"/>
            <a:ext cx="3520440" cy="1788888"/>
          </a:xfrm>
          <a:prstGeom prst="rect">
            <a:avLst/>
          </a:prstGeom>
          <a:noFill/>
        </p:spPr>
        <p:txBody>
          <a:bodyPr wrap="square" lIns="0" tIns="0" rIns="0" bIns="0" anchor="ctr">
            <a:spAutoFit/>
          </a:bodyPr>
          <a:lstStyle/>
          <a:p>
            <a:pPr>
              <a:lnSpc>
                <a:spcPct val="112000"/>
              </a:lnSpc>
              <a:spcAft>
                <a:spcPts val="800"/>
              </a:spcAft>
            </a:pPr>
            <a:r>
              <a:rPr sz="1500" b="0" i="1" dirty="0">
                <a:solidFill>
                  <a:srgbClr val="FFFFFF"/>
                </a:solidFill>
                <a:latin typeface="Arial"/>
              </a:rPr>
              <a:t>“</a:t>
            </a:r>
            <a:r>
              <a:rPr lang="en-US" sz="1500" i="1" dirty="0">
                <a:solidFill>
                  <a:srgbClr val="FFFFFF"/>
                </a:solidFill>
                <a:latin typeface="Arial"/>
              </a:rPr>
              <a:t>Use GLM-5.2 model for all tasks including coding, bug fixing, and test creation. ALWAYS use gpt-5.5-xhigh (not codex) to carefully and thoroughly review and debug the work done by GLM-5.2 for bugs and missing code. Then use claude-opus-4-7 to do the same thing.</a:t>
            </a:r>
            <a:r>
              <a:rPr sz="1500" b="0" i="1" dirty="0">
                <a:solidFill>
                  <a:srgbClr val="FFFFFF"/>
                </a:solidFill>
                <a:latin typeface="Arial"/>
              </a:rPr>
              <a:t>.”</a:t>
            </a:r>
          </a:p>
        </p:txBody>
      </p:sp>
    </p:spTree>
    <p:extLst>
      <p:ext uri="{BB962C8B-B14F-4D97-AF65-F5344CB8AC3E}">
        <p14:creationId xmlns:p14="http://schemas.microsoft.com/office/powerpoint/2010/main" val="19219779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3DC86-3741-4D6A-9B13-BD689AC005E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50469C8-0D7C-8B7E-8D78-350774ACED67}"/>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AF2B2AD-6B41-AED6-2E87-048AD241326F}"/>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a:extLst>
              <a:ext uri="{FF2B5EF4-FFF2-40B4-BE49-F238E27FC236}">
                <a16:creationId xmlns:a16="http://schemas.microsoft.com/office/drawing/2014/main" id="{7DFA07A3-62E7-DF68-220B-9C35416517FB}"/>
              </a:ext>
            </a:extLst>
          </p:cNvPr>
          <p:cNvSpPr txBox="1"/>
          <p:nvPr/>
        </p:nvSpPr>
        <p:spPr>
          <a:xfrm>
            <a:off x="822960" y="868680"/>
            <a:ext cx="10515600" cy="523220"/>
          </a:xfrm>
          <a:prstGeom prst="rect">
            <a:avLst/>
          </a:prstGeom>
          <a:noFill/>
        </p:spPr>
        <p:txBody>
          <a:bodyPr wrap="square" lIns="0" tIns="0" rIns="0" bIns="0" anchor="t">
            <a:spAutoFit/>
          </a:bodyPr>
          <a:lstStyle/>
          <a:p>
            <a:pPr>
              <a:spcAft>
                <a:spcPts val="800"/>
              </a:spcAft>
            </a:pPr>
            <a:r>
              <a:rPr lang="en-US" sz="3400" b="1" dirty="0">
                <a:solidFill>
                  <a:srgbClr val="003262"/>
                </a:solidFill>
                <a:latin typeface="Arial"/>
              </a:rPr>
              <a:t>Cross-model workflow</a:t>
            </a:r>
          </a:p>
        </p:txBody>
      </p:sp>
      <p:sp>
        <p:nvSpPr>
          <p:cNvPr id="5" name="TextBox 4">
            <a:extLst>
              <a:ext uri="{FF2B5EF4-FFF2-40B4-BE49-F238E27FC236}">
                <a16:creationId xmlns:a16="http://schemas.microsoft.com/office/drawing/2014/main" id="{16792656-1146-872B-CA7B-8303139AFCBC}"/>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a:extLst>
              <a:ext uri="{FF2B5EF4-FFF2-40B4-BE49-F238E27FC236}">
                <a16:creationId xmlns:a16="http://schemas.microsoft.com/office/drawing/2014/main" id="{37897EEF-A577-B010-EDF3-800885FF0299}"/>
              </a:ext>
            </a:extLst>
          </p:cNvPr>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a:extLst>
              <a:ext uri="{FF2B5EF4-FFF2-40B4-BE49-F238E27FC236}">
                <a16:creationId xmlns:a16="http://schemas.microsoft.com/office/drawing/2014/main" id="{358C6309-D1F6-4B54-7284-0019ED93C5BD}"/>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D07D300D-A657-8F69-5C19-9E6D6F8D38C1}"/>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DD5ACE48-FB11-0F4F-7AAB-048451E42341}"/>
              </a:ext>
            </a:extLst>
          </p:cNvPr>
          <p:cNvSpPr txBox="1"/>
          <p:nvPr/>
        </p:nvSpPr>
        <p:spPr>
          <a:xfrm>
            <a:off x="7498080" y="3282137"/>
            <a:ext cx="3520440" cy="2564485"/>
          </a:xfrm>
          <a:prstGeom prst="rect">
            <a:avLst/>
          </a:prstGeom>
          <a:noFill/>
        </p:spPr>
        <p:txBody>
          <a:bodyPr wrap="square" lIns="0" tIns="0" rIns="0" bIns="0" anchor="ctr">
            <a:spAutoFit/>
          </a:bodyPr>
          <a:lstStyle/>
          <a:p>
            <a:pPr>
              <a:lnSpc>
                <a:spcPct val="112000"/>
              </a:lnSpc>
              <a:spcAft>
                <a:spcPts val="800"/>
              </a:spcAft>
            </a:pPr>
            <a:r>
              <a:rPr sz="1500" b="0" i="1" dirty="0">
                <a:solidFill>
                  <a:srgbClr val="FFFFFF"/>
                </a:solidFill>
                <a:latin typeface="Arial"/>
              </a:rPr>
              <a:t>“</a:t>
            </a:r>
            <a:r>
              <a:rPr lang="en-US" sz="1500" i="1" dirty="0">
                <a:solidFill>
                  <a:srgbClr val="FFFFFF"/>
                </a:solidFill>
                <a:latin typeface="Arial"/>
              </a:rPr>
              <a:t>Use the best model from ~/.kiss/</a:t>
            </a:r>
            <a:r>
              <a:rPr lang="en-US" sz="1500" i="1" dirty="0" err="1">
                <a:solidFill>
                  <a:srgbClr val="FFFFFF"/>
                </a:solidFill>
                <a:latin typeface="Arial"/>
              </a:rPr>
              <a:t>MODEL_INFO.json</a:t>
            </a:r>
            <a:r>
              <a:rPr lang="en-US" sz="1500" i="1" dirty="0">
                <a:solidFill>
                  <a:srgbClr val="FFFFFF"/>
                </a:solidFill>
                <a:latin typeface="Arial"/>
              </a:rPr>
              <a:t> for various sub tasks. Search the internet extensively to figure out which model is good for each sub-task. Here's what I've found works best in practice:</a:t>
            </a:r>
            <a:br>
              <a:rPr lang="en-US" sz="1500" i="1" dirty="0">
                <a:solidFill>
                  <a:srgbClr val="FFFFFF"/>
                </a:solidFill>
                <a:latin typeface="Arial"/>
              </a:rPr>
            </a:br>
            <a:r>
              <a:rPr lang="en-US" sz="1500" i="1" dirty="0">
                <a:solidFill>
                  <a:srgbClr val="FFFFFF"/>
                </a:solidFill>
                <a:latin typeface="Arial"/>
              </a:rPr>
              <a:t>claude-opus-4-7 — best for SWE work , gpt-5.5 — best for reviewing, and GLM-5.2 — for SWE tasks when budget is low.</a:t>
            </a:r>
            <a:r>
              <a:rPr sz="1500" i="1" dirty="0">
                <a:solidFill>
                  <a:srgbClr val="FFFFFF"/>
                </a:solidFill>
                <a:latin typeface="Arial"/>
              </a:rPr>
              <a:t>”</a:t>
            </a:r>
          </a:p>
        </p:txBody>
      </p:sp>
      <p:sp>
        <p:nvSpPr>
          <p:cNvPr id="10" name="TextBox 9">
            <a:extLst>
              <a:ext uri="{FF2B5EF4-FFF2-40B4-BE49-F238E27FC236}">
                <a16:creationId xmlns:a16="http://schemas.microsoft.com/office/drawing/2014/main" id="{D37A9380-B4F6-3CAF-46E2-5A0E8369CB62}"/>
              </a:ext>
            </a:extLst>
          </p:cNvPr>
          <p:cNvSpPr txBox="1"/>
          <p:nvPr/>
        </p:nvSpPr>
        <p:spPr>
          <a:xfrm>
            <a:off x="7444740" y="2871241"/>
            <a:ext cx="3520440" cy="237694"/>
          </a:xfrm>
          <a:prstGeom prst="rect">
            <a:avLst/>
          </a:prstGeom>
          <a:noFill/>
        </p:spPr>
        <p:txBody>
          <a:bodyPr wrap="square" lIns="0" tIns="0" rIns="0" bIns="0" anchor="ctr">
            <a:spAutoFit/>
          </a:bodyPr>
          <a:lstStyle/>
          <a:p>
            <a:pPr>
              <a:lnSpc>
                <a:spcPct val="112000"/>
              </a:lnSpc>
              <a:spcAft>
                <a:spcPts val="800"/>
              </a:spcAft>
            </a:pPr>
            <a:r>
              <a:rPr lang="en-US" sz="1500" b="0" i="1" dirty="0">
                <a:solidFill>
                  <a:srgbClr val="FFFFFF"/>
                </a:solidFill>
                <a:latin typeface="Arial"/>
              </a:rPr>
              <a:t>Sakan</a:t>
            </a:r>
            <a:r>
              <a:rPr lang="en-US" sz="1500" i="1" dirty="0">
                <a:solidFill>
                  <a:srgbClr val="FFFFFF"/>
                </a:solidFill>
                <a:latin typeface="Arial"/>
              </a:rPr>
              <a:t>a AI’s Fugu Ultra in 3 sentences</a:t>
            </a:r>
            <a:endParaRPr sz="1500" i="1" dirty="0">
              <a:solidFill>
                <a:srgbClr val="FFFFFF"/>
              </a:solidFill>
              <a:latin typeface="Arial"/>
            </a:endParaRPr>
          </a:p>
        </p:txBody>
      </p:sp>
    </p:spTree>
    <p:extLst>
      <p:ext uri="{BB962C8B-B14F-4D97-AF65-F5344CB8AC3E}">
        <p14:creationId xmlns:p14="http://schemas.microsoft.com/office/powerpoint/2010/main" val="1536125845"/>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t>Generative AI Discovery</a:t>
            </a:r>
          </a:p>
        </p:txBody>
      </p:sp>
      <p:sp>
        <p:nvSpPr>
          <p:cNvPr id="3" name="Content Placeholder 2"/>
          <p:cNvSpPr>
            <a:spLocks noGrp="1"/>
          </p:cNvSpPr>
          <p:nvPr>
            <p:ph idx="1"/>
          </p:nvPr>
        </p:nvSpPr>
        <p:spPr/>
        <p:txBody>
          <a:bodyPr>
            <a:normAutofit fontScale="70000" lnSpcReduction="20000"/>
          </a:bodyPr>
          <a:lstStyle/>
          <a:p>
            <a:pPr/>
            <a:r>
              <a:t>Evolutionary search over programs: source code, prompts, or model recipes as the genotype; an LLM mutates/recombines parents and an automated evaluator scores each offspring, with the fittest fed back as parents for the next generation.</a:t>
            </a:r>
          </a:p>
          <a:p>
            <a:pPr/>
            <a:r>
              <a:t>Classical GA skeleton (selection, mutation, crossover, replacement) — but variation operators are LLMs reflecting on NL critiques of past failures, and the genotype is human-readable source, not a fixed-length bitstring.</a:t>
            </a:r>
          </a:p>
          <a:p>
            <a:pPr/>
            <a:r>
              <a:t>FunSearch: island-based population + execution-feedback → cap-set, bin-packing. AlphaEvolve scaled the recipe to math, hardware, Google infrastructure.</a:t>
            </a:r>
          </a:p>
          <a:p>
            <a:pPr/>
            <a:r>
              <a:t>OpenEvolve added MAP-Elites quality-diversity; ShinkaEvolve added parent-sampling, code-novelty rejection, and bandit-based LLM-ensemble selection.</a:t>
            </a:r>
          </a:p>
          <a:p>
            <a:pPr/>
            <a:r>
              <a:t>ADRS transferred the loop to systems-performance research; GEPA showed the same skeleton optimizes prompts when fitness is trajectory-level reflection.</a:t>
            </a:r>
          </a:p>
          <a:p>
            <a:pPr/>
            <a:r>
              <a:t>Common contract — NL objective, code/prompt as mutation unit, automated evaluator, journal, anti-reward-hacking &amp; generalization clauses — is exactly what KISS Sorcar's AI Discovery template inherits.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A9FCD-5DCC-0FAA-470D-8E3AAE6818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55924-0620-A3DF-CDCA-F196629B439C}"/>
              </a:ext>
            </a:extLst>
          </p:cNvPr>
          <p:cNvSpPr>
            <a:spLocks noGrp="1"/>
          </p:cNvSpPr>
          <p:nvPr>
            <p:ph type="title"/>
          </p:nvPr>
        </p:nvSpPr>
        <p:spPr>
          <a:xfrm>
            <a:off x="457199" y="274638"/>
            <a:ext cx="11321143" cy="1143000"/>
          </a:xfrm>
        </p:spPr>
        <p:txBody>
          <a:bodyPr/>
          <a:lstStyle/>
          <a:p>
            <a:r>
              <a:rPr lang="en-US" dirty="0"/>
              <a:t>AI Discovery as a Prompt in KISS Sorcar</a:t>
            </a:r>
          </a:p>
        </p:txBody>
      </p:sp>
      <p:sp>
        <p:nvSpPr>
          <p:cNvPr id="3" name="Content Placeholder 2">
            <a:extLst>
              <a:ext uri="{FF2B5EF4-FFF2-40B4-BE49-F238E27FC236}">
                <a16:creationId xmlns:a16="http://schemas.microsoft.com/office/drawing/2014/main" id="{31257DA8-D9AB-4B93-E0BA-C7C6C0D2DC99}"/>
              </a:ext>
            </a:extLst>
          </p:cNvPr>
          <p:cNvSpPr>
            <a:spLocks noGrp="1"/>
          </p:cNvSpPr>
          <p:nvPr>
            <p:ph idx="1"/>
          </p:nvPr>
        </p:nvSpPr>
        <p:spPr>
          <a:xfrm>
            <a:off x="457200" y="1600200"/>
            <a:ext cx="11321142" cy="4525963"/>
          </a:xfrm>
        </p:spPr>
        <p:txBody>
          <a:bodyPr>
            <a:normAutofit fontScale="70000" lnSpcReduction="20000"/>
          </a:bodyPr>
          <a:lstStyle/>
          <a:p>
            <a:r>
              <a:rPr lang="en-US" dirty="0"/>
              <a:t>Can you discover the lightest and fastest AI model that will give the best accuracy and recall on the data at &lt;&lt;/path/to/data&gt;&gt; at the cheapest price? Analyze the data and search the internet extensively to propose the first few models. Implement and experiment with each of your proposals. Note down the ideas you used to optimize the accuracy/recall and speed/cost metrics achieved in a file, so that you can use the file to not repeat ideas that have already been tried and/or failed. You can also use the file to combine ideas that have been successful in the past. Separate 20% of the data for evals, and your discovery strategy must not look at the evals data. Use 'lambda' CLI to train your models on GPUs and evaluate if needed. Total budget for Lambda Labs is $1000. Experiment with a smaller subset of data and fewer parameters in a model to do experiments quickly and then extrapolate. Use internet search extensively at every step. MAKE SURE THAT YOU DO NOT DO REWARD HACKING OR CHEATING IN THE MODELS OR AGENTS YOU ARE IMPLEMENTING TO FIT DATA. YOUR SOLUTION MUST GENERALIZE BEYOND THE DATA PROVIDED. Do not STOP until accuracy/recall reaches 95% on evals and you can process each query in less than 600 seconds and under 50 USD per query amortized over all queries. Create an html report with diagrams and illustrations in ./reports and open it in the user's default browser?</a:t>
            </a:r>
          </a:p>
        </p:txBody>
      </p:sp>
    </p:spTree>
    <p:extLst>
      <p:ext uri="{BB962C8B-B14F-4D97-AF65-F5344CB8AC3E}">
        <p14:creationId xmlns:p14="http://schemas.microsoft.com/office/powerpoint/2010/main" val="28154905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1BEEE-2F00-3D29-BBAF-16F6B622EBEB}"/>
              </a:ext>
            </a:extLst>
          </p:cNvPr>
          <p:cNvSpPr>
            <a:spLocks noGrp="1"/>
          </p:cNvSpPr>
          <p:nvPr>
            <p:ph type="title"/>
          </p:nvPr>
        </p:nvSpPr>
        <p:spPr>
          <a:xfrm>
            <a:off x="457200" y="274638"/>
            <a:ext cx="11506200" cy="1143000"/>
          </a:xfrm>
        </p:spPr>
        <p:txBody>
          <a:bodyPr/>
          <a:lstStyle/>
          <a:p>
            <a:pPr/>
            <a:r>
              <a:rPr lang="en-US" dirty="0"/>
              <a:t>Advantages: AI Discovery as Prompt</a:t>
            </a:r>
          </a:p>
        </p:txBody>
      </p:sp>
      <p:sp>
        <p:nvSpPr>
          <p:cNvPr id="3" name="Content Placeholder 2">
            <a:extLst>
              <a:ext uri="{FF2B5EF4-FFF2-40B4-BE49-F238E27FC236}">
                <a16:creationId xmlns:a16="http://schemas.microsoft.com/office/drawing/2014/main" id="{87AA9985-CE28-D30E-AD40-9B010F6D1E77}"/>
              </a:ext>
            </a:extLst>
          </p:cNvPr>
          <p:cNvSpPr>
            <a:spLocks noGrp="1"/>
          </p:cNvSpPr>
          <p:nvPr>
            <p:ph idx="1"/>
          </p:nvPr>
        </p:nvSpPr>
        <p:spPr>
          <a:xfrm>
            <a:off x="457200" y="1600200"/>
            <a:ext cx="11506200" cy="4983162"/>
          </a:xfrm>
        </p:spPr>
        <p:txBody>
          <a:bodyPr/>
          <a:lstStyle/>
          <a:p>
            <a:pPr/>
            <a:r>
              <a:rPr lang="en-US" dirty="0"/>
              <a:t>Rapidly prototype and change discovery algorithms</a:t>
            </a:r>
          </a:p>
          <a:p>
            <a:pPr/>
            <a:r>
              <a:rPr lang="en-US" dirty="0"/>
              <a:t>No need to use a specialized AI discovery software such as </a:t>
            </a:r>
            <a:r>
              <a:rPr lang="en-US" dirty="0" err="1"/>
              <a:t>AlphaEvolve</a:t>
            </a:r>
            <a:r>
              <a:rPr lang="en-US" dirty="0"/>
              <a:t>, </a:t>
            </a:r>
            <a:r>
              <a:rPr lang="en-US" dirty="0" err="1"/>
              <a:t>OpenEvolve</a:t>
            </a:r>
            <a:r>
              <a:rPr lang="en-US" dirty="0"/>
              <a:t>, </a:t>
            </a:r>
            <a:r>
              <a:rPr lang="en-US" dirty="0" err="1"/>
              <a:t>ShinkaEvolve</a:t>
            </a:r>
            <a:r>
              <a:rPr lang="en-US" dirty="0"/>
              <a:t>, GEPA, </a:t>
            </a:r>
            <a:r>
              <a:rPr lang="en-US" dirty="0" err="1"/>
              <a:t>SkyDiscover</a:t>
            </a:r>
            <a:endParaRPr lang="en-US" dirty="0"/>
          </a:p>
          <a:p>
            <a:pPr/>
            <a:r>
              <a:rPr lang="en-US" dirty="0"/>
              <a:t>Even optimize the AI discovery prompt for each domain using AI discovery</a:t>
            </a:r>
          </a:p>
        </p:txBody>
      </p:sp>
    </p:spTree>
    <p:extLst>
      <p:ext uri="{BB962C8B-B14F-4D97-AF65-F5344CB8AC3E}">
        <p14:creationId xmlns:p14="http://schemas.microsoft.com/office/powerpoint/2010/main" val="25456562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997E9-2044-46E5-2FA2-5481DE35D9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2DA7AA-8D7A-EA40-F2BE-12DA2BCF4E11}"/>
              </a:ext>
            </a:extLst>
          </p:cNvPr>
          <p:cNvSpPr>
            <a:spLocks noGrp="1"/>
          </p:cNvSpPr>
          <p:nvPr>
            <p:ph type="title"/>
          </p:nvPr>
        </p:nvSpPr>
        <p:spPr>
          <a:xfrm>
            <a:off x="457199" y="274638"/>
            <a:ext cx="11321143" cy="1143000"/>
          </a:xfrm>
        </p:spPr>
        <p:txBody>
          <a:bodyPr/>
          <a:lstStyle/>
          <a:p>
            <a:r>
              <a:rPr lang="en-US" dirty="0"/>
              <a:t>Code Optimization as a Prompt in KISS Sorcar</a:t>
            </a:r>
          </a:p>
        </p:txBody>
      </p:sp>
      <p:sp>
        <p:nvSpPr>
          <p:cNvPr id="3" name="Content Placeholder 2">
            <a:extLst>
              <a:ext uri="{FF2B5EF4-FFF2-40B4-BE49-F238E27FC236}">
                <a16:creationId xmlns:a16="http://schemas.microsoft.com/office/drawing/2014/main" id="{328C7502-709E-741E-84CF-D301C5BEEC57}"/>
              </a:ext>
            </a:extLst>
          </p:cNvPr>
          <p:cNvSpPr>
            <a:spLocks noGrp="1"/>
          </p:cNvSpPr>
          <p:nvPr>
            <p:ph idx="1"/>
          </p:nvPr>
        </p:nvSpPr>
        <p:spPr>
          <a:xfrm>
            <a:off x="457200" y="1600200"/>
            <a:ext cx="11321142" cy="4525963"/>
          </a:xfrm>
        </p:spPr>
        <p:txBody>
          <a:bodyPr>
            <a:normAutofit fontScale="70000" lnSpcReduction="20000"/>
          </a:bodyPr>
          <a:lstStyle/>
          <a:p>
            <a:r>
              <a:rPr lang="en-US" dirty="0"/>
              <a:t>Can you run the command &lt;&lt;command&gt;&gt; in the background and monitor its output in real time to optimize the code at &lt;&lt;</a:t>
            </a:r>
            <a:r>
              <a:rPr lang="en-US" dirty="0" err="1"/>
              <a:t>folder_name_or_url</a:t>
            </a:r>
            <a:r>
              <a:rPr lang="en-US" dirty="0"/>
              <a:t>&gt;&gt; with respect to the following metrics: &lt;&lt;speed, accuracy, recall, cost&gt;&gt;. You can add diagnostic code which will print the metrics, such as running time at a finer level of granularity. Check for opportunities to optimize the code on the basis of the metrics information. If you discover any opportunities to optimize the metric based on the code, logs, events, and the command output, optimize the code and run the command again. Note down the ideas you used to optimize the code and the metric you achieved in a file, so that you can use the file to not repeat ideas that have already been tried and failed. You can also use the file to combine ideas that have been successful in the past. Repeat the process. Do not forget to remove the diagnostic code after the optimization is complete. You MUST NOT STOP until the metrics achieve the following values: &lt;&lt;</a:t>
            </a:r>
            <a:r>
              <a:rPr lang="en-US" dirty="0" err="1"/>
              <a:t>give_concrete_values_for_metrics</a:t>
            </a:r>
            <a:r>
              <a:rPr lang="en-US" dirty="0"/>
              <a:t>&gt;&gt;. Use the internet extensively to get new ideas for optimization. Create an html report with diagrams and illustrations in ./reports and open it in the user's default browser?</a:t>
            </a:r>
          </a:p>
        </p:txBody>
      </p:sp>
    </p:spTree>
    <p:extLst>
      <p:ext uri="{BB962C8B-B14F-4D97-AF65-F5344CB8AC3E}">
        <p14:creationId xmlns:p14="http://schemas.microsoft.com/office/powerpoint/2010/main" val="17682090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1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engineering</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Real, unedited requests recorded in sorcar.db — short natural language, one task at a time.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TEST-FIRST BUG FIX</a:t>
            </a:r>
          </a:p>
          <a:p>
            <a:pPr>
              <a:lnSpc>
                <a:spcPct val="110000"/>
              </a:lnSpc>
            </a:pPr>
            <a:r>
              <a:rPr sz="1100" b="0" i="1">
                <a:solidFill>
                  <a:srgbClr val="FFFFFF"/>
                </a:solidFill>
                <a:latin typeface="Arial"/>
              </a:rPr>
              <a:t>“Can you reproduce the bug by writing an integration test? Then fix it.”</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BUG REPORT</a:t>
            </a:r>
          </a:p>
          <a:p>
            <a:pPr>
              <a:lnSpc>
                <a:spcPct val="110000"/>
              </a:lnSpc>
            </a:pPr>
            <a:r>
              <a:rPr sz="1100" b="0" i="1">
                <a:solidFill>
                  <a:srgbClr val="FFFFFF"/>
                </a:solidFill>
                <a:latin typeface="Arial"/>
              </a:rPr>
              <a:t>“ask_user_question is not showing its window in the web/mobile app.”</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CODE HYGIENE</a:t>
            </a:r>
          </a:p>
          <a:p>
            <a:pPr>
              <a:lnSpc>
                <a:spcPct val="110000"/>
              </a:lnSpc>
            </a:pPr>
            <a:r>
              <a:rPr sz="1100" b="0" i="1">
                <a:solidFill>
                  <a:srgbClr val="FFFFFF"/>
                </a:solidFill>
                <a:latin typeface="Arial"/>
              </a:rPr>
              <a:t>“uv run check --full and fix” — the 2nd most frequent command (50×).</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DIRECTORY AUDIT</a:t>
            </a:r>
          </a:p>
          <a:p>
            <a:pPr>
              <a:lnSpc>
                <a:spcPct val="110000"/>
              </a:lnSpc>
            </a:pPr>
            <a:r>
              <a:rPr sz="1100" b="0" i="1">
                <a:solidFill>
                  <a:srgbClr val="FFFFFF"/>
                </a:solidFill>
                <a:latin typeface="Arial"/>
              </a:rPr>
              <a:t>“Find all bugs, redundancies, and inconsistencies in agents/vscode/.”</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DEFENSIVE REVERT</a:t>
            </a:r>
          </a:p>
          <a:p>
            <a:pPr>
              <a:lnSpc>
                <a:spcPct val="110000"/>
              </a:lnSpc>
            </a:pPr>
            <a:r>
              <a:rPr sz="1100" b="0" i="1">
                <a:solidFill>
                  <a:srgbClr val="FFFFFF"/>
                </a:solidFill>
                <a:latin typeface="Arial"/>
              </a:rPr>
              <a:t>“Can you get rid of the last commit to main?” — recurs 30+ times.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ITERATIVE FEATURE</a:t>
            </a:r>
          </a:p>
          <a:p>
            <a:pPr>
              <a:lnSpc>
                <a:spcPct val="110000"/>
              </a:lnSpc>
            </a:pPr>
            <a:r>
              <a:rPr sz="1100" b="0" i="1">
                <a:solidFill>
                  <a:srgbClr val="FFFFFF"/>
                </a:solidFill>
                <a:latin typeface="Arial"/>
              </a:rPr>
              <a:t>“Let the user access KISS Sorcar from any device with a browser.”</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INVESTIGATE FIRST</a:t>
            </a:r>
          </a:p>
          <a:p>
            <a:pPr>
              <a:lnSpc>
                <a:spcPct val="110000"/>
              </a:lnSpc>
            </a:pPr>
            <a:r>
              <a:rPr sz="1100" b="0" i="1">
                <a:solidFill>
                  <a:srgbClr val="FFFFFF"/>
                </a:solidFill>
                <a:latin typeface="Arial"/>
              </a:rPr>
              <a:t>“Show me the detailed step-by-step workflow of web_server.py.”</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PROMPT ENGINEERING</a:t>
            </a:r>
          </a:p>
          <a:p>
            <a:pPr>
              <a:lnSpc>
                <a:spcPct val="110000"/>
              </a:lnSpc>
            </a:pPr>
            <a:r>
              <a:rPr sz="1100" b="0" i="1">
                <a:solidFill>
                  <a:srgbClr val="FFFFFF"/>
                </a:solidFill>
                <a:latin typeface="Arial"/>
              </a:rPr>
              <a:t>“Which SYSTEM.md instructions were not followed yesterday? Fix them.”</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15</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1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general assistance</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The same agent, prompt, and architecture handle everything beyond code.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SMART HOME</a:t>
            </a:r>
          </a:p>
          <a:p>
            <a:pPr>
              <a:lnSpc>
                <a:spcPct val="110000"/>
              </a:lnSpc>
            </a:pPr>
            <a:r>
              <a:rPr sz="1100" b="0" i="1">
                <a:solidFill>
                  <a:srgbClr val="FFFFFF"/>
                </a:solidFill>
                <a:latin typeface="Arial"/>
              </a:rPr>
              <a:t>“Turn off the living room and family room lights.” (Govee API)</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TRAVEL</a:t>
            </a:r>
          </a:p>
          <a:p>
            <a:pPr>
              <a:lnSpc>
                <a:spcPct val="110000"/>
              </a:lnSpc>
            </a:pPr>
            <a:r>
              <a:rPr sz="1100" b="0" i="1">
                <a:solidFill>
                  <a:srgbClr val="FFFFFF"/>
                </a:solidFill>
                <a:latin typeface="Arial"/>
              </a:rPr>
              <a:t>“Plan me a trip to Yosemite” — with hotel availability checks.</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WEATHER</a:t>
            </a:r>
          </a:p>
          <a:p>
            <a:pPr>
              <a:lnSpc>
                <a:spcPct val="110000"/>
              </a:lnSpc>
            </a:pPr>
            <a:r>
              <a:rPr sz="1100" b="0" i="1">
                <a:solidFill>
                  <a:srgbClr val="FFFFFF"/>
                </a:solidFill>
                <a:latin typeface="Arial"/>
              </a:rPr>
              <a:t>“How is the weather today?” — answered from live sources, never stale data.</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SHOPPING</a:t>
            </a:r>
          </a:p>
          <a:p>
            <a:pPr>
              <a:lnSpc>
                <a:spcPct val="110000"/>
              </a:lnSpc>
            </a:pPr>
            <a:r>
              <a:rPr sz="1100" b="0" i="1">
                <a:solidFill>
                  <a:srgbClr val="FFFFFF"/>
                </a:solidFill>
                <a:latin typeface="Arial"/>
              </a:rPr>
              <a:t>“Where can I find Darjeeling tea in the Bay Area?”</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FINANCE</a:t>
            </a:r>
          </a:p>
          <a:p>
            <a:pPr>
              <a:lnSpc>
                <a:spcPct val="110000"/>
              </a:lnSpc>
            </a:pPr>
            <a:r>
              <a:rPr sz="1100" b="0" i="1">
                <a:solidFill>
                  <a:srgbClr val="FFFFFF"/>
                </a:solidFill>
                <a:latin typeface="Arial"/>
              </a:rPr>
              <a:t>“Will Microsoft stock increase by August 2026?” — plus ETF analysis.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COMMUNICATION</a:t>
            </a:r>
          </a:p>
          <a:p>
            <a:pPr>
              <a:lnSpc>
                <a:spcPct val="110000"/>
              </a:lnSpc>
            </a:pPr>
            <a:r>
              <a:rPr sz="1100" b="0" i="1">
                <a:solidFill>
                  <a:srgbClr val="FFFFFF"/>
                </a:solidFill>
                <a:latin typeface="Arial"/>
              </a:rPr>
              <a:t>Slack, iMessage, and Gmail messages — sent through third-party agents.</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SELF-SETUP</a:t>
            </a:r>
          </a:p>
          <a:p>
            <a:pPr>
              <a:lnSpc>
                <a:spcPct val="110000"/>
              </a:lnSpc>
            </a:pPr>
            <a:r>
              <a:rPr sz="1100" b="0" i="1">
                <a:solidFill>
                  <a:srgbClr val="FFFFFF"/>
                </a:solidFill>
                <a:latin typeface="Arial"/>
              </a:rPr>
              <a:t>“Authenticate with govee.com so you can control the lights.”</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ETHICAL REFUSAL</a:t>
            </a:r>
          </a:p>
          <a:p>
            <a:pPr>
              <a:lnSpc>
                <a:spcPct val="110000"/>
              </a:lnSpc>
            </a:pPr>
            <a:r>
              <a:rPr sz="1100" b="0" i="1">
                <a:solidFill>
                  <a:srgbClr val="FFFFFF"/>
                </a:solidFill>
                <a:latin typeface="Arial"/>
              </a:rPr>
              <a:t>An unethical hacking request — refused, with five legitimate alternatives.</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W  H  Y     I  T     W  O  R  K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Each pattern maps to a principle</a:t>
            </a:r>
          </a:p>
        </p:txBody>
      </p:sp>
      <p:sp>
        <p:nvSpPr>
          <p:cNvPr id="5" name="Rectangle 4"/>
          <p:cNvSpPr/>
          <p:nvPr/>
        </p:nvSpPr>
        <p:spPr>
          <a:xfrm>
            <a:off x="82296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57984"/>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KISS</a:t>
            </a:r>
          </a:p>
          <a:p>
            <a:pPr algn="l">
              <a:lnSpc>
                <a:spcPct val="104000"/>
              </a:lnSpc>
              <a:spcBef>
                <a:spcPts val="0"/>
              </a:spcBef>
              <a:spcAft>
                <a:spcPts val="800"/>
              </a:spcAft>
            </a:pPr>
            <a:r>
              <a:rPr sz="1500" b="0" i="0">
                <a:solidFill>
                  <a:srgbClr val="4A5260"/>
                </a:solidFill>
                <a:latin typeface="Arial"/>
              </a:rPr>
              <a:t>One agent, one prompt, one architecture across all domains.</a:t>
            </a:r>
          </a:p>
        </p:txBody>
      </p:sp>
      <p:sp>
        <p:nvSpPr>
          <p:cNvPr id="8" name="Rectangle 7"/>
          <p:cNvSpPr/>
          <p:nvPr/>
        </p:nvSpPr>
        <p:spPr>
          <a:xfrm>
            <a:off x="617220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157984"/>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Separation of concerns</a:t>
            </a:r>
          </a:p>
          <a:p>
            <a:pPr algn="l">
              <a:lnSpc>
                <a:spcPct val="104000"/>
              </a:lnSpc>
              <a:spcBef>
                <a:spcPts val="0"/>
              </a:spcBef>
              <a:spcAft>
                <a:spcPts val="800"/>
              </a:spcAft>
            </a:pPr>
            <a:r>
              <a:rPr sz="1500" b="0" i="0">
                <a:solidFill>
                  <a:srgbClr val="4A5260"/>
                </a:solidFill>
                <a:latin typeface="Arial"/>
              </a:rPr>
              <a:t>Each layer / module owns exactly one concern.</a:t>
            </a:r>
          </a:p>
        </p:txBody>
      </p:sp>
      <p:sp>
        <p:nvSpPr>
          <p:cNvPr id="11" name="Rectangle 10"/>
          <p:cNvSpPr/>
          <p:nvPr/>
        </p:nvSpPr>
        <p:spPr>
          <a:xfrm>
            <a:off x="82296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2296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 y="3465576"/>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Test-first development</a:t>
            </a:r>
          </a:p>
          <a:p>
            <a:pPr algn="l">
              <a:lnSpc>
                <a:spcPct val="104000"/>
              </a:lnSpc>
              <a:spcBef>
                <a:spcPts val="0"/>
              </a:spcBef>
              <a:spcAft>
                <a:spcPts val="800"/>
              </a:spcAft>
            </a:pPr>
            <a:r>
              <a:rPr sz="1500" b="0" i="0">
                <a:solidFill>
                  <a:srgbClr val="4A5260"/>
                </a:solidFill>
                <a:latin typeface="Arial"/>
              </a:rPr>
              <a:t>Write a failing test, then make it pass — no mocks.</a:t>
            </a:r>
          </a:p>
        </p:txBody>
      </p:sp>
      <p:sp>
        <p:nvSpPr>
          <p:cNvPr id="14" name="Rectangle 13"/>
          <p:cNvSpPr/>
          <p:nvPr/>
        </p:nvSpPr>
        <p:spPr>
          <a:xfrm>
            <a:off x="617220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7220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92240" y="3465576"/>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Defensive programming</a:t>
            </a:r>
          </a:p>
          <a:p>
            <a:pPr algn="l">
              <a:lnSpc>
                <a:spcPct val="104000"/>
              </a:lnSpc>
              <a:spcBef>
                <a:spcPts val="0"/>
              </a:spcBef>
              <a:spcAft>
                <a:spcPts val="800"/>
              </a:spcAft>
            </a:pPr>
            <a:r>
              <a:rPr sz="1500" b="0" i="0">
                <a:solidFill>
                  <a:srgbClr val="4A5260"/>
                </a:solidFill>
                <a:latin typeface="Arial"/>
              </a:rPr>
              <a:t>Validate everything; refuse what is unsafe; revert fast.</a:t>
            </a:r>
          </a:p>
        </p:txBody>
      </p:sp>
      <p:sp>
        <p:nvSpPr>
          <p:cNvPr id="17" name="Rectangle 16"/>
          <p:cNvSpPr/>
          <p:nvPr/>
        </p:nvSpPr>
        <p:spPr>
          <a:xfrm>
            <a:off x="82296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2296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43000" y="4773168"/>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Pre-flight checks</a:t>
            </a:r>
          </a:p>
          <a:p>
            <a:pPr algn="l">
              <a:lnSpc>
                <a:spcPct val="104000"/>
              </a:lnSpc>
              <a:spcBef>
                <a:spcPts val="0"/>
              </a:spcBef>
              <a:spcAft>
                <a:spcPts val="800"/>
              </a:spcAft>
            </a:pPr>
            <a:r>
              <a:rPr sz="1500" b="0" i="0">
                <a:solidFill>
                  <a:srgbClr val="4A5260"/>
                </a:solidFill>
                <a:latin typeface="Arial"/>
              </a:rPr>
              <a:t>Read before you write; plan before you execute; verify before finishing.</a:t>
            </a:r>
          </a:p>
        </p:txBody>
      </p:sp>
      <p:sp>
        <p:nvSpPr>
          <p:cNvPr id="20" name="Rectangle 19"/>
          <p:cNvSpPr/>
          <p:nvPr/>
        </p:nvSpPr>
        <p:spPr>
          <a:xfrm>
            <a:off x="617220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7220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92240" y="4773168"/>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Self-hosting as CI</a:t>
            </a:r>
          </a:p>
          <a:p>
            <a:pPr algn="l">
              <a:lnSpc>
                <a:spcPct val="104000"/>
              </a:lnSpc>
              <a:spcBef>
                <a:spcPts val="0"/>
              </a:spcBef>
              <a:spcAft>
                <a:spcPts val="800"/>
              </a:spcAft>
            </a:pPr>
            <a:r>
              <a:rPr sz="1500" b="0" i="0">
                <a:solidFill>
                  <a:srgbClr val="4A5260"/>
                </a:solidFill>
                <a:latin typeface="Arial"/>
              </a:rPr>
              <a:t>Use the system to build the system; bugs hurt the builder.</a:t>
            </a:r>
          </a:p>
        </p:txBody>
      </p:sp>
      <p:sp>
        <p:nvSpPr>
          <p:cNvPr id="23" name="Rectangle 2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5" name="TextBox 2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R  E  A  C  H</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software ecosystem</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4A5260"/>
                </a:solidFill>
                <a:latin typeface="Arial"/>
              </a:rPr>
              <a:t>One agent architecture drove every tool below — no per-tool customization.</a:t>
            </a:r>
          </a:p>
        </p:txBody>
      </p:sp>
      <p:sp>
        <p:nvSpPr>
          <p:cNvPr id="6" name="Rectangle 5"/>
          <p:cNvSpPr/>
          <p:nvPr/>
        </p:nvSpPr>
        <p:spPr>
          <a:xfrm>
            <a:off x="82296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532888"/>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Languages</a:t>
            </a:r>
          </a:p>
          <a:p>
            <a:pPr algn="l">
              <a:lnSpc>
                <a:spcPct val="102000"/>
              </a:lnSpc>
              <a:spcBef>
                <a:spcPts val="0"/>
              </a:spcBef>
              <a:spcAft>
                <a:spcPts val="800"/>
              </a:spcAft>
            </a:pPr>
            <a:r>
              <a:rPr sz="1400" b="0" i="0">
                <a:solidFill>
                  <a:srgbClr val="4A5260"/>
                </a:solidFill>
                <a:latin typeface="Arial"/>
              </a:rPr>
              <a:t>Python · TypeScript · JavaScript · CSS · HTML · LaTeX</a:t>
            </a:r>
          </a:p>
        </p:txBody>
      </p:sp>
      <p:sp>
        <p:nvSpPr>
          <p:cNvPr id="9" name="Rectangle 8"/>
          <p:cNvSpPr/>
          <p:nvPr/>
        </p:nvSpPr>
        <p:spPr>
          <a:xfrm>
            <a:off x="617220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2532888"/>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Build &amp; tooling</a:t>
            </a:r>
          </a:p>
          <a:p>
            <a:pPr algn="l">
              <a:lnSpc>
                <a:spcPct val="102000"/>
              </a:lnSpc>
              <a:spcBef>
                <a:spcPts val="0"/>
              </a:spcBef>
              <a:spcAft>
                <a:spcPts val="800"/>
              </a:spcAft>
            </a:pPr>
            <a:r>
              <a:rPr sz="1400" b="0" i="0">
                <a:solidFill>
                  <a:srgbClr val="4A5260"/>
                </a:solidFill>
                <a:latin typeface="Arial"/>
              </a:rPr>
              <a:t>uv · npm · pdflatex · BibTeX · pytest</a:t>
            </a:r>
          </a:p>
        </p:txBody>
      </p:sp>
      <p:sp>
        <p:nvSpPr>
          <p:cNvPr id="12" name="Rectangle 11"/>
          <p:cNvSpPr/>
          <p:nvPr/>
        </p:nvSpPr>
        <p:spPr>
          <a:xfrm>
            <a:off x="82296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3547872"/>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Version control</a:t>
            </a:r>
          </a:p>
          <a:p>
            <a:pPr algn="l">
              <a:lnSpc>
                <a:spcPct val="102000"/>
              </a:lnSpc>
              <a:spcBef>
                <a:spcPts val="0"/>
              </a:spcBef>
              <a:spcAft>
                <a:spcPts val="800"/>
              </a:spcAft>
            </a:pPr>
            <a:r>
              <a:rPr sz="1400" b="0" i="0">
                <a:solidFill>
                  <a:srgbClr val="4A5260"/>
                </a:solidFill>
                <a:latin typeface="Arial"/>
              </a:rPr>
              <a:t>Git · GitHub · worktree-per-task</a:t>
            </a:r>
          </a:p>
        </p:txBody>
      </p:sp>
      <p:sp>
        <p:nvSpPr>
          <p:cNvPr id="15" name="Rectangle 14"/>
          <p:cNvSpPr/>
          <p:nvPr/>
        </p:nvSpPr>
        <p:spPr>
          <a:xfrm>
            <a:off x="617220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0" y="3547872"/>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Automation</a:t>
            </a:r>
          </a:p>
          <a:p>
            <a:pPr algn="l">
              <a:lnSpc>
                <a:spcPct val="102000"/>
              </a:lnSpc>
              <a:spcBef>
                <a:spcPts val="0"/>
              </a:spcBef>
              <a:spcAft>
                <a:spcPts val="800"/>
              </a:spcAft>
            </a:pPr>
            <a:r>
              <a:rPr sz="1400" b="0" i="0">
                <a:solidFill>
                  <a:srgbClr val="4A5260"/>
                </a:solidFill>
                <a:latin typeface="Arial"/>
              </a:rPr>
              <a:t>Playwright · Chromium · cron daemon</a:t>
            </a:r>
          </a:p>
        </p:txBody>
      </p:sp>
      <p:sp>
        <p:nvSpPr>
          <p:cNvPr id="18" name="Rectangle 17"/>
          <p:cNvSpPr/>
          <p:nvPr/>
        </p:nvSpPr>
        <p:spPr>
          <a:xfrm>
            <a:off x="82296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3000" y="4562856"/>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Remote &amp; infra</a:t>
            </a:r>
          </a:p>
          <a:p>
            <a:pPr algn="l">
              <a:lnSpc>
                <a:spcPct val="102000"/>
              </a:lnSpc>
              <a:spcBef>
                <a:spcPts val="0"/>
              </a:spcBef>
              <a:spcAft>
                <a:spcPts val="800"/>
              </a:spcAft>
            </a:pPr>
            <a:r>
              <a:rPr sz="1400" b="0" i="0">
                <a:solidFill>
                  <a:srgbClr val="4A5260"/>
                </a:solidFill>
                <a:latin typeface="Arial"/>
              </a:rPr>
              <a:t>Cloudflare Tunnels · TLS/WSS · Docker · ntfy.sh</a:t>
            </a:r>
          </a:p>
        </p:txBody>
      </p:sp>
      <p:sp>
        <p:nvSpPr>
          <p:cNvPr id="21" name="Rectangle 20"/>
          <p:cNvSpPr/>
          <p:nvPr/>
        </p:nvSpPr>
        <p:spPr>
          <a:xfrm>
            <a:off x="617220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92240" y="4562856"/>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Data</a:t>
            </a:r>
          </a:p>
          <a:p>
            <a:pPr algn="l">
              <a:lnSpc>
                <a:spcPct val="102000"/>
              </a:lnSpc>
              <a:spcBef>
                <a:spcPts val="0"/>
              </a:spcBef>
              <a:spcAft>
                <a:spcPts val="800"/>
              </a:spcAft>
            </a:pPr>
            <a:r>
              <a:rPr sz="1400" b="0" i="0">
                <a:solidFill>
                  <a:srgbClr val="4A5260"/>
                </a:solidFill>
                <a:latin typeface="Arial"/>
              </a:rPr>
              <a:t>SQLite (sorcar.db)</a:t>
            </a:r>
          </a:p>
        </p:txBody>
      </p:sp>
      <p:sp>
        <p:nvSpPr>
          <p:cNvPr id="24" name="Rectangle 23"/>
          <p:cNvSpPr/>
          <p:nvPr/>
        </p:nvSpPr>
        <p:spPr>
          <a:xfrm>
            <a:off x="82296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3000" y="5577840"/>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Assistants</a:t>
            </a:r>
          </a:p>
          <a:p>
            <a:pPr algn="l">
              <a:lnSpc>
                <a:spcPct val="102000"/>
              </a:lnSpc>
              <a:spcBef>
                <a:spcPts val="0"/>
              </a:spcBef>
              <a:spcAft>
                <a:spcPts val="800"/>
              </a:spcAft>
            </a:pPr>
            <a:r>
              <a:rPr sz="1400" b="0" i="0">
                <a:solidFill>
                  <a:srgbClr val="4A5260"/>
                </a:solidFill>
                <a:latin typeface="Arial"/>
              </a:rPr>
              <a:t>Govee · Slack · iMessage · WhatsApp · Gmail · Resend</a:t>
            </a:r>
          </a:p>
        </p:txBody>
      </p:sp>
      <p:sp>
        <p:nvSpPr>
          <p:cNvPr id="27" name="Rectangle 26"/>
          <p:cNvSpPr/>
          <p:nvPr/>
        </p:nvSpPr>
        <p:spPr>
          <a:xfrm>
            <a:off x="617220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92240" y="5577840"/>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Media</a:t>
            </a:r>
          </a:p>
          <a:p>
            <a:pPr algn="l">
              <a:lnSpc>
                <a:spcPct val="102000"/>
              </a:lnSpc>
              <a:spcBef>
                <a:spcPts val="0"/>
              </a:spcBef>
              <a:spcAft>
                <a:spcPts val="800"/>
              </a:spcAft>
            </a:pPr>
            <a:r>
              <a:rPr sz="1400" b="0" i="0">
                <a:solidFill>
                  <a:srgbClr val="4A5260"/>
                </a:solidFill>
                <a:latin typeface="Arial"/>
              </a:rPr>
              <a:t>python-pptx · Final Cut Pro</a:t>
            </a:r>
          </a:p>
        </p:txBody>
      </p:sp>
      <p:sp>
        <p:nvSpPr>
          <p:cNvPr id="30" name="Rectangle 2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S  P  E  C</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system prompt as engineering specification</a:t>
            </a:r>
          </a:p>
        </p:txBody>
      </p:sp>
      <p:sp>
        <p:nvSpPr>
          <p:cNvPr id="5" name="TextBox 4"/>
          <p:cNvSpPr txBox="1"/>
          <p:nvPr/>
        </p:nvSpPr>
        <p:spPr>
          <a:xfrm>
            <a:off x="822960" y="1783080"/>
            <a:ext cx="5852160" cy="822960"/>
          </a:xfrm>
          <a:prstGeom prst="rect">
            <a:avLst/>
          </a:prstGeom>
          <a:noFill/>
        </p:spPr>
        <p:txBody>
          <a:bodyPr wrap="square" lIns="0" tIns="0" rIns="0" bIns="0" anchor="t">
            <a:spAutoFit/>
          </a:bodyPr>
          <a:lstStyle/>
          <a:p>
            <a:pPr algn="l">
              <a:lnSpc>
                <a:spcPct val="110000"/>
              </a:lnSpc>
              <a:spcBef>
                <a:spcPts val="0"/>
              </a:spcBef>
              <a:spcAft>
                <a:spcPts val="800"/>
              </a:spcAft>
            </a:pPr>
            <a:r>
              <a:rPr sz="2000" b="0" i="0">
                <a:solidFill>
                  <a:srgbClr val="4A5260"/>
                </a:solidFill>
                <a:latin typeface="Arial"/>
              </a:rPr>
              <a:t>A structured, human-readable spec — XML-tagged sections, each encoding one principle.</a:t>
            </a:r>
          </a:p>
        </p:txBody>
      </p:sp>
      <p:sp>
        <p:nvSpPr>
          <p:cNvPr id="6" name="TextBox 5"/>
          <p:cNvSpPr txBox="1"/>
          <p:nvPr/>
        </p:nvSpPr>
        <p:spPr>
          <a:xfrm>
            <a:off x="822960" y="2743200"/>
            <a:ext cx="5852160" cy="3291840"/>
          </a:xfrm>
          <a:prstGeom prst="rect">
            <a:avLst/>
          </a:prstGeom>
          <a:noFill/>
        </p:spPr>
        <p:txBody>
          <a:bodyPr wrap="square" lIns="0" tIns="0" rIns="0" bIns="0" anchor="t">
            <a:spAutoFit/>
          </a:bodyPr>
          <a:lstStyle/>
          <a:p>
            <a:pPr algn="l">
              <a:lnSpc>
                <a:spcPct val="106000"/>
              </a:lnSpc>
              <a:spcAft>
                <a:spcPts val="1600"/>
              </a:spcAft>
            </a:pPr>
            <a:r>
              <a:rPr sz="1800" b="1">
                <a:solidFill>
                  <a:srgbClr val="FDB515"/>
                </a:solidFill>
                <a:latin typeface="Arial"/>
              </a:rPr>
              <a:t>—  </a:t>
            </a:r>
            <a:r>
              <a:rPr sz="1800" b="1">
                <a:solidFill>
                  <a:srgbClr val="003262"/>
                </a:solidFill>
                <a:latin typeface="Arial"/>
              </a:rPr>
              <a:t>Prompt as test oracle:  </a:t>
            </a:r>
            <a:r>
              <a:rPr sz="1800">
                <a:solidFill>
                  <a:srgbClr val="1A1F2B"/>
                </a:solidFill>
                <a:latin typeface="Arial"/>
              </a:rPr>
              <a:t>audit compliance from the log, write a real-LLM test, then patch the prompt.</a:t>
            </a:r>
          </a:p>
          <a:p>
            <a:pPr algn="l">
              <a:lnSpc>
                <a:spcPct val="106000"/>
              </a:lnSpc>
              <a:spcAft>
                <a:spcPts val="1600"/>
              </a:spcAft>
            </a:pPr>
            <a:r>
              <a:rPr sz="1800" b="1">
                <a:solidFill>
                  <a:srgbClr val="FDB515"/>
                </a:solidFill>
                <a:latin typeface="Arial"/>
              </a:rPr>
              <a:t>—  </a:t>
            </a:r>
            <a:r>
              <a:rPr sz="1800" b="1">
                <a:solidFill>
                  <a:srgbClr val="003262"/>
                </a:solidFill>
                <a:latin typeface="Arial"/>
              </a:rPr>
              <a:t>Evolved voice:  </a:t>
            </a:r>
            <a:r>
              <a:rPr sz="1800">
                <a:solidFill>
                  <a:srgbClr val="1A1F2B"/>
                </a:solidFill>
                <a:latin typeface="Arial"/>
              </a:rPr>
              <a:t>from aggressive imperatives to calm, explanatory framing — the agent performed better.</a:t>
            </a:r>
          </a:p>
          <a:p>
            <a:pPr algn="l">
              <a:lnSpc>
                <a:spcPct val="106000"/>
              </a:lnSpc>
              <a:spcAft>
                <a:spcPts val="1600"/>
              </a:spcAft>
            </a:pPr>
            <a:r>
              <a:rPr sz="1800" b="1">
                <a:solidFill>
                  <a:srgbClr val="FDB515"/>
                </a:solidFill>
                <a:latin typeface="Arial"/>
              </a:rPr>
              <a:t>—  </a:t>
            </a:r>
            <a:r>
              <a:rPr sz="1800" b="1">
                <a:solidFill>
                  <a:srgbClr val="003262"/>
                </a:solidFill>
                <a:latin typeface="Arial"/>
              </a:rPr>
              <a:t>Every rule names a failure mode:  </a:t>
            </a:r>
            <a:r>
              <a:rPr sz="1800">
                <a:solidFill>
                  <a:srgbClr val="1A1F2B"/>
                </a:solidFill>
                <a:latin typeface="Arial"/>
              </a:rPr>
              <a:t>a specific action and a specific verification, refined iteratively.</a:t>
            </a:r>
          </a:p>
        </p:txBody>
      </p:sp>
      <p:sp>
        <p:nvSpPr>
          <p:cNvPr id="7" name="Rectangle 6"/>
          <p:cNvSpPr/>
          <p:nvPr/>
        </p:nvSpPr>
        <p:spPr>
          <a:xfrm>
            <a:off x="7040880" y="1828800"/>
            <a:ext cx="4297680" cy="4297680"/>
          </a:xfrm>
          <a:prstGeom prst="rect">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040880" y="1828800"/>
            <a:ext cx="429768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60920" y="2148840"/>
            <a:ext cx="3657600" cy="3840480"/>
          </a:xfrm>
          <a:prstGeom prst="rect">
            <a:avLst/>
          </a:prstGeom>
          <a:noFill/>
        </p:spPr>
        <p:txBody>
          <a:bodyPr wrap="square" lIns="0" tIns="0" rIns="0" bIns="0" anchor="t">
            <a:spAutoFit/>
          </a:bodyPr>
          <a:lstStyle/>
          <a:p>
            <a:pPr algn="l">
              <a:lnSpc>
                <a:spcPct val="100000"/>
              </a:lnSpc>
              <a:spcBef>
                <a:spcPts val="0"/>
              </a:spcBef>
              <a:spcAft>
                <a:spcPts val="800"/>
              </a:spcAft>
            </a:pPr>
            <a:r>
              <a:rPr sz="1800" b="0" i="0">
                <a:solidFill>
                  <a:srgbClr val="7FD3F0"/>
                </a:solidFill>
                <a:latin typeface="Consolas"/>
              </a:rPr>
              <a:t>&lt;identity&gt;</a:t>
            </a:r>
          </a:p>
          <a:p>
            <a:pPr algn="l">
              <a:lnSpc>
                <a:spcPct val="100000"/>
              </a:lnSpc>
              <a:spcBef>
                <a:spcPts val="0"/>
              </a:spcBef>
              <a:spcAft>
                <a:spcPts val="800"/>
              </a:spcAft>
            </a:pPr>
            <a:r>
              <a:rPr sz="1800" b="0" i="0">
                <a:solidFill>
                  <a:srgbClr val="7FD3F0"/>
                </a:solidFill>
                <a:latin typeface="Consolas"/>
              </a:rPr>
              <a:t>&lt;visibility_constraint&gt;</a:t>
            </a:r>
          </a:p>
          <a:p>
            <a:pPr algn="l">
              <a:lnSpc>
                <a:spcPct val="100000"/>
              </a:lnSpc>
              <a:spcBef>
                <a:spcPts val="0"/>
              </a:spcBef>
              <a:spcAft>
                <a:spcPts val="800"/>
              </a:spcAft>
            </a:pPr>
            <a:r>
              <a:rPr sz="1800" b="0" i="0">
                <a:solidFill>
                  <a:srgbClr val="7FD3F0"/>
                </a:solidFill>
                <a:latin typeface="Consolas"/>
              </a:rPr>
              <a:t>&lt;tool_rules&gt;</a:t>
            </a:r>
          </a:p>
          <a:p>
            <a:pPr algn="l">
              <a:lnSpc>
                <a:spcPct val="100000"/>
              </a:lnSpc>
              <a:spcBef>
                <a:spcPts val="0"/>
              </a:spcBef>
              <a:spcAft>
                <a:spcPts val="800"/>
              </a:spcAft>
            </a:pPr>
            <a:r>
              <a:rPr sz="1800" b="0" i="0">
                <a:solidFill>
                  <a:srgbClr val="7FD3F0"/>
                </a:solidFill>
                <a:latin typeface="Consolas"/>
              </a:rPr>
              <a:t>&lt;web_research&gt;</a:t>
            </a:r>
          </a:p>
          <a:p>
            <a:pPr algn="l">
              <a:lnSpc>
                <a:spcPct val="100000"/>
              </a:lnSpc>
              <a:spcBef>
                <a:spcPts val="0"/>
              </a:spcBef>
              <a:spcAft>
                <a:spcPts val="800"/>
              </a:spcAft>
            </a:pPr>
            <a:r>
              <a:rPr sz="1800" b="0" i="0">
                <a:solidFill>
                  <a:srgbClr val="7FD3F0"/>
                </a:solidFill>
                <a:latin typeface="Consolas"/>
              </a:rPr>
              <a:t>&lt;code_style&gt;</a:t>
            </a:r>
          </a:p>
          <a:p>
            <a:pPr algn="l">
              <a:lnSpc>
                <a:spcPct val="100000"/>
              </a:lnSpc>
              <a:spcBef>
                <a:spcPts val="0"/>
              </a:spcBef>
              <a:spcAft>
                <a:spcPts val="800"/>
              </a:spcAft>
            </a:pPr>
            <a:r>
              <a:rPr sz="1800" b="0" i="0">
                <a:solidFill>
                  <a:srgbClr val="7FD3F0"/>
                </a:solidFill>
                <a:latin typeface="Consolas"/>
              </a:rPr>
              <a:t>&lt;workflow&gt;</a:t>
            </a:r>
          </a:p>
          <a:p>
            <a:pPr algn="l">
              <a:lnSpc>
                <a:spcPct val="100000"/>
              </a:lnSpc>
              <a:spcBef>
                <a:spcPts val="0"/>
              </a:spcBef>
              <a:spcAft>
                <a:spcPts val="800"/>
              </a:spcAft>
            </a:pPr>
            <a:r>
              <a:rPr sz="1800" b="0" i="0">
                <a:solidFill>
                  <a:srgbClr val="7FD3F0"/>
                </a:solidFill>
                <a:latin typeface="Consolas"/>
              </a:rPr>
              <a:t>&lt;testing&gt;</a:t>
            </a:r>
          </a:p>
          <a:p>
            <a:pPr algn="l">
              <a:lnSpc>
                <a:spcPct val="100000"/>
              </a:lnSpc>
              <a:spcBef>
                <a:spcPts val="0"/>
              </a:spcBef>
              <a:spcAft>
                <a:spcPts val="800"/>
              </a:spcAft>
            </a:pPr>
            <a:r>
              <a:rPr sz="1800" b="0" i="0">
                <a:solidFill>
                  <a:srgbClr val="7FD3F0"/>
                </a:solidFill>
                <a:latin typeface="Consolas"/>
              </a:rPr>
              <a:t>&lt;pre_finish_verification&gt;</a:t>
            </a:r>
          </a:p>
          <a:p>
            <a:pPr algn="l">
              <a:lnSpc>
                <a:spcPct val="100000"/>
              </a:lnSpc>
              <a:spcBef>
                <a:spcPts val="0"/>
              </a:spcBef>
              <a:spcAft>
                <a:spcPts val="800"/>
              </a:spcAft>
            </a:pPr>
            <a:r>
              <a:rPr sz="1800" b="0" i="0">
                <a:solidFill>
                  <a:srgbClr val="7FD3F0"/>
                </a:solidFill>
                <a:latin typeface="Consolas"/>
              </a:rPr>
              <a:t>&lt;sorcar_specific&gt;</a:t>
            </a:r>
          </a:p>
        </p:txBody>
      </p:sp>
      <p:sp>
        <p:nvSpPr>
          <p:cNvPr id="10" name="Rectangle 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2" name="TextBox 1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L  E  S  S  O  N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What the patterns reveal</a:t>
            </a:r>
          </a:p>
        </p:txBody>
      </p:sp>
      <p:sp>
        <p:nvSpPr>
          <p:cNvPr id="5" name="TextBox 4"/>
          <p:cNvSpPr txBox="1"/>
          <p:nvPr/>
        </p:nvSpPr>
        <p:spPr>
          <a:xfrm>
            <a:off x="822960" y="1920240"/>
            <a:ext cx="10607040" cy="4297680"/>
          </a:xfrm>
          <a:prstGeom prst="rect">
            <a:avLst/>
          </a:prstGeom>
          <a:noFill/>
        </p:spPr>
        <p:txBody>
          <a:bodyPr wrap="square" lIns="0" tIns="0" rIns="0" bIns="0" anchor="t">
            <a:spAutoFit/>
          </a:bodyPr>
          <a:lstStyle/>
          <a:p>
            <a:pPr algn="l">
              <a:lnSpc>
                <a:spcPct val="106000"/>
              </a:lnSpc>
              <a:spcAft>
                <a:spcPts val="1600"/>
              </a:spcAft>
            </a:pPr>
            <a:r>
              <a:rPr sz="2000" b="1">
                <a:solidFill>
                  <a:srgbClr val="FDB515"/>
                </a:solidFill>
                <a:latin typeface="Arial"/>
              </a:rPr>
              <a:t>—  </a:t>
            </a:r>
            <a:r>
              <a:rPr sz="2000" b="1">
                <a:solidFill>
                  <a:srgbClr val="003262"/>
                </a:solidFill>
                <a:latin typeface="Arial"/>
              </a:rPr>
              <a:t>The role shifts:  </a:t>
            </a:r>
            <a:r>
              <a:rPr sz="2000">
                <a:solidFill>
                  <a:srgbClr val="1A1F2B"/>
                </a:solidFill>
                <a:latin typeface="Arial"/>
              </a:rPr>
              <a:t>from writing code to directing and verifying an agent that writes code — discipline lives in task phrasing.</a:t>
            </a:r>
          </a:p>
          <a:p>
            <a:pPr algn="l">
              <a:lnSpc>
                <a:spcPct val="106000"/>
              </a:lnSpc>
              <a:spcAft>
                <a:spcPts val="1600"/>
              </a:spcAft>
            </a:pPr>
            <a:r>
              <a:rPr sz="2000" b="1">
                <a:solidFill>
                  <a:srgbClr val="FDB515"/>
                </a:solidFill>
                <a:latin typeface="Arial"/>
              </a:rPr>
              <a:t>—  </a:t>
            </a:r>
            <a:r>
              <a:rPr sz="2000" b="1">
                <a:solidFill>
                  <a:srgbClr val="003262"/>
                </a:solidFill>
                <a:latin typeface="Arial"/>
              </a:rPr>
              <a:t>Natural language is precise enough:  </a:t>
            </a:r>
            <a:r>
              <a:rPr sz="2000">
                <a:solidFill>
                  <a:srgbClr val="1A1F2B"/>
                </a:solidFill>
                <a:latin typeface="Arial"/>
              </a:rPr>
              <a:t>when explanation and edit come from the same agent over the same source, vague instructions land.</a:t>
            </a:r>
          </a:p>
          <a:p>
            <a:pPr algn="l">
              <a:lnSpc>
                <a:spcPct val="106000"/>
              </a:lnSpc>
              <a:spcAft>
                <a:spcPts val="1600"/>
              </a:spcAft>
            </a:pPr>
            <a:r>
              <a:rPr sz="2000" b="1">
                <a:solidFill>
                  <a:srgbClr val="FDB515"/>
                </a:solidFill>
                <a:latin typeface="Arial"/>
              </a:rPr>
              <a:t>—  </a:t>
            </a:r>
            <a:r>
              <a:rPr sz="2000" b="1">
                <a:solidFill>
                  <a:srgbClr val="003262"/>
                </a:solidFill>
                <a:latin typeface="Arial"/>
              </a:rPr>
              <a:t>The self-hosting paradox:  </a:t>
            </a:r>
            <a:r>
              <a:rPr sz="2000">
                <a:solidFill>
                  <a:srgbClr val="1A1F2B"/>
                </a:solidFill>
                <a:latin typeface="Arial"/>
              </a:rPr>
              <a:t>the tool must be good enough to build itself; resolved by bootstrapping, version by version.</a:t>
            </a:r>
          </a:p>
          <a:p>
            <a:pPr algn="l">
              <a:lnSpc>
                <a:spcPct val="106000"/>
              </a:lnSpc>
              <a:spcAft>
                <a:spcPts val="1600"/>
              </a:spcAft>
            </a:pPr>
            <a:r>
              <a:rPr sz="2000" b="1">
                <a:solidFill>
                  <a:srgbClr val="FDB515"/>
                </a:solidFill>
                <a:latin typeface="Arial"/>
              </a:rPr>
              <a:t>—  </a:t>
            </a:r>
            <a:r>
              <a:rPr sz="2000" b="1">
                <a:solidFill>
                  <a:srgbClr val="003262"/>
                </a:solidFill>
                <a:latin typeface="Arial"/>
              </a:rPr>
              <a:t>Cost of the approach:  </a:t>
            </a:r>
            <a:r>
              <a:rPr sz="2000">
                <a:solidFill>
                  <a:srgbClr val="1A1F2B"/>
                </a:solidFill>
                <a:latin typeface="Arial"/>
              </a:rPr>
              <a:t>~1 in 90 tasks needed a defensive revert — but every surviving change is validated by its own maintainer.</a:t>
            </a:r>
          </a:p>
          <a:p>
            <a:pPr algn="l">
              <a:lnSpc>
                <a:spcPct val="106000"/>
              </a:lnSpc>
              <a:spcAft>
                <a:spcPts val="1600"/>
              </a:spcAft>
            </a:pPr>
            <a:r>
              <a:rPr sz="2000" b="1">
                <a:solidFill>
                  <a:srgbClr val="FDB515"/>
                </a:solidFill>
                <a:latin typeface="Arial"/>
              </a:rPr>
              <a:t>—  </a:t>
            </a:r>
            <a:r>
              <a:rPr sz="2000" b="1">
                <a:solidFill>
                  <a:srgbClr val="003262"/>
                </a:solidFill>
                <a:latin typeface="Arial"/>
              </a:rPr>
              <a:t>A general-purpose companion:  </a:t>
            </a:r>
            <a:r>
              <a:rPr sz="2000">
                <a:solidFill>
                  <a:srgbClr val="1A1F2B"/>
                </a:solidFill>
                <a:latin typeface="Arial"/>
              </a:rPr>
              <a:t>because it is used all day, it becomes the interface for everything, not just coding.</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V  E  A  T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Threats to validity</a:t>
            </a:r>
          </a:p>
        </p:txBody>
      </p:sp>
      <p:sp>
        <p:nvSpPr>
          <p:cNvPr id="5" name="Rectangle 4"/>
          <p:cNvSpPr/>
          <p:nvPr/>
        </p:nvSpPr>
        <p:spPr>
          <a:xfrm>
            <a:off x="822960" y="228600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28600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228600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Single developer</a:t>
            </a:r>
          </a:p>
        </p:txBody>
      </p:sp>
      <p:sp>
        <p:nvSpPr>
          <p:cNvPr id="8" name="TextBox 7"/>
          <p:cNvSpPr txBox="1"/>
          <p:nvPr/>
        </p:nvSpPr>
        <p:spPr>
          <a:xfrm>
            <a:off x="4572000" y="228600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All 3,099 tasks came from one person; other developers may differ.</a:t>
            </a:r>
          </a:p>
        </p:txBody>
      </p:sp>
      <p:sp>
        <p:nvSpPr>
          <p:cNvPr id="9" name="Rectangle 8"/>
          <p:cNvSpPr/>
          <p:nvPr/>
        </p:nvSpPr>
        <p:spPr>
          <a:xfrm>
            <a:off x="822960" y="361188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2960" y="361188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88720" y="361188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Single system</a:t>
            </a:r>
          </a:p>
        </p:txBody>
      </p:sp>
      <p:sp>
        <p:nvSpPr>
          <p:cNvPr id="12" name="TextBox 11"/>
          <p:cNvSpPr txBox="1"/>
          <p:nvPr/>
        </p:nvSpPr>
        <p:spPr>
          <a:xfrm>
            <a:off x="4572000" y="361188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Patterns are specific to KISS Sorcar's architecture.</a:t>
            </a:r>
          </a:p>
        </p:txBody>
      </p:sp>
      <p:sp>
        <p:nvSpPr>
          <p:cNvPr id="13" name="Rectangle 12"/>
          <p:cNvSpPr/>
          <p:nvPr/>
        </p:nvSpPr>
        <p:spPr>
          <a:xfrm>
            <a:off x="822960" y="493776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493776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88720" y="493776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Self-hosting bias</a:t>
            </a:r>
          </a:p>
        </p:txBody>
      </p:sp>
      <p:sp>
        <p:nvSpPr>
          <p:cNvPr id="16" name="TextBox 15"/>
          <p:cNvSpPr txBox="1"/>
          <p:nvPr/>
        </p:nvSpPr>
        <p:spPr>
          <a:xfrm>
            <a:off x="4572000" y="493776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The design is optimized for tasks the agent already does well.</a:t>
            </a:r>
          </a:p>
        </p:txBody>
      </p:sp>
      <p:sp>
        <p:nvSpPr>
          <p:cNvPr id="17" name="Rectangle 16"/>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9" name="TextBox 18"/>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92240"/>
            <a:ext cx="12191695" cy="3657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FFFFFF"/>
                </a:solidFill>
              </a:defRPr>
            </a:pPr>
            <a:r>
              <a:t>KISS Sorcar — Koushik Sen, UC Berkeley</a:t>
            </a:r>
          </a:p>
        </p:txBody>
      </p:sp>
      <p:sp>
        <p:nvSpPr>
          <p:cNvPr id="5" name="TextBox 4"/>
          <p:cNvSpPr txBox="1"/>
          <p:nvPr/>
        </p:nvSpPr>
        <p:spPr>
          <a:xfrm>
            <a:off x="731520" y="457200"/>
            <a:ext cx="10728655" cy="731520"/>
          </a:xfrm>
          <a:prstGeom prst="rect">
            <a:avLst/>
          </a:prstGeom>
          <a:noFill/>
        </p:spPr>
        <p:txBody>
          <a:bodyPr wrap="square">
            <a:spAutoFit/>
          </a:bodyPr>
          <a:lstStyle/>
          <a:p>
            <a:pPr algn="l">
              <a:defRPr sz="3600" b="1">
                <a:solidFill>
                  <a:srgbClr val="1B2A4A"/>
                </a:solidFill>
              </a:defRPr>
            </a:pPr>
            <a:r>
              <a:t>Web Research &amp; File Browsing Protocols</a:t>
            </a:r>
          </a:p>
        </p:txBody>
      </p:sp>
      <p:sp>
        <p:nvSpPr>
          <p:cNvPr id="6" name="Rounded Rectangle 5"/>
          <p:cNvSpPr/>
          <p:nvPr/>
        </p:nvSpPr>
        <p:spPr>
          <a:xfrm>
            <a:off x="478231" y="1485900"/>
            <a:ext cx="11036808" cy="457200"/>
          </a:xfrm>
          <a:prstGeom prst="roundRect">
            <a:avLst>
              <a:gd name="adj" fmla="val 5000"/>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800" b="1">
                <a:solidFill>
                  <a:srgbClr val="FFFFFF"/>
                </a:solidFill>
              </a:defRPr>
            </a:pPr>
            <a:r>
              <a:rPr dirty="0"/>
              <a:t>Two-Phase Approach:  COLLECT first  →  SYNTHESIZE second  (skipped for pure code edits with sufficient context)</a:t>
            </a:r>
          </a:p>
        </p:txBody>
      </p:sp>
      <p:sp>
        <p:nvSpPr>
          <p:cNvPr id="7" name="Rounded Rectangle 6"/>
          <p:cNvSpPr/>
          <p:nvPr/>
        </p:nvSpPr>
        <p:spPr>
          <a:xfrm>
            <a:off x="731520" y="2286000"/>
            <a:ext cx="5029200" cy="365760"/>
          </a:xfrm>
          <a:prstGeom prst="roundRect">
            <a:avLst>
              <a:gd name="adj" fmla="val 500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Web Research</a:t>
            </a:r>
          </a:p>
        </p:txBody>
      </p:sp>
      <p:sp>
        <p:nvSpPr>
          <p:cNvPr id="8" name="TextBox 7"/>
          <p:cNvSpPr txBox="1"/>
          <p:nvPr/>
        </p:nvSpPr>
        <p:spPr>
          <a:xfrm>
            <a:off x="914400" y="2834640"/>
            <a:ext cx="4754880" cy="274320"/>
          </a:xfrm>
          <a:prstGeom prst="rect">
            <a:avLst/>
          </a:prstGeom>
          <a:noFill/>
        </p:spPr>
        <p:txBody>
          <a:bodyPr wrap="none">
            <a:spAutoFit/>
          </a:bodyPr>
          <a:lstStyle/>
          <a:p>
            <a:pPr>
              <a:defRPr sz="1200">
                <a:solidFill>
                  <a:srgbClr val="374151"/>
                </a:solidFill>
              </a:defRPr>
            </a:pPr>
            <a:r>
              <a:t>• Visit AT LEAST 10 websites (HARD requirement)</a:t>
            </a:r>
          </a:p>
        </p:txBody>
      </p:sp>
      <p:sp>
        <p:nvSpPr>
          <p:cNvPr id="9" name="TextBox 8"/>
          <p:cNvSpPr txBox="1"/>
          <p:nvPr/>
        </p:nvSpPr>
        <p:spPr>
          <a:xfrm>
            <a:off x="914400" y="3154680"/>
            <a:ext cx="4754880" cy="274320"/>
          </a:xfrm>
          <a:prstGeom prst="rect">
            <a:avLst/>
          </a:prstGeom>
          <a:noFill/>
        </p:spPr>
        <p:txBody>
          <a:bodyPr wrap="none">
            <a:spAutoFit/>
          </a:bodyPr>
          <a:lstStyle/>
          <a:p>
            <a:pPr>
              <a:defRPr sz="1200">
                <a:solidFill>
                  <a:srgbClr val="374151"/>
                </a:solidFill>
              </a:defRPr>
            </a:pPr>
            <a:r>
              <a:t>• Use go_to_url() only — NOT curl/wget (loophole closed)</a:t>
            </a:r>
          </a:p>
        </p:txBody>
      </p:sp>
      <p:sp>
        <p:nvSpPr>
          <p:cNvPr id="10" name="TextBox 9"/>
          <p:cNvSpPr txBox="1"/>
          <p:nvPr/>
        </p:nvSpPr>
        <p:spPr>
          <a:xfrm>
            <a:off x="914400" y="3474720"/>
            <a:ext cx="4754880" cy="274320"/>
          </a:xfrm>
          <a:prstGeom prst="rect">
            <a:avLst/>
          </a:prstGeom>
          <a:noFill/>
        </p:spPr>
        <p:txBody>
          <a:bodyPr wrap="none">
            <a:spAutoFit/>
          </a:bodyPr>
          <a:lstStyle/>
          <a:p>
            <a:pPr>
              <a:defRPr sz="1200">
                <a:solidFill>
                  <a:srgbClr val="374151"/>
                </a:solidFill>
              </a:defRPr>
            </a:pPr>
            <a:r>
              <a:t>• Collect into PWD/tmp/information-{id}.md (your proof of work)</a:t>
            </a:r>
          </a:p>
        </p:txBody>
      </p:sp>
      <p:sp>
        <p:nvSpPr>
          <p:cNvPr id="11" name="TextBox 10"/>
          <p:cNvSpPr txBox="1"/>
          <p:nvPr/>
        </p:nvSpPr>
        <p:spPr>
          <a:xfrm>
            <a:off x="914400" y="3794760"/>
            <a:ext cx="4754880" cy="274320"/>
          </a:xfrm>
          <a:prstGeom prst="rect">
            <a:avLst/>
          </a:prstGeom>
          <a:noFill/>
        </p:spPr>
        <p:txBody>
          <a:bodyPr wrap="none">
            <a:spAutoFit/>
          </a:bodyPr>
          <a:lstStyle/>
          <a:p>
            <a:pPr>
              <a:defRPr sz="1200">
                <a:solidFill>
                  <a:srgbClr val="374151"/>
                </a:solidFill>
              </a:defRPr>
            </a:pPr>
            <a:r>
              <a:t>• Real-time data: look it up — never answer from training memory</a:t>
            </a:r>
          </a:p>
        </p:txBody>
      </p:sp>
      <p:sp>
        <p:nvSpPr>
          <p:cNvPr id="12" name="TextBox 11"/>
          <p:cNvSpPr txBox="1"/>
          <p:nvPr/>
        </p:nvSpPr>
        <p:spPr>
          <a:xfrm>
            <a:off x="914400" y="4114800"/>
            <a:ext cx="4754880" cy="274320"/>
          </a:xfrm>
          <a:prstGeom prst="rect">
            <a:avLst/>
          </a:prstGeom>
          <a:noFill/>
        </p:spPr>
        <p:txBody>
          <a:bodyPr wrap="none">
            <a:spAutoFit/>
          </a:bodyPr>
          <a:lstStyle/>
          <a:p>
            <a:pPr>
              <a:defRPr sz="1200">
                <a:solidFill>
                  <a:srgbClr val="374151"/>
                </a:solidFill>
              </a:defRPr>
            </a:pPr>
            <a:r>
              <a:t>• Don’t fabricate source counts; skip for code edits with context</a:t>
            </a:r>
          </a:p>
        </p:txBody>
      </p:sp>
      <p:sp>
        <p:nvSpPr>
          <p:cNvPr id="13" name="Rounded Rectangle 12"/>
          <p:cNvSpPr/>
          <p:nvPr/>
        </p:nvSpPr>
        <p:spPr>
          <a:xfrm>
            <a:off x="6217920" y="2286000"/>
            <a:ext cx="5212080" cy="365760"/>
          </a:xfrm>
          <a:prstGeom prst="roundRect">
            <a:avLst>
              <a:gd name="adj" fmla="val 5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File Browsing</a:t>
            </a:r>
          </a:p>
        </p:txBody>
      </p:sp>
      <p:sp>
        <p:nvSpPr>
          <p:cNvPr id="14" name="TextBox 13"/>
          <p:cNvSpPr txBox="1"/>
          <p:nvPr/>
        </p:nvSpPr>
        <p:spPr>
          <a:xfrm>
            <a:off x="6400800" y="2834640"/>
            <a:ext cx="4937760" cy="274320"/>
          </a:xfrm>
          <a:prstGeom prst="rect">
            <a:avLst/>
          </a:prstGeom>
          <a:noFill/>
        </p:spPr>
        <p:txBody>
          <a:bodyPr wrap="none">
            <a:spAutoFit/>
          </a:bodyPr>
          <a:lstStyle/>
          <a:p>
            <a:pPr>
              <a:defRPr sz="1200">
                <a:solidFill>
                  <a:srgbClr val="374151"/>
                </a:solidFill>
              </a:defRPr>
            </a:pPr>
            <a:r>
              <a:t>• Read files into PWD/tmp/file-information-{id}.md</a:t>
            </a:r>
          </a:p>
        </p:txBody>
      </p:sp>
      <p:sp>
        <p:nvSpPr>
          <p:cNvPr id="15" name="TextBox 14"/>
          <p:cNvSpPr txBox="1"/>
          <p:nvPr/>
        </p:nvSpPr>
        <p:spPr>
          <a:xfrm>
            <a:off x="6400800" y="3154680"/>
            <a:ext cx="4937760" cy="274320"/>
          </a:xfrm>
          <a:prstGeom prst="rect">
            <a:avLst/>
          </a:prstGeom>
          <a:noFill/>
        </p:spPr>
        <p:txBody>
          <a:bodyPr wrap="none">
            <a:spAutoFit/>
          </a:bodyPr>
          <a:lstStyle/>
          <a:p>
            <a:pPr>
              <a:defRPr sz="1200">
                <a:solidFill>
                  <a:srgbClr val="374151"/>
                </a:solidFill>
              </a:defRPr>
            </a:pPr>
            <a:r>
              <a:t>• Collect WITHOUT much thinking first</a:t>
            </a:r>
          </a:p>
        </p:txBody>
      </p:sp>
      <p:sp>
        <p:nvSpPr>
          <p:cNvPr id="16" name="TextBox 15"/>
          <p:cNvSpPr txBox="1"/>
          <p:nvPr/>
        </p:nvSpPr>
        <p:spPr>
          <a:xfrm>
            <a:off x="6400800" y="3474720"/>
            <a:ext cx="4937760" cy="274320"/>
          </a:xfrm>
          <a:prstGeom prst="rect">
            <a:avLst/>
          </a:prstGeom>
          <a:noFill/>
        </p:spPr>
        <p:txBody>
          <a:bodyPr wrap="none">
            <a:spAutoFit/>
          </a:bodyPr>
          <a:lstStyle/>
          <a:p>
            <a:pPr>
              <a:defRPr sz="1200">
                <a:solidFill>
                  <a:srgbClr val="374151"/>
                </a:solidFill>
              </a:defRPr>
            </a:pPr>
            <a:r>
              <a:t>• Extract facts: signatures, hierarchies, call sites</a:t>
            </a:r>
          </a:p>
        </p:txBody>
      </p:sp>
      <p:sp>
        <p:nvSpPr>
          <p:cNvPr id="17" name="TextBox 16"/>
          <p:cNvSpPr txBox="1"/>
          <p:nvPr/>
        </p:nvSpPr>
        <p:spPr>
          <a:xfrm>
            <a:off x="6400800" y="3794760"/>
            <a:ext cx="4937760" cy="274320"/>
          </a:xfrm>
          <a:prstGeom prst="rect">
            <a:avLst/>
          </a:prstGeom>
          <a:noFill/>
        </p:spPr>
        <p:txBody>
          <a:bodyPr wrap="none">
            <a:spAutoFit/>
          </a:bodyPr>
          <a:lstStyle/>
          <a:p>
            <a:pPr>
              <a:defRPr sz="1200">
                <a:solidFill>
                  <a:srgbClr val="374151"/>
                </a:solidFill>
              </a:defRPr>
            </a:pPr>
            <a:r>
              <a:t>• Summary is smaller than raw files — saves context</a:t>
            </a:r>
          </a:p>
        </p:txBody>
      </p:sp>
      <p:sp>
        <p:nvSpPr>
          <p:cNvPr id="18" name="TextBox 17"/>
          <p:cNvSpPr txBox="1"/>
          <p:nvPr/>
        </p:nvSpPr>
        <p:spPr>
          <a:xfrm>
            <a:off x="6400800" y="4114800"/>
            <a:ext cx="4937760" cy="274320"/>
          </a:xfrm>
          <a:prstGeom prst="rect">
            <a:avLst/>
          </a:prstGeom>
          <a:noFill/>
        </p:spPr>
        <p:txBody>
          <a:bodyPr wrap="none">
            <a:spAutoFit/>
          </a:bodyPr>
          <a:lstStyle/>
          <a:p>
            <a:pPr>
              <a:defRPr sz="1200">
                <a:solidFill>
                  <a:srgbClr val="374151"/>
                </a:solidFill>
              </a:defRPr>
            </a:pPr>
            <a:r>
              <a:t>• Prevents premature commitment to a plan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436D8-CD3B-5F85-10F7-6F8CCCD56019}"/>
              </a:ext>
            </a:extLst>
          </p:cNvPr>
          <p:cNvSpPr>
            <a:spLocks noGrp="1"/>
          </p:cNvSpPr>
          <p:nvPr>
            <p:ph type="title"/>
          </p:nvPr>
        </p:nvSpPr>
        <p:spPr>
          <a:xfrm>
            <a:off x="457199" y="274638"/>
            <a:ext cx="11321143" cy="1143000"/>
          </a:xfrm>
        </p:spPr>
        <p:txBody>
          <a:bodyPr/>
          <a:lstStyle/>
          <a:p>
            <a:r>
              <a:rPr lang="en-US" dirty="0"/>
              <a:t>AI Discovery</a:t>
            </a:r>
          </a:p>
        </p:txBody>
      </p:sp>
      <p:sp>
        <p:nvSpPr>
          <p:cNvPr id="3" name="Content Placeholder 2">
            <a:extLst>
              <a:ext uri="{FF2B5EF4-FFF2-40B4-BE49-F238E27FC236}">
                <a16:creationId xmlns:a16="http://schemas.microsoft.com/office/drawing/2014/main" id="{1CAFC602-A42E-1D9F-9E65-DCE38D218567}"/>
              </a:ext>
            </a:extLst>
          </p:cNvPr>
          <p:cNvSpPr>
            <a:spLocks noGrp="1"/>
          </p:cNvSpPr>
          <p:nvPr>
            <p:ph idx="1"/>
          </p:nvPr>
        </p:nvSpPr>
        <p:spPr>
          <a:xfrm>
            <a:off x="457200" y="1600200"/>
            <a:ext cx="11321142" cy="4525963"/>
          </a:xfrm>
        </p:spPr>
        <p:txBody>
          <a:bodyPr>
            <a:normAutofit fontScale="70000" lnSpcReduction="20000"/>
          </a:bodyPr>
          <a:lstStyle/>
          <a:p>
            <a:r>
              <a:rPr lang="en-US" dirty="0"/>
              <a:t>Can you discover the lightest and fastest AI model that will give the best accuracy and recall on the data at &lt;&lt;/path/to/data&gt;&gt; at the cheapest price? Analyze the data and search the internet extensively to propose the first few models. Implement and experiment with each of your proposals. Note down the ideas you used to optimize the accuracy/recall and speed/cost metrics achieved in a file, so that you can use the file to not repeat ideas that have already been tried and/or failed. You can also use the file to combine ideas that have been successful in the past. Separate 20% of the data for evals, and your discovery strategy must not look at the evals data. Use 'lambda' CLI to train your models on GPUs and evaluate if needed. Total budget for Lambda Labs is $1000. Experiment with a smaller subset of data and fewer parameters in a model to do experiments quickly and then extrapolate. Use internet search extensively at every step. MAKE SURE THAT YOU DO NOT DO REWARD HACKING OR CHEATING IN THE MODELS OR AGENTS YOU ARE IMPLEMENTING TO FIT DATA. YOUR SOLUTION MUST GENERALIZE BEYOND THE DATA PROVIDED. Do not STOP until accuracy/recall reaches 95% on evals and you can process each query in less than 600 seconds and under 50 USD per query amortized over all queries. Create an html report with diagrams and illustrations in ./reports and open it in the user's default browser?</a:t>
            </a:r>
          </a:p>
        </p:txBody>
      </p:sp>
    </p:spTree>
    <p:extLst>
      <p:ext uri="{BB962C8B-B14F-4D97-AF65-F5344CB8AC3E}">
        <p14:creationId xmlns:p14="http://schemas.microsoft.com/office/powerpoint/2010/main" val="23453716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A  K  E  A  W  A  Y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Conclusion</a:t>
            </a:r>
          </a:p>
        </p:txBody>
      </p:sp>
      <p:sp>
        <p:nvSpPr>
          <p:cNvPr id="5" name="TextBox 4"/>
          <p:cNvSpPr txBox="1"/>
          <p:nvPr/>
        </p:nvSpPr>
        <p:spPr>
          <a:xfrm>
            <a:off x="822960" y="2011680"/>
            <a:ext cx="10607040" cy="2011680"/>
          </a:xfrm>
          <a:prstGeom prst="rect">
            <a:avLst/>
          </a:prstGeom>
          <a:noFill/>
        </p:spPr>
        <p:txBody>
          <a:bodyPr wrap="square" lIns="0" tIns="0" rIns="0" bIns="0" anchor="t">
            <a:spAutoFit/>
          </a:bodyPr>
          <a:lstStyle/>
          <a:p>
            <a:pPr algn="l">
              <a:lnSpc>
                <a:spcPct val="106000"/>
              </a:lnSpc>
              <a:spcAft>
                <a:spcPts val="1800"/>
              </a:spcAft>
            </a:pPr>
            <a:r>
              <a:rPr sz="2300" b="1">
                <a:solidFill>
                  <a:srgbClr val="FDB515"/>
                </a:solidFill>
                <a:latin typeface="Arial"/>
              </a:rPr>
              <a:t>—  </a:t>
            </a:r>
            <a:r>
              <a:rPr sz="2300">
                <a:solidFill>
                  <a:srgbClr val="1A1F2B"/>
                </a:solidFill>
                <a:latin typeface="Arial"/>
              </a:rPr>
              <a:t>Nine patterns emerged from 44 days of building KISS Sorcar with itself.</a:t>
            </a:r>
          </a:p>
          <a:p>
            <a:pPr algn="l">
              <a:lnSpc>
                <a:spcPct val="106000"/>
              </a:lnSpc>
              <a:spcAft>
                <a:spcPts val="1800"/>
              </a:spcAft>
            </a:pPr>
            <a:r>
              <a:rPr sz="2300" b="1">
                <a:solidFill>
                  <a:srgbClr val="FDB515"/>
                </a:solidFill>
                <a:latin typeface="Arial"/>
              </a:rPr>
              <a:t>—  </a:t>
            </a:r>
            <a:r>
              <a:rPr sz="2300">
                <a:solidFill>
                  <a:srgbClr val="1A1F2B"/>
                </a:solidFill>
                <a:latin typeface="Arial"/>
              </a:rPr>
              <a:t>Each maps to a decades-old software engineering principle.</a:t>
            </a:r>
          </a:p>
          <a:p>
            <a:pPr algn="l">
              <a:lnSpc>
                <a:spcPct val="106000"/>
              </a:lnSpc>
              <a:spcAft>
                <a:spcPts val="1800"/>
              </a:spcAft>
            </a:pPr>
            <a:r>
              <a:rPr sz="2300" b="1">
                <a:solidFill>
                  <a:srgbClr val="FDB515"/>
                </a:solidFill>
                <a:latin typeface="Arial"/>
              </a:rPr>
              <a:t>—  </a:t>
            </a:r>
            <a:r>
              <a:rPr sz="2300">
                <a:solidFill>
                  <a:srgbClr val="1A1F2B"/>
                </a:solidFill>
                <a:latin typeface="Arial"/>
              </a:rPr>
              <a:t>One 2,400-line framework and a single structured prompt wrote code in five languages, controlled lights, planned trips, and refused an unethical request.</a:t>
            </a:r>
          </a:p>
        </p:txBody>
      </p:sp>
      <p:sp>
        <p:nvSpPr>
          <p:cNvPr id="6" name="Rectangle 5"/>
          <p:cNvSpPr/>
          <p:nvPr/>
        </p:nvSpPr>
        <p:spPr>
          <a:xfrm>
            <a:off x="822960" y="4572000"/>
            <a:ext cx="10515600" cy="141732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4572000"/>
            <a:ext cx="1051560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88720" y="4572000"/>
            <a:ext cx="9784080" cy="1417320"/>
          </a:xfrm>
          <a:prstGeom prst="rect">
            <a:avLst/>
          </a:prstGeom>
          <a:noFill/>
        </p:spPr>
        <p:txBody>
          <a:bodyPr wrap="square" lIns="0" tIns="0" rIns="0" bIns="0" anchor="ctr">
            <a:spAutoFit/>
          </a:bodyPr>
          <a:lstStyle/>
          <a:p>
            <a:pPr algn="l">
              <a:lnSpc>
                <a:spcPct val="112000"/>
              </a:lnSpc>
              <a:spcBef>
                <a:spcPts val="0"/>
              </a:spcBef>
              <a:spcAft>
                <a:spcPts val="800"/>
              </a:spcAft>
            </a:pPr>
            <a:r>
              <a:rPr sz="2100" b="0" i="1">
                <a:solidFill>
                  <a:srgbClr val="FFFFFF"/>
                </a:solidFill>
                <a:latin typeface="Arial"/>
              </a:rPr>
              <a:t>The surprise is not the principles — they are decades old. The surprise is that encoding them in a prompt and a simple layered architecture produces an assistant that works well enough to build itself.</a:t>
            </a:r>
          </a:p>
        </p:txBody>
      </p:sp>
      <p:sp>
        <p:nvSpPr>
          <p:cNvPr id="9" name="Rectangle 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1" name="TextBox 1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25</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6601968"/>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651760"/>
            <a:ext cx="10515600" cy="1828800"/>
          </a:xfrm>
          <a:prstGeom prst="rect">
            <a:avLst/>
          </a:prstGeom>
          <a:noFill/>
        </p:spPr>
        <p:txBody>
          <a:bodyPr wrap="square" lIns="0" tIns="0" rIns="0" bIns="0" anchor="t">
            <a:spAutoFit/>
          </a:bodyPr>
          <a:lstStyle/>
          <a:p>
            <a:pPr algn="l">
              <a:lnSpc>
                <a:spcPct val="100000"/>
              </a:lnSpc>
              <a:spcBef>
                <a:spcPts val="0"/>
              </a:spcBef>
              <a:spcAft>
                <a:spcPts val="800"/>
              </a:spcAft>
            </a:pPr>
            <a:r>
              <a:rPr sz="5400" b="1" i="0">
                <a:solidFill>
                  <a:srgbClr val="FFFFFF"/>
                </a:solidFill>
                <a:latin typeface="Arial"/>
              </a:rPr>
              <a:t>Thank you</a:t>
            </a:r>
          </a:p>
          <a:p>
            <a:pPr algn="l">
              <a:lnSpc>
                <a:spcPct val="100000"/>
              </a:lnSpc>
              <a:spcBef>
                <a:spcPts val="1000"/>
              </a:spcBef>
              <a:spcAft>
                <a:spcPts val="800"/>
              </a:spcAft>
            </a:pPr>
            <a:r>
              <a:rPr sz="2200" b="0" i="1">
                <a:solidFill>
                  <a:srgbClr val="FDB515"/>
                </a:solidFill>
                <a:latin typeface="Arial"/>
              </a:rPr>
              <a:t>Keep it simple — and let the system build itself.</a:t>
            </a:r>
          </a:p>
        </p:txBody>
      </p:sp>
      <p:sp>
        <p:nvSpPr>
          <p:cNvPr id="5" name="TextBox 4"/>
          <p:cNvSpPr txBox="1"/>
          <p:nvPr/>
        </p:nvSpPr>
        <p:spPr>
          <a:xfrm>
            <a:off x="822960" y="4937760"/>
            <a:ext cx="10515600" cy="91440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E9E5D8"/>
                </a:solidFill>
                <a:latin typeface="Arial"/>
              </a:rPr>
              <a:t>Koushik Sen  ·  ksen@berkeley.edu</a:t>
            </a:r>
          </a:p>
          <a:p>
            <a:pPr algn="l">
              <a:lnSpc>
                <a:spcPct val="100000"/>
              </a:lnSpc>
              <a:spcBef>
                <a:spcPts val="0"/>
              </a:spcBef>
              <a:spcAft>
                <a:spcPts val="800"/>
              </a:spcAft>
            </a:pPr>
            <a:r>
              <a:rPr sz="1800" b="0" i="0">
                <a:solidFill>
                  <a:srgbClr val="9FC4D8"/>
                </a:solidFill>
                <a:latin typeface="Arial"/>
              </a:rPr>
              <a:t>github.com/ksenxx/kiss_ai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577</TotalTime>
  <Words>4778</Words>
  <Application>Microsoft Macintosh PowerPoint</Application>
  <PresentationFormat>Widescreen</PresentationFormat>
  <Paragraphs>378</Paragraphs>
  <Slides>37</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Aptos</vt: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AI Discovery as a Prompt in KISS Sorcar</vt:lpstr>
      <vt:lpstr>Advantages: AI Discovery as Prompt</vt:lpstr>
      <vt:lpstr>Code Optimization as a Prompt in KISS Sorcar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AI Discovery</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Koushik Sen</cp:lastModifiedBy>
  <cp:revision>16</cp:revision>
  <dcterms:created xsi:type="dcterms:W3CDTF">2013-01-27T09:14:16Z</dcterms:created>
  <dcterms:modified xsi:type="dcterms:W3CDTF">2026-06-30T21:54:31Z</dcterms:modified>
  <cp:category/>
</cp:coreProperties>
</file>