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9" r:id="rId14"/>
    <p:sldId id="316" r:id="rId33"/>
    <p:sldId id="317" r:id="rId34"/>
    <p:sldId id="278" r:id="rId15"/>
    <p:sldId id="279" r:id="rId16"/>
    <p:sldId id="270" r:id="rId17"/>
    <p:sldId id="280" r:id="rId18"/>
    <p:sldId id="281" r:id="rId19"/>
    <p:sldId id="271" r:id="rId20"/>
    <p:sldId id="272" r:id="rId21"/>
    <p:sldId id="273" r:id="rId22"/>
    <p:sldId id="274" r:id="rId23"/>
    <p:sldId id="275" r:id="rId24"/>
    <p:sldId id="315" r:id="rId25"/>
    <p:sldId id="308" r:id="rId26"/>
    <p:sldId id="276" r:id="rId27"/>
    <p:sldId id="277"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17"/>
    <p:restoredTop sz="94638"/>
  </p:normalViewPr>
  <p:slideViewPr>
    <p:cSldViewPr snapToGrid="0" snapToObjects="1">
      <p:cViewPr varScale="1">
        <p:scale>
          <a:sx n="167" d="100"/>
          <a:sy n="167" d="100"/>
        </p:scale>
        <p:origin x="192"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openxmlformats.org/officeDocument/2006/relationships/slide" Target="slides/slide28.xml"/><Relationship Id="rId34"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modal.com/"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A1F2B"/>
        </a:solidFill>
        <a:effectLst/>
      </p:bgPr>
    </p:bg>
    <p:spTree>
      <p:nvGrpSpPr>
        <p:cNvPr id="1" name=""/>
        <p:cNvGrpSpPr/>
        <p:nvPr/>
      </p:nvGrpSpPr>
      <p:grpSpPr>
        <a:xfrm>
          <a:off x="0" y="0"/>
          <a:ext cx="0" cy="0"/>
          <a:chOff x="0" y="0"/>
          <a:chExt cx="0" cy="0"/>
        </a:xfrm>
      </p:grpSpPr>
      <p:sp>
        <p:nvSpPr>
          <p:cNvPr id="2" name="Rectangle 1"/>
          <p:cNvSpPr/>
          <p:nvPr/>
        </p:nvSpPr>
        <p:spPr>
          <a:xfrm>
            <a:off x="822960" y="1920240"/>
            <a:ext cx="146304" cy="201168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280160" y="1828800"/>
            <a:ext cx="9692640" cy="2560320"/>
          </a:xfrm>
          <a:prstGeom prst="rect">
            <a:avLst/>
          </a:prstGeom>
          <a:noFill/>
        </p:spPr>
        <p:txBody>
          <a:bodyPr wrap="square" lIns="0" tIns="0" rIns="0" bIns="0" anchor="ctr">
            <a:spAutoFit/>
          </a:bodyPr>
          <a:lstStyle/>
          <a:p>
            <a:pPr algn="l">
              <a:lnSpc>
                <a:spcPct val="108000"/>
              </a:lnSpc>
              <a:spcBef>
                <a:spcPts val="0"/>
              </a:spcBef>
              <a:spcAft>
                <a:spcPts val="800"/>
              </a:spcAft>
            </a:pPr>
            <a:r>
              <a:rPr sz="4000" b="0" i="1">
                <a:solidFill>
                  <a:srgbClr val="FFFFFF"/>
                </a:solidFill>
                <a:latin typeface="Arial"/>
              </a:rPr>
              <a:t>“Everything should be made as simple as possible, but not simpler.”</a:t>
            </a:r>
          </a:p>
          <a:p>
            <a:pPr algn="l">
              <a:lnSpc>
                <a:spcPct val="100000"/>
              </a:lnSpc>
              <a:spcBef>
                <a:spcPts val="1800"/>
              </a:spcBef>
              <a:spcAft>
                <a:spcPts val="800"/>
              </a:spcAft>
            </a:pPr>
            <a:r>
              <a:rPr sz="2200" b="1" i="0">
                <a:solidFill>
                  <a:srgbClr val="FDB515"/>
                </a:solidFill>
                <a:latin typeface="Arial"/>
              </a:rPr>
              <a:t>Albert Einstein</a:t>
            </a:r>
          </a:p>
        </p:txBody>
      </p:sp>
      <p:sp>
        <p:nvSpPr>
          <p:cNvPr id="4" name="TextBox 3"/>
          <p:cNvSpPr txBox="1"/>
          <p:nvPr/>
        </p:nvSpPr>
        <p:spPr>
          <a:xfrm>
            <a:off x="1280160" y="4937760"/>
            <a:ext cx="9692640" cy="914400"/>
          </a:xfrm>
          <a:prstGeom prst="rect">
            <a:avLst/>
          </a:prstGeom>
          <a:noFill/>
        </p:spPr>
        <p:txBody>
          <a:bodyPr wrap="square" lIns="0" tIns="0" rIns="0" bIns="0" anchor="t">
            <a:spAutoFit/>
          </a:bodyPr>
          <a:lstStyle/>
          <a:p>
            <a:pPr algn="l">
              <a:lnSpc>
                <a:spcPct val="100000"/>
              </a:lnSpc>
              <a:spcBef>
                <a:spcPts val="0"/>
              </a:spcBef>
              <a:spcAft>
                <a:spcPts val="800"/>
              </a:spcAft>
            </a:pPr>
            <a:r>
              <a:rPr sz="1900" b="0" i="1">
                <a:solidFill>
                  <a:srgbClr val="E9E5D8"/>
                </a:solidFill>
                <a:latin typeface="Arial"/>
              </a:rPr>
              <a:t>The KISS philosophy — each component does one thing, each concern lives in one place, no unnecessary abstraction.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a:solidFill>
                  <a:srgbClr val="003262"/>
                </a:solidFill>
                <a:latin typeface="Arial"/>
              </a:rPr>
              <a:t>~2,400</a:t>
            </a:r>
          </a:p>
          <a:p>
            <a:pPr algn="ctr">
              <a:lnSpc>
                <a:spcPct val="100000"/>
              </a:lnSpc>
              <a:spcBef>
                <a:spcPts val="0"/>
              </a:spcBef>
              <a:spcAft>
                <a:spcPts val="800"/>
              </a:spcAft>
            </a:pPr>
            <a:r>
              <a:rPr sz="1600" b="0" i="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A  R  C  H  I  T  E  C  T  U  R  E</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 five-layer agent hierarchy</a:t>
            </a:r>
          </a:p>
        </p:txBody>
      </p:sp>
      <p:sp>
        <p:nvSpPr>
          <p:cNvPr id="5" name="TextBox 4"/>
          <p:cNvSpPr txBox="1"/>
          <p:nvPr/>
        </p:nvSpPr>
        <p:spPr>
          <a:xfrm>
            <a:off x="822960" y="1783080"/>
            <a:ext cx="1051560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Each layer adds exactly one concern — ~2,400 lines total.</a:t>
            </a:r>
          </a:p>
        </p:txBody>
      </p:sp>
      <p:sp>
        <p:nvSpPr>
          <p:cNvPr id="6" name="Rectangle 5"/>
          <p:cNvSpPr/>
          <p:nvPr/>
        </p:nvSpPr>
        <p:spPr>
          <a:xfrm>
            <a:off x="822960" y="2423160"/>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46304" cy="676656"/>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423160"/>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1.  KISS Agent</a:t>
            </a:r>
          </a:p>
        </p:txBody>
      </p:sp>
      <p:sp>
        <p:nvSpPr>
          <p:cNvPr id="9" name="TextBox 8"/>
          <p:cNvSpPr txBox="1"/>
          <p:nvPr/>
        </p:nvSpPr>
        <p:spPr>
          <a:xfrm>
            <a:off x="4297680" y="2423160"/>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Budget-tracked ReAct loop</a:t>
            </a:r>
          </a:p>
        </p:txBody>
      </p:sp>
      <p:sp>
        <p:nvSpPr>
          <p:cNvPr id="10" name="Rectangle 9"/>
          <p:cNvSpPr/>
          <p:nvPr/>
        </p:nvSpPr>
        <p:spPr>
          <a:xfrm>
            <a:off x="822960" y="3218688"/>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22960" y="3218688"/>
            <a:ext cx="146304" cy="676656"/>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3000" y="3218688"/>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2.  Relentless Agent</a:t>
            </a:r>
          </a:p>
        </p:txBody>
      </p:sp>
      <p:sp>
        <p:nvSpPr>
          <p:cNvPr id="13" name="TextBox 12"/>
          <p:cNvSpPr txBox="1"/>
          <p:nvPr/>
        </p:nvSpPr>
        <p:spPr>
          <a:xfrm>
            <a:off x="4297680" y="3218688"/>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Automatic continuation across sub-sessions via summarization</a:t>
            </a:r>
          </a:p>
        </p:txBody>
      </p:sp>
      <p:sp>
        <p:nvSpPr>
          <p:cNvPr id="14" name="Rectangle 13"/>
          <p:cNvSpPr/>
          <p:nvPr/>
        </p:nvSpPr>
        <p:spPr>
          <a:xfrm>
            <a:off x="822960" y="4014216"/>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22960" y="4014216"/>
            <a:ext cx="146304" cy="676656"/>
          </a:xfrm>
          <a:prstGeom prst="rect">
            <a:avLst/>
          </a:prstGeom>
          <a:solidFill>
            <a:srgbClr val="5591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3000" y="4014216"/>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3.  Sorcar Agent</a:t>
            </a:r>
          </a:p>
        </p:txBody>
      </p:sp>
      <p:sp>
        <p:nvSpPr>
          <p:cNvPr id="17" name="TextBox 16"/>
          <p:cNvSpPr txBox="1"/>
          <p:nvPr/>
        </p:nvSpPr>
        <p:spPr>
          <a:xfrm>
            <a:off x="4297680" y="4014216"/>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Coding tools, browser automation, parallel sub-agents</a:t>
            </a:r>
          </a:p>
        </p:txBody>
      </p:sp>
      <p:sp>
        <p:nvSpPr>
          <p:cNvPr id="18" name="Rectangle 17"/>
          <p:cNvSpPr/>
          <p:nvPr/>
        </p:nvSpPr>
        <p:spPr>
          <a:xfrm>
            <a:off x="822960" y="4809744"/>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809744"/>
            <a:ext cx="146304" cy="676656"/>
          </a:xfrm>
          <a:prstGeom prst="rect">
            <a:avLst/>
          </a:prstGeom>
          <a:solidFill>
            <a:srgbClr val="2F6B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809744"/>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4.  Chat Sorcar Agent</a:t>
            </a:r>
          </a:p>
        </p:txBody>
      </p:sp>
      <p:sp>
        <p:nvSpPr>
          <p:cNvPr id="21" name="TextBox 20"/>
          <p:cNvSpPr txBox="1"/>
          <p:nvPr/>
        </p:nvSpPr>
        <p:spPr>
          <a:xfrm>
            <a:off x="4297680" y="4809744"/>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Persistent multi-turn chat</a:t>
            </a:r>
          </a:p>
        </p:txBody>
      </p:sp>
      <p:sp>
        <p:nvSpPr>
          <p:cNvPr id="22" name="Rectangle 21"/>
          <p:cNvSpPr/>
          <p:nvPr/>
        </p:nvSpPr>
        <p:spPr>
          <a:xfrm>
            <a:off x="822960" y="5605272"/>
            <a:ext cx="10515600" cy="676656"/>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822960" y="5605272"/>
            <a:ext cx="146304" cy="676656"/>
          </a:xfrm>
          <a:prstGeom prst="rect">
            <a:avLst/>
          </a:prstGeom>
          <a:solidFill>
            <a:srgbClr val="8A6D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43000" y="5605272"/>
            <a:ext cx="3017520" cy="676656"/>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5.  Worktree Sorcar Agent</a:t>
            </a:r>
          </a:p>
        </p:txBody>
      </p:sp>
      <p:sp>
        <p:nvSpPr>
          <p:cNvPr id="25" name="TextBox 24"/>
          <p:cNvSpPr txBox="1"/>
          <p:nvPr/>
        </p:nvSpPr>
        <p:spPr>
          <a:xfrm>
            <a:off x="4297680" y="5605272"/>
            <a:ext cx="6766560" cy="676656"/>
          </a:xfrm>
          <a:prstGeom prst="rect">
            <a:avLst/>
          </a:prstGeom>
          <a:noFill/>
        </p:spPr>
        <p:txBody>
          <a:bodyPr wrap="square" lIns="0" tIns="0" rIns="0" bIns="0" anchor="ctr">
            <a:spAutoFit/>
          </a:bodyPr>
          <a:lstStyle/>
          <a:p>
            <a:pPr algn="l">
              <a:lnSpc>
                <a:spcPct val="100000"/>
              </a:lnSpc>
              <a:spcBef>
                <a:spcPts val="0"/>
              </a:spcBef>
              <a:spcAft>
                <a:spcPts val="800"/>
              </a:spcAft>
            </a:pPr>
            <a:r>
              <a:rPr sz="1700" b="0" i="0">
                <a:solidFill>
                  <a:srgbClr val="4A5260"/>
                </a:solidFill>
                <a:latin typeface="Arial"/>
              </a:rPr>
              <a:t>Git worktree isolation per task</a:t>
            </a:r>
          </a:p>
        </p:txBody>
      </p:sp>
      <p:sp>
        <p:nvSpPr>
          <p:cNvPr id="26" name="Rectangle 2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8" name="TextBox 2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M  E  T  H  O  D  O  L  O  G  Y</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Mining the system's own usage log</a:t>
            </a:r>
          </a:p>
        </p:txBody>
      </p:sp>
      <p:sp>
        <p:nvSpPr>
          <p:cNvPr id="5" name="TextBox 4"/>
          <p:cNvSpPr txBox="1"/>
          <p:nvPr/>
        </p:nvSpPr>
        <p:spPr>
          <a:xfrm>
            <a:off x="822960" y="1920240"/>
            <a:ext cx="10607040" cy="420624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Single source of truth:  </a:t>
            </a:r>
            <a:r>
              <a:rPr sz="2100">
                <a:solidFill>
                  <a:srgbClr val="1A1F2B"/>
                </a:solidFill>
                <a:latin typeface="Arial"/>
              </a:rPr>
              <a:t>every task flows through the Chat Sorcar Agent into ~/.kiss/sorcar.db — a complete, unfiltered record.</a:t>
            </a:r>
          </a:p>
          <a:p>
            <a:pPr algn="l">
              <a:lnSpc>
                <a:spcPct val="106000"/>
              </a:lnSpc>
              <a:spcAft>
                <a:spcPts val="1800"/>
              </a:spcAft>
            </a:pPr>
            <a:r>
              <a:rPr sz="2100" b="1">
                <a:solidFill>
                  <a:srgbClr val="FDB515"/>
                </a:solidFill>
                <a:latin typeface="Arial"/>
              </a:rPr>
              <a:t>—  </a:t>
            </a:r>
            <a:r>
              <a:rPr sz="2100" b="1">
                <a:solidFill>
                  <a:srgbClr val="003262"/>
                </a:solidFill>
                <a:latin typeface="Arial"/>
              </a:rPr>
              <a:t>Small schema:  </a:t>
            </a:r>
            <a:r>
              <a:rPr sz="2100">
                <a:solidFill>
                  <a:srgbClr val="1A1F2B"/>
                </a:solidFill>
                <a:latin typeface="Arial"/>
              </a:rPr>
              <a:t>task_history, events, frequent_tasks, model_usage, file_usage tables capture prompts, trajectories, cost, and files.</a:t>
            </a:r>
          </a:p>
          <a:p>
            <a:pPr algn="l">
              <a:lnSpc>
                <a:spcPct val="106000"/>
              </a:lnSpc>
              <a:spcAft>
                <a:spcPts val="1800"/>
              </a:spcAft>
            </a:pPr>
            <a:r>
              <a:rPr sz="2100" b="1">
                <a:solidFill>
                  <a:srgbClr val="FDB515"/>
                </a:solidFill>
                <a:latin typeface="Arial"/>
              </a:rPr>
              <a:t>—  </a:t>
            </a:r>
            <a:r>
              <a:rPr sz="2100" b="1">
                <a:solidFill>
                  <a:srgbClr val="003262"/>
                </a:solidFill>
                <a:latin typeface="Arial"/>
              </a:rPr>
              <a:t>Three extraction methods:  </a:t>
            </a:r>
            <a:r>
              <a:rPr sz="2100">
                <a:solidFill>
                  <a:srgbClr val="1A1F2B"/>
                </a:solidFill>
                <a:latin typeface="Arial"/>
              </a:rPr>
              <a:t>cluster by frequency, full-text LIKE queries over descriptions, and manual reading of representatives.</a:t>
            </a:r>
          </a:p>
          <a:p>
            <a:pPr algn="l">
              <a:lnSpc>
                <a:spcPct val="106000"/>
              </a:lnSpc>
              <a:spcAft>
                <a:spcPts val="1800"/>
              </a:spcAft>
            </a:pPr>
            <a:r>
              <a:rPr sz="2100" b="1">
                <a:solidFill>
                  <a:srgbClr val="FDB515"/>
                </a:solidFill>
                <a:latin typeface="Arial"/>
              </a:rPr>
              <a:t>—  </a:t>
            </a:r>
            <a:r>
              <a:rPr sz="2100" b="1">
                <a:solidFill>
                  <a:srgbClr val="003262"/>
                </a:solidFill>
                <a:latin typeface="Arial"/>
              </a:rPr>
              <a:t>Scale:  </a:t>
            </a:r>
            <a:r>
              <a:rPr sz="2100">
                <a:solidFill>
                  <a:srgbClr val="1A1F2B"/>
                </a:solidFill>
                <a:latin typeface="Arial"/>
              </a:rPr>
              <a:t>3,099 tasks across 44 days group into 877 sessions — ~3.5 tasks per session, confirming an iterative workflow.</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A  T     T  H  E     D  E  V  E  L  O  P  E  R     D  I  D</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Task distribution (3,099 tasks)</a:t>
            </a:r>
          </a:p>
        </p:txBody>
      </p:sp>
      <p:sp>
        <p:nvSpPr>
          <p:cNvPr id="5" name="Rectangle 4"/>
          <p:cNvSpPr/>
          <p:nvPr/>
        </p:nvSpPr>
        <p:spPr>
          <a:xfrm>
            <a:off x="822960" y="1874519"/>
            <a:ext cx="10515600" cy="475488"/>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874519"/>
            <a:ext cx="6858000" cy="475488"/>
          </a:xfrm>
          <a:prstGeom prst="rect">
            <a:avLst/>
          </a:prstGeom>
          <a:noFill/>
        </p:spPr>
        <p:txBody>
          <a:bodyPr wrap="square" lIns="0" tIns="0" rIns="0" bIns="0" anchor="ctr">
            <a:spAutoFit/>
          </a:bodyPr>
          <a:lstStyle/>
          <a:p>
            <a:pPr algn="l">
              <a:lnSpc>
                <a:spcPct val="100000"/>
              </a:lnSpc>
              <a:spcBef>
                <a:spcPts val="0"/>
              </a:spcBef>
              <a:spcAft>
                <a:spcPts val="800"/>
              </a:spcAft>
            </a:pPr>
            <a:r>
              <a:rPr sz="1700" b="1" i="0">
                <a:solidFill>
                  <a:srgbClr val="FFFFFF"/>
                </a:solidFill>
                <a:latin typeface="Arial"/>
              </a:rPr>
              <a:t>Category</a:t>
            </a:r>
          </a:p>
        </p:txBody>
      </p:sp>
      <p:sp>
        <p:nvSpPr>
          <p:cNvPr id="7" name="TextBox 6"/>
          <p:cNvSpPr txBox="1"/>
          <p:nvPr/>
        </p:nvSpPr>
        <p:spPr>
          <a:xfrm>
            <a:off x="813816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FFFFF"/>
                </a:solidFill>
                <a:latin typeface="Arial"/>
              </a:rPr>
              <a:t>Count</a:t>
            </a:r>
          </a:p>
        </p:txBody>
      </p:sp>
      <p:sp>
        <p:nvSpPr>
          <p:cNvPr id="8" name="TextBox 7"/>
          <p:cNvSpPr txBox="1"/>
          <p:nvPr/>
        </p:nvSpPr>
        <p:spPr>
          <a:xfrm>
            <a:off x="9601200" y="1874519"/>
            <a:ext cx="1463040" cy="475488"/>
          </a:xfrm>
          <a:prstGeom prst="rect">
            <a:avLst/>
          </a:prstGeom>
          <a:noFill/>
        </p:spPr>
        <p:txBody>
          <a:bodyPr wrap="square" lIns="0" tIns="0" rIns="0" bIns="0" anchor="ctr">
            <a:spAutoFit/>
          </a:bodyPr>
          <a:lstStyle/>
          <a:p>
            <a:pPr algn="r">
              <a:lnSpc>
                <a:spcPct val="100000"/>
              </a:lnSpc>
              <a:spcBef>
                <a:spcPts val="0"/>
              </a:spcBef>
              <a:spcAft>
                <a:spcPts val="800"/>
              </a:spcAft>
            </a:pPr>
            <a:r>
              <a:rPr sz="1700" b="1" i="0">
                <a:solidFill>
                  <a:srgbClr val="FDB515"/>
                </a:solidFill>
                <a:latin typeface="Arial"/>
              </a:rPr>
              <a:t>Share</a:t>
            </a:r>
          </a:p>
        </p:txBody>
      </p:sp>
      <p:sp>
        <p:nvSpPr>
          <p:cNvPr id="9" name="Rectangle 8"/>
          <p:cNvSpPr/>
          <p:nvPr/>
        </p:nvSpPr>
        <p:spPr>
          <a:xfrm>
            <a:off x="822960" y="2350007"/>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235000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Bug finding, reproducing &amp; fixing</a:t>
            </a:r>
          </a:p>
        </p:txBody>
      </p:sp>
      <p:sp>
        <p:nvSpPr>
          <p:cNvPr id="11" name="TextBox 10"/>
          <p:cNvSpPr txBox="1"/>
          <p:nvPr/>
        </p:nvSpPr>
        <p:spPr>
          <a:xfrm>
            <a:off x="813816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~620</a:t>
            </a:r>
          </a:p>
        </p:txBody>
      </p:sp>
      <p:sp>
        <p:nvSpPr>
          <p:cNvPr id="12" name="TextBox 11"/>
          <p:cNvSpPr txBox="1"/>
          <p:nvPr/>
        </p:nvSpPr>
        <p:spPr>
          <a:xfrm>
            <a:off x="9601200" y="235000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20%</a:t>
            </a:r>
          </a:p>
        </p:txBody>
      </p:sp>
      <p:sp>
        <p:nvSpPr>
          <p:cNvPr id="13" name="Rectangle 12"/>
          <p:cNvSpPr/>
          <p:nvPr/>
        </p:nvSpPr>
        <p:spPr>
          <a:xfrm>
            <a:off x="822960" y="2752343"/>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51560" y="275234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Feature implementation</a:t>
            </a:r>
          </a:p>
        </p:txBody>
      </p:sp>
      <p:sp>
        <p:nvSpPr>
          <p:cNvPr id="15" name="TextBox 14"/>
          <p:cNvSpPr txBox="1"/>
          <p:nvPr/>
        </p:nvSpPr>
        <p:spPr>
          <a:xfrm>
            <a:off x="813816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~520</a:t>
            </a:r>
          </a:p>
        </p:txBody>
      </p:sp>
      <p:sp>
        <p:nvSpPr>
          <p:cNvPr id="16" name="TextBox 15"/>
          <p:cNvSpPr txBox="1"/>
          <p:nvPr/>
        </p:nvSpPr>
        <p:spPr>
          <a:xfrm>
            <a:off x="9601200" y="275234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17%</a:t>
            </a:r>
          </a:p>
        </p:txBody>
      </p:sp>
      <p:sp>
        <p:nvSpPr>
          <p:cNvPr id="17" name="Rectangle 16"/>
          <p:cNvSpPr/>
          <p:nvPr/>
        </p:nvSpPr>
        <p:spPr>
          <a:xfrm>
            <a:off x="822960" y="3154679"/>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51560" y="315467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UI / UX refinement</a:t>
            </a:r>
          </a:p>
        </p:txBody>
      </p:sp>
      <p:sp>
        <p:nvSpPr>
          <p:cNvPr id="19" name="TextBox 18"/>
          <p:cNvSpPr txBox="1"/>
          <p:nvPr/>
        </p:nvSpPr>
        <p:spPr>
          <a:xfrm>
            <a:off x="813816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~360</a:t>
            </a:r>
          </a:p>
        </p:txBody>
      </p:sp>
      <p:sp>
        <p:nvSpPr>
          <p:cNvPr id="20" name="TextBox 19"/>
          <p:cNvSpPr txBox="1"/>
          <p:nvPr/>
        </p:nvSpPr>
        <p:spPr>
          <a:xfrm>
            <a:off x="9601200" y="315467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12%</a:t>
            </a:r>
          </a:p>
        </p:txBody>
      </p:sp>
      <p:sp>
        <p:nvSpPr>
          <p:cNvPr id="21" name="Rectangle 20"/>
          <p:cNvSpPr/>
          <p:nvPr/>
        </p:nvSpPr>
        <p:spPr>
          <a:xfrm>
            <a:off x="822960" y="3557015"/>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51560" y="355701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Paper writing &amp; building</a:t>
            </a:r>
          </a:p>
        </p:txBody>
      </p:sp>
      <p:sp>
        <p:nvSpPr>
          <p:cNvPr id="23" name="TextBox 22"/>
          <p:cNvSpPr txBox="1"/>
          <p:nvPr/>
        </p:nvSpPr>
        <p:spPr>
          <a:xfrm>
            <a:off x="813816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~310</a:t>
            </a:r>
          </a:p>
        </p:txBody>
      </p:sp>
      <p:sp>
        <p:nvSpPr>
          <p:cNvPr id="24" name="TextBox 23"/>
          <p:cNvSpPr txBox="1"/>
          <p:nvPr/>
        </p:nvSpPr>
        <p:spPr>
          <a:xfrm>
            <a:off x="9601200" y="355701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25" name="Rectangle 24"/>
          <p:cNvSpPr/>
          <p:nvPr/>
        </p:nvSpPr>
        <p:spPr>
          <a:xfrm>
            <a:off x="822960" y="3959351"/>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51560" y="395935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Code quality / refactoring</a:t>
            </a:r>
          </a:p>
        </p:txBody>
      </p:sp>
      <p:sp>
        <p:nvSpPr>
          <p:cNvPr id="27" name="TextBox 26"/>
          <p:cNvSpPr txBox="1"/>
          <p:nvPr/>
        </p:nvSpPr>
        <p:spPr>
          <a:xfrm>
            <a:off x="813816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~250</a:t>
            </a:r>
          </a:p>
        </p:txBody>
      </p:sp>
      <p:sp>
        <p:nvSpPr>
          <p:cNvPr id="28" name="TextBox 27"/>
          <p:cNvSpPr txBox="1"/>
          <p:nvPr/>
        </p:nvSpPr>
        <p:spPr>
          <a:xfrm>
            <a:off x="9601200" y="395935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8%</a:t>
            </a:r>
          </a:p>
        </p:txBody>
      </p:sp>
      <p:sp>
        <p:nvSpPr>
          <p:cNvPr id="29" name="Rectangle 28"/>
          <p:cNvSpPr/>
          <p:nvPr/>
        </p:nvSpPr>
        <p:spPr>
          <a:xfrm>
            <a:off x="822960" y="4361687"/>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051560" y="4361687"/>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Testing &amp; CI</a:t>
            </a:r>
          </a:p>
        </p:txBody>
      </p:sp>
      <p:sp>
        <p:nvSpPr>
          <p:cNvPr id="31" name="TextBox 30"/>
          <p:cNvSpPr txBox="1"/>
          <p:nvPr/>
        </p:nvSpPr>
        <p:spPr>
          <a:xfrm>
            <a:off x="813816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2" name="TextBox 31"/>
          <p:cNvSpPr txBox="1"/>
          <p:nvPr/>
        </p:nvSpPr>
        <p:spPr>
          <a:xfrm>
            <a:off x="9601200" y="4361687"/>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3" name="Rectangle 32"/>
          <p:cNvSpPr/>
          <p:nvPr/>
        </p:nvSpPr>
        <p:spPr>
          <a:xfrm>
            <a:off x="822960" y="4764023"/>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51560" y="4764023"/>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General assistance (weather, travel, stocks…)</a:t>
            </a:r>
          </a:p>
        </p:txBody>
      </p:sp>
      <p:sp>
        <p:nvSpPr>
          <p:cNvPr id="35" name="TextBox 34"/>
          <p:cNvSpPr txBox="1"/>
          <p:nvPr/>
        </p:nvSpPr>
        <p:spPr>
          <a:xfrm>
            <a:off x="813816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~210</a:t>
            </a:r>
          </a:p>
        </p:txBody>
      </p:sp>
      <p:sp>
        <p:nvSpPr>
          <p:cNvPr id="36" name="TextBox 35"/>
          <p:cNvSpPr txBox="1"/>
          <p:nvPr/>
        </p:nvSpPr>
        <p:spPr>
          <a:xfrm>
            <a:off x="9601200" y="4764023"/>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7%</a:t>
            </a:r>
          </a:p>
        </p:txBody>
      </p:sp>
      <p:sp>
        <p:nvSpPr>
          <p:cNvPr id="37" name="Rectangle 36"/>
          <p:cNvSpPr/>
          <p:nvPr/>
        </p:nvSpPr>
        <p:spPr>
          <a:xfrm>
            <a:off x="822960" y="5166359"/>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051560" y="5166359"/>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Git operations</a:t>
            </a:r>
          </a:p>
        </p:txBody>
      </p:sp>
      <p:sp>
        <p:nvSpPr>
          <p:cNvPr id="39" name="TextBox 38"/>
          <p:cNvSpPr txBox="1"/>
          <p:nvPr/>
        </p:nvSpPr>
        <p:spPr>
          <a:xfrm>
            <a:off x="813816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~155</a:t>
            </a:r>
          </a:p>
        </p:txBody>
      </p:sp>
      <p:sp>
        <p:nvSpPr>
          <p:cNvPr id="40" name="TextBox 39"/>
          <p:cNvSpPr txBox="1"/>
          <p:nvPr/>
        </p:nvSpPr>
        <p:spPr>
          <a:xfrm>
            <a:off x="9601200" y="5166359"/>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1" name="Rectangle 40"/>
          <p:cNvSpPr/>
          <p:nvPr/>
        </p:nvSpPr>
        <p:spPr>
          <a:xfrm>
            <a:off x="822960" y="5568695"/>
            <a:ext cx="10515600" cy="40233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1051560" y="5568695"/>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Greetings &amp; identity</a:t>
            </a:r>
          </a:p>
        </p:txBody>
      </p:sp>
      <p:sp>
        <p:nvSpPr>
          <p:cNvPr id="43" name="TextBox 42"/>
          <p:cNvSpPr txBox="1"/>
          <p:nvPr/>
        </p:nvSpPr>
        <p:spPr>
          <a:xfrm>
            <a:off x="813816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~150</a:t>
            </a:r>
          </a:p>
        </p:txBody>
      </p:sp>
      <p:sp>
        <p:nvSpPr>
          <p:cNvPr id="44" name="TextBox 43"/>
          <p:cNvSpPr txBox="1"/>
          <p:nvPr/>
        </p:nvSpPr>
        <p:spPr>
          <a:xfrm>
            <a:off x="9601200" y="5568695"/>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5%</a:t>
            </a:r>
          </a:p>
        </p:txBody>
      </p:sp>
      <p:sp>
        <p:nvSpPr>
          <p:cNvPr id="45" name="Rectangle 44"/>
          <p:cNvSpPr/>
          <p:nvPr/>
        </p:nvSpPr>
        <p:spPr>
          <a:xfrm>
            <a:off x="822960" y="5971031"/>
            <a:ext cx="10515600" cy="402336"/>
          </a:xfrm>
          <a:prstGeom prst="rect">
            <a:avLst/>
          </a:prstGeom>
          <a:solidFill>
            <a:srgbClr val="EFE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51560" y="5971031"/>
            <a:ext cx="6949440" cy="402336"/>
          </a:xfrm>
          <a:prstGeom prst="rect">
            <a:avLst/>
          </a:prstGeom>
          <a:noFill/>
        </p:spPr>
        <p:txBody>
          <a:bodyPr wrap="square" lIns="0" tIns="0" rIns="0" bIns="0" anchor="ctr">
            <a:spAutoFit/>
          </a:bodyPr>
          <a:lstStyle/>
          <a:p>
            <a:pPr algn="l">
              <a:lnSpc>
                <a:spcPct val="100000"/>
              </a:lnSpc>
              <a:spcBef>
                <a:spcPts val="0"/>
              </a:spcBef>
              <a:spcAft>
                <a:spcPts val="800"/>
              </a:spcAft>
            </a:pPr>
            <a:r>
              <a:rPr sz="1500" b="0" i="0">
                <a:solidFill>
                  <a:srgbClr val="1A1F2B"/>
                </a:solidFill>
                <a:latin typeface="Arial"/>
              </a:rPr>
              <a:t>Communication / smart-home / other</a:t>
            </a:r>
          </a:p>
        </p:txBody>
      </p:sp>
      <p:sp>
        <p:nvSpPr>
          <p:cNvPr id="47" name="TextBox 46"/>
          <p:cNvSpPr txBox="1"/>
          <p:nvPr/>
        </p:nvSpPr>
        <p:spPr>
          <a:xfrm>
            <a:off x="813816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0" i="0">
                <a:solidFill>
                  <a:srgbClr val="4A5260"/>
                </a:solidFill>
                <a:latin typeface="Arial"/>
              </a:rPr>
              <a:t>~290</a:t>
            </a:r>
          </a:p>
        </p:txBody>
      </p:sp>
      <p:sp>
        <p:nvSpPr>
          <p:cNvPr id="48" name="TextBox 47"/>
          <p:cNvSpPr txBox="1"/>
          <p:nvPr/>
        </p:nvSpPr>
        <p:spPr>
          <a:xfrm>
            <a:off x="9601200" y="5971031"/>
            <a:ext cx="1463040" cy="402336"/>
          </a:xfrm>
          <a:prstGeom prst="rect">
            <a:avLst/>
          </a:prstGeom>
          <a:noFill/>
        </p:spPr>
        <p:txBody>
          <a:bodyPr wrap="square" lIns="0" tIns="0" rIns="0" bIns="0" anchor="ctr">
            <a:spAutoFit/>
          </a:bodyPr>
          <a:lstStyle/>
          <a:p>
            <a:pPr algn="r">
              <a:lnSpc>
                <a:spcPct val="100000"/>
              </a:lnSpc>
              <a:spcBef>
                <a:spcPts val="0"/>
              </a:spcBef>
              <a:spcAft>
                <a:spcPts val="800"/>
              </a:spcAft>
            </a:pPr>
            <a:r>
              <a:rPr sz="1500" b="1" i="0">
                <a:solidFill>
                  <a:srgbClr val="C88A00"/>
                </a:solidFill>
                <a:latin typeface="Arial"/>
              </a:rPr>
              <a:t>10%</a:t>
            </a:r>
          </a:p>
        </p:txBody>
      </p:sp>
      <p:sp>
        <p:nvSpPr>
          <p:cNvPr id="49" name="Rectangle 4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51" name="TextBox 5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Nine recurring usage patterns</a:t>
            </a:r>
          </a:p>
        </p:txBody>
      </p:sp>
      <p:sp>
        <p:nvSpPr>
          <p:cNvPr id="5" name="Rectangle 4"/>
          <p:cNvSpPr/>
          <p:nvPr/>
        </p:nvSpPr>
        <p:spPr>
          <a:xfrm>
            <a:off x="82296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
        <p:nvSpPr>
          <p:cNvPr id="29" name="Rectangle 28"/>
          <p:cNvSpPr/>
          <p:nvPr/>
        </p:nvSpPr>
        <p:spPr>
          <a:xfrm>
            <a:off x="617220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7220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17220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8</a:t>
            </a:r>
          </a:p>
        </p:txBody>
      </p:sp>
      <p:sp>
        <p:nvSpPr>
          <p:cNvPr id="32" name="TextBox 31"/>
          <p:cNvSpPr txBox="1"/>
          <p:nvPr/>
        </p:nvSpPr>
        <p:spPr>
          <a:xfrm>
            <a:off x="704088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Invariant specification and repair</a:t>
            </a:r>
          </a:p>
        </p:txBody>
      </p:sp>
      <p:sp>
        <p:nvSpPr>
          <p:cNvPr id="29" name="Rectangle 28"/>
          <p:cNvSpPr/>
          <p:nvPr/>
        </p:nvSpPr>
        <p:spPr>
          <a:xfrm>
            <a:off x="822960" y="55433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55433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55433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9</a:t>
            </a:r>
          </a:p>
        </p:txBody>
      </p:sp>
      <p:sp>
        <p:nvSpPr>
          <p:cNvPr id="32" name="TextBox 31"/>
          <p:cNvSpPr txBox="1"/>
          <p:nvPr/>
        </p:nvSpPr>
        <p:spPr>
          <a:xfrm>
            <a:off x="1691640" y="55433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Cross-model iterative review</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Three-step protocol:  </a:t>
            </a:r>
            <a:r>
              <a:rPr sz="1900">
                <a:solidFill>
                  <a:srgbClr val="1A1F2B"/>
                </a:solidFill>
                <a:latin typeface="Arial"/>
              </a:rPr>
              <a:t>report → reproduce with an integration test → fix root cause and confirm the test passes.</a:t>
            </a:r>
          </a:p>
          <a:p>
            <a:pPr algn="l">
              <a:lnSpc>
                <a:spcPct val="106000"/>
              </a:lnSpc>
              <a:spcAft>
                <a:spcPts val="1400"/>
              </a:spcAft>
            </a:pPr>
            <a:r>
              <a:rPr sz="1900" b="1">
                <a:solidFill>
                  <a:srgbClr val="FDB515"/>
                </a:solidFill>
                <a:latin typeface="Arial"/>
              </a:rPr>
              <a:t>—  </a:t>
            </a:r>
            <a:r>
              <a:rPr sz="1900" b="1">
                <a:solidFill>
                  <a:srgbClr val="003262"/>
                </a:solidFill>
                <a:latin typeface="Arial"/>
              </a:rPr>
              <a:t>Evidence, not edits:  </a:t>
            </a:r>
            <a:r>
              <a:rPr sz="1900">
                <a:solidFill>
                  <a:srgbClr val="1A1F2B"/>
                </a:solidFill>
                <a:latin typeface="Arial"/>
              </a:rPr>
              <a:t>a test that fails before and passes after proves the bug was real and the fix addressed it.</a:t>
            </a:r>
          </a:p>
          <a:p>
            <a:pPr algn="l">
              <a:lnSpc>
                <a:spcPct val="106000"/>
              </a:lnSpc>
              <a:spcAft>
                <a:spcPts val="1400"/>
              </a:spcAft>
            </a:pPr>
            <a:r>
              <a:rPr sz="1900" b="1">
                <a:solidFill>
                  <a:srgbClr val="FDB515"/>
                </a:solidFill>
                <a:latin typeface="Arial"/>
              </a:rPr>
              <a:t>—  </a:t>
            </a:r>
            <a:r>
              <a:rPr sz="1900" b="1">
                <a:solidFill>
                  <a:srgbClr val="003262"/>
                </a:solidFill>
                <a:latin typeface="Arial"/>
              </a:rPr>
              <a:t>Concurrency sub-class:  </a:t>
            </a:r>
            <a:r>
              <a:rPr sz="1900">
                <a:solidFill>
                  <a:srgbClr val="1A1F2B"/>
                </a:solidFill>
                <a:latin typeface="Arial"/>
              </a:rPr>
              <a:t>race conditions exposed by running many tabs and a remote server against one repo.</a:t>
            </a:r>
          </a:p>
          <a:p>
            <a:pPr algn="l">
              <a:lnSpc>
                <a:spcPct val="106000"/>
              </a:lnSpc>
              <a:spcAft>
                <a:spcPts val="1400"/>
              </a:spcAft>
            </a:pPr>
            <a:r>
              <a:rPr sz="1900" b="1">
                <a:solidFill>
                  <a:srgbClr val="FDB515"/>
                </a:solidFill>
                <a:latin typeface="Arial"/>
              </a:rPr>
              <a:t>—  </a:t>
            </a:r>
            <a:r>
              <a:rPr sz="1900" b="1">
                <a:solidFill>
                  <a:srgbClr val="003262"/>
                </a:solidFill>
                <a:latin typeface="Arial"/>
              </a:rPr>
              <a:t>Defensive revert:  </a:t>
            </a:r>
            <a:r>
              <a:rPr sz="19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“Can you reproduce the bug by writing an integration test? Then fix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Remote web server:  </a:t>
            </a:r>
            <a:r>
              <a:rPr sz="1900">
                <a:solidFill>
                  <a:srgbClr val="1A1F2B"/>
                </a:solidFill>
                <a:latin typeface="Arial"/>
              </a:rPr>
              <a:t>started with one task, hardened over 60+ tasks — TLS, mobile layout, auth, URL discovery, robustness.</a:t>
            </a:r>
          </a:p>
          <a:p>
            <a:pPr algn="l">
              <a:lnSpc>
                <a:spcPct val="106000"/>
              </a:lnSpc>
              <a:spcAft>
                <a:spcPts val="1400"/>
              </a:spcAft>
            </a:pPr>
            <a:r>
              <a:rPr sz="1900" b="1">
                <a:solidFill>
                  <a:srgbClr val="FDB515"/>
                </a:solidFill>
                <a:latin typeface="Arial"/>
              </a:rPr>
              <a:t>—  </a:t>
            </a:r>
            <a:r>
              <a:rPr sz="1900" b="1">
                <a:solidFill>
                  <a:srgbClr val="003262"/>
                </a:solidFill>
                <a:latin typeface="Arial"/>
              </a:rPr>
              <a:t>Spec emerges from use:  </a:t>
            </a:r>
            <a:r>
              <a:rPr sz="1900">
                <a:solidFill>
                  <a:srgbClr val="1A1F2B"/>
                </a:solidFill>
                <a:latin typeface="Arial"/>
              </a:rPr>
              <a:t>no design document; each refinement was prompted by actually using the feature and hitting a limit.</a:t>
            </a:r>
          </a:p>
          <a:p>
            <a:pPr algn="l">
              <a:lnSpc>
                <a:spcPct val="106000"/>
              </a:lnSpc>
              <a:spcAft>
                <a:spcPts val="1400"/>
              </a:spcAft>
            </a:pPr>
            <a:r>
              <a:rPr sz="1900" b="1">
                <a:solidFill>
                  <a:srgbClr val="FDB515"/>
                </a:solidFill>
                <a:latin typeface="Arial"/>
              </a:rPr>
              <a:t>—  </a:t>
            </a:r>
            <a:r>
              <a:rPr sz="1900" b="1">
                <a:solidFill>
                  <a:srgbClr val="003262"/>
                </a:solidFill>
                <a:latin typeface="Arial"/>
              </a:rPr>
              <a:t>Interleaved with fixing:  </a:t>
            </a:r>
            <a:r>
              <a:rPr sz="1900">
                <a:solidFill>
                  <a:srgbClr val="1A1F2B"/>
                </a:solidFill>
                <a:latin typeface="Arial"/>
              </a:rPr>
              <a:t>~half the follow-ups in a feature session are themselves test-first bug reports.</a:t>
            </a:r>
          </a:p>
          <a:p>
            <a:pPr algn="l">
              <a:lnSpc>
                <a:spcPct val="106000"/>
              </a:lnSpc>
              <a:spcAft>
                <a:spcPts val="1400"/>
              </a:spcAft>
            </a:pPr>
            <a:r>
              <a:rPr sz="1900" b="1">
                <a:solidFill>
                  <a:srgbClr val="FDB515"/>
                </a:solidFill>
                <a:latin typeface="Arial"/>
              </a:rPr>
              <a:t>—  </a:t>
            </a:r>
            <a:r>
              <a:rPr sz="1900" b="1">
                <a:solidFill>
                  <a:srgbClr val="003262"/>
                </a:solidFill>
                <a:latin typeface="Arial"/>
              </a:rPr>
              <a:t>Demo mode:  </a:t>
            </a:r>
            <a:r>
              <a:rPr sz="19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“…implement a feature where the user can access KISS Sorcar from any device with a browser.”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Explain first:  </a:t>
            </a:r>
            <a:r>
              <a:rPr sz="2100">
                <a:solidFill>
                  <a:srgbClr val="1A1F2B"/>
                </a:solidFill>
                <a:latin typeface="Arial"/>
              </a:rPr>
              <a:t>“show me the step-by-step workflow of web_server.py”; “what happens when two tasks run at once?”</a:t>
            </a:r>
          </a:p>
          <a:p>
            <a:pPr algn="l">
              <a:lnSpc>
                <a:spcPct val="106000"/>
              </a:lnSpc>
              <a:spcAft>
                <a:spcPts val="1800"/>
              </a:spcAft>
            </a:pPr>
            <a:r>
              <a:rPr sz="2100" b="1">
                <a:solidFill>
                  <a:srgbClr val="FDB515"/>
                </a:solidFill>
                <a:latin typeface="Arial"/>
              </a:rPr>
              <a:t>—  </a:t>
            </a:r>
            <a:r>
              <a:rPr sz="2100" b="1">
                <a:solidFill>
                  <a:srgbClr val="003262"/>
                </a:solidFill>
                <a:latin typeface="Arial"/>
              </a:rPr>
              <a:t>No translation loss:  </a:t>
            </a:r>
            <a:r>
              <a:rPr sz="2100">
                <a:solidFill>
                  <a:srgbClr val="1A1F2B"/>
                </a:solidFill>
                <a:latin typeface="Arial"/>
              </a:rPr>
              <a:t>the same agent produces both the explanation and the subsequent edits over the same source.</a:t>
            </a:r>
          </a:p>
          <a:p>
            <a:pPr algn="l">
              <a:lnSpc>
                <a:spcPct val="106000"/>
              </a:lnSpc>
              <a:spcAft>
                <a:spcPts val="1800"/>
              </a:spcAft>
            </a:pPr>
            <a:r>
              <a:rPr sz="2100" b="1">
                <a:solidFill>
                  <a:srgbClr val="FDB515"/>
                </a:solidFill>
                <a:latin typeface="Arial"/>
              </a:rPr>
              <a:t>—  </a:t>
            </a:r>
            <a:r>
              <a:rPr sz="2100" b="1">
                <a:solidFill>
                  <a:srgbClr val="003262"/>
                </a:solidFill>
                <a:latin typeface="Arial"/>
              </a:rPr>
              <a:t>Visual variant:  </a:t>
            </a:r>
            <a:r>
              <a:rPr sz="2100">
                <a:solidFill>
                  <a:srgbClr val="1A1F2B"/>
                </a:solidFill>
                <a:latin typeface="Arial"/>
              </a:rPr>
              <a:t>“create a graph diagram of how the server-side files are related” before reorganizing them.</a:t>
            </a:r>
          </a:p>
          <a:p>
            <a:pPr algn="l">
              <a:lnSpc>
                <a:spcPct val="106000"/>
              </a:lnSpc>
              <a:spcAft>
                <a:spcPts val="1800"/>
              </a:spcAft>
            </a:pPr>
            <a:r>
              <a:rPr sz="2100" b="1">
                <a:solidFill>
                  <a:srgbClr val="FDB515"/>
                </a:solidFill>
                <a:latin typeface="Arial"/>
              </a:rPr>
              <a:t>—  </a:t>
            </a:r>
            <a:r>
              <a:rPr sz="2100" b="1">
                <a:solidFill>
                  <a:srgbClr val="003262"/>
                </a:solidFill>
                <a:latin typeface="Arial"/>
              </a:rPr>
              <a:t>Front-loaded comprehension:  </a:t>
            </a:r>
            <a:r>
              <a:rPr sz="2100">
                <a:solidFill>
                  <a:srgbClr val="1A1F2B"/>
                </a:solidFill>
                <a:latin typeface="Arial"/>
              </a:rPr>
              <a:t>turns a vague aspiration into a precise, local edit request.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Log as test data:  </a:t>
            </a:r>
            <a:r>
              <a:rPr sz="2100">
                <a:solidFill>
                  <a:srgbClr val="1A1F2B"/>
                </a:solidFill>
                <a:latin typeface="Arial"/>
              </a:rPr>
              <a:t>“look at yesterday's tasks; which instructions are not being followed? Fix them.”</a:t>
            </a:r>
          </a:p>
          <a:p>
            <a:pPr algn="l">
              <a:lnSpc>
                <a:spcPct val="106000"/>
              </a:lnSpc>
              <a:spcAft>
                <a:spcPts val="1800"/>
              </a:spcAft>
            </a:pPr>
            <a:r>
              <a:rPr sz="2100" b="1">
                <a:solidFill>
                  <a:srgbClr val="FDB515"/>
                </a:solidFill>
                <a:latin typeface="Arial"/>
              </a:rPr>
              <a:t>—  </a:t>
            </a:r>
            <a:r>
              <a:rPr sz="2100" b="1">
                <a:solidFill>
                  <a:srgbClr val="003262"/>
                </a:solidFill>
                <a:latin typeface="Arial"/>
              </a:rPr>
              <a:t>Mutation testing for a spec:  </a:t>
            </a:r>
            <a:r>
              <a:rPr sz="2100">
                <a:solidFill>
                  <a:srgbClr val="1A1F2B"/>
                </a:solidFill>
                <a:latin typeface="Arial"/>
              </a:rPr>
              <a:t>write a real-LLM test to confirm an observed deviation, then patch the prompt.</a:t>
            </a:r>
          </a:p>
          <a:p>
            <a:pPr algn="l">
              <a:lnSpc>
                <a:spcPct val="106000"/>
              </a:lnSpc>
              <a:spcAft>
                <a:spcPts val="1800"/>
              </a:spcAft>
            </a:pPr>
            <a:r>
              <a:rPr sz="2100" b="1">
                <a:solidFill>
                  <a:srgbClr val="FDB515"/>
                </a:solidFill>
                <a:latin typeface="Arial"/>
              </a:rPr>
              <a:t>—  </a:t>
            </a:r>
            <a:r>
              <a:rPr sz="2100" b="1">
                <a:solidFill>
                  <a:srgbClr val="003262"/>
                </a:solidFill>
                <a:latin typeface="Arial"/>
              </a:rPr>
              <a:t>Reactive rules:  </a:t>
            </a:r>
            <a:r>
              <a:rPr sz="2100">
                <a:solidFill>
                  <a:srgbClr val="1A1F2B"/>
                </a:solidFill>
                <a:latin typeface="Arial"/>
              </a:rPr>
              <a:t>the tmp/ rule, the curl/wget ban, and the “visit ≥10 websites” rule were all added after the log exposed evasions.</a:t>
            </a:r>
          </a:p>
          <a:p>
            <a:pPr algn="l">
              <a:lnSpc>
                <a:spcPct val="106000"/>
              </a:lnSpc>
              <a:spcAft>
                <a:spcPts val="1800"/>
              </a:spcAft>
            </a:pPr>
            <a:r>
              <a:rPr sz="2100" b="1">
                <a:solidFill>
                  <a:srgbClr val="FDB515"/>
                </a:solidFill>
                <a:latin typeface="Arial"/>
              </a:rPr>
              <a:t>—  </a:t>
            </a:r>
            <a:r>
              <a:rPr sz="2100" b="1">
                <a:solidFill>
                  <a:srgbClr val="003262"/>
                </a:solidFill>
                <a:latin typeface="Arial"/>
              </a:rPr>
              <a:t>Calmer voice:  </a:t>
            </a:r>
            <a:r>
              <a:rPr sz="2100">
                <a:solidFill>
                  <a:srgbClr val="1A1F2B"/>
                </a:solidFill>
                <a:latin typeface="Arial"/>
              </a:rPr>
              <a:t>evolved from “BE RELENTLESS” to “be rigorous, check facts, produce high-quality work.”</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45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45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45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45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45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45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45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45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3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45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45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45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45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45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45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45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45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FooterText"/>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W  H  Y     I  T     W  O  R  K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Each pattern maps to a principle</a:t>
            </a:r>
          </a:p>
        </p:txBody>
      </p:sp>
      <p:sp>
        <p:nvSpPr>
          <p:cNvPr id="5" name="Rectangle 4"/>
          <p:cNvSpPr/>
          <p:nvPr/>
        </p:nvSpPr>
        <p:spPr>
          <a:xfrm>
            <a:off x="82296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4300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KISS</a:t>
            </a:r>
          </a:p>
          <a:p>
            <a:pPr algn="l">
              <a:lnSpc>
                <a:spcPct val="104000"/>
              </a:lnSpc>
              <a:spcBef>
                <a:spcPts val="0"/>
              </a:spcBef>
              <a:spcAft>
                <a:spcPts val="800"/>
              </a:spcAft>
            </a:pPr>
            <a:r>
              <a:rPr sz="1500" b="0" i="0">
                <a:solidFill>
                  <a:srgbClr val="4A5260"/>
                </a:solidFill>
                <a:latin typeface="Arial"/>
              </a:rPr>
              <a:t>One agent, one prompt, one architecture across all domains.</a:t>
            </a:r>
          </a:p>
        </p:txBody>
      </p:sp>
      <p:sp>
        <p:nvSpPr>
          <p:cNvPr id="8" name="Rectangle 7"/>
          <p:cNvSpPr/>
          <p:nvPr/>
        </p:nvSpPr>
        <p:spPr>
          <a:xfrm>
            <a:off x="6172200" y="2011680"/>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2011680"/>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92240" y="2157984"/>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Separation of concerns</a:t>
            </a:r>
          </a:p>
          <a:p>
            <a:pPr algn="l">
              <a:lnSpc>
                <a:spcPct val="104000"/>
              </a:lnSpc>
              <a:spcBef>
                <a:spcPts val="0"/>
              </a:spcBef>
              <a:spcAft>
                <a:spcPts val="800"/>
              </a:spcAft>
            </a:pPr>
            <a:r>
              <a:rPr sz="1500" b="0" i="0">
                <a:solidFill>
                  <a:srgbClr val="4A5260"/>
                </a:solidFill>
                <a:latin typeface="Arial"/>
              </a:rPr>
              <a:t>Each layer / module owns exactly one concern.</a:t>
            </a:r>
          </a:p>
        </p:txBody>
      </p:sp>
      <p:sp>
        <p:nvSpPr>
          <p:cNvPr id="11" name="Rectangle 10"/>
          <p:cNvSpPr/>
          <p:nvPr/>
        </p:nvSpPr>
        <p:spPr>
          <a:xfrm>
            <a:off x="82296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82296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Test-first development</a:t>
            </a:r>
          </a:p>
          <a:p>
            <a:pPr algn="l">
              <a:lnSpc>
                <a:spcPct val="104000"/>
              </a:lnSpc>
              <a:spcBef>
                <a:spcPts val="0"/>
              </a:spcBef>
              <a:spcAft>
                <a:spcPts val="800"/>
              </a:spcAft>
            </a:pPr>
            <a:r>
              <a:rPr sz="1500" b="0" i="0">
                <a:solidFill>
                  <a:srgbClr val="4A5260"/>
                </a:solidFill>
                <a:latin typeface="Arial"/>
              </a:rPr>
              <a:t>Write a failing test, then make it pass — no mocks.</a:t>
            </a:r>
          </a:p>
        </p:txBody>
      </p:sp>
      <p:sp>
        <p:nvSpPr>
          <p:cNvPr id="14" name="Rectangle 13"/>
          <p:cNvSpPr/>
          <p:nvPr/>
        </p:nvSpPr>
        <p:spPr>
          <a:xfrm>
            <a:off x="6172200" y="3319272"/>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72200" y="3319272"/>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92240" y="3465576"/>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Defensive programming</a:t>
            </a:r>
          </a:p>
          <a:p>
            <a:pPr algn="l">
              <a:lnSpc>
                <a:spcPct val="104000"/>
              </a:lnSpc>
              <a:spcBef>
                <a:spcPts val="0"/>
              </a:spcBef>
              <a:spcAft>
                <a:spcPts val="800"/>
              </a:spcAft>
            </a:pPr>
            <a:r>
              <a:rPr sz="1500" b="0" i="0">
                <a:solidFill>
                  <a:srgbClr val="4A5260"/>
                </a:solidFill>
                <a:latin typeface="Arial"/>
              </a:rPr>
              <a:t>Validate everything; refuse what is unsafe; revert fast.</a:t>
            </a:r>
          </a:p>
        </p:txBody>
      </p:sp>
      <p:sp>
        <p:nvSpPr>
          <p:cNvPr id="17" name="Rectangle 16"/>
          <p:cNvSpPr/>
          <p:nvPr/>
        </p:nvSpPr>
        <p:spPr>
          <a:xfrm>
            <a:off x="82296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2296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14300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Pre-flight checks</a:t>
            </a:r>
          </a:p>
          <a:p>
            <a:pPr algn="l">
              <a:lnSpc>
                <a:spcPct val="104000"/>
              </a:lnSpc>
              <a:spcBef>
                <a:spcPts val="0"/>
              </a:spcBef>
              <a:spcAft>
                <a:spcPts val="800"/>
              </a:spcAft>
            </a:pPr>
            <a:r>
              <a:rPr sz="1500" b="0" i="0">
                <a:solidFill>
                  <a:srgbClr val="4A5260"/>
                </a:solidFill>
                <a:latin typeface="Arial"/>
              </a:rPr>
              <a:t>Read before you write; plan before you execute; verify before finishing.</a:t>
            </a:r>
          </a:p>
        </p:txBody>
      </p:sp>
      <p:sp>
        <p:nvSpPr>
          <p:cNvPr id="20" name="Rectangle 19"/>
          <p:cNvSpPr/>
          <p:nvPr/>
        </p:nvSpPr>
        <p:spPr>
          <a:xfrm>
            <a:off x="6172200" y="4626864"/>
            <a:ext cx="5166360" cy="1143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72200" y="4626864"/>
            <a:ext cx="128016" cy="11430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4773168"/>
            <a:ext cx="4617720" cy="868680"/>
          </a:xfrm>
          <a:prstGeom prst="rect">
            <a:avLst/>
          </a:prstGeom>
          <a:noFill/>
        </p:spPr>
        <p:txBody>
          <a:bodyPr wrap="square" lIns="0" tIns="0" rIns="0" bIns="0" anchor="ctr">
            <a:spAutoFit/>
          </a:bodyPr>
          <a:lstStyle/>
          <a:p>
            <a:pPr algn="l">
              <a:lnSpc>
                <a:spcPct val="100000"/>
              </a:lnSpc>
              <a:spcBef>
                <a:spcPts val="0"/>
              </a:spcBef>
              <a:spcAft>
                <a:spcPts val="400"/>
              </a:spcAft>
            </a:pPr>
            <a:r>
              <a:rPr sz="2000" b="1" i="0">
                <a:solidFill>
                  <a:srgbClr val="003262"/>
                </a:solidFill>
                <a:latin typeface="Arial"/>
              </a:rPr>
              <a:t>Self-hosting as CI</a:t>
            </a:r>
          </a:p>
          <a:p>
            <a:pPr algn="l">
              <a:lnSpc>
                <a:spcPct val="104000"/>
              </a:lnSpc>
              <a:spcBef>
                <a:spcPts val="0"/>
              </a:spcBef>
              <a:spcAft>
                <a:spcPts val="800"/>
              </a:spcAft>
            </a:pPr>
            <a:r>
              <a:rPr sz="1500" b="0" i="0">
                <a:solidFill>
                  <a:srgbClr val="4A5260"/>
                </a:solidFill>
                <a:latin typeface="Arial"/>
              </a:rPr>
              <a:t>Use the system to build the system; bugs hurt the builder.</a:t>
            </a:r>
          </a:p>
        </p:txBody>
      </p:sp>
      <p:sp>
        <p:nvSpPr>
          <p:cNvPr id="23" name="Rectangle 2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5" name="TextBox 2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R  E  A  C  H</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software ecosystem</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4A5260"/>
                </a:solidFill>
                <a:latin typeface="Arial"/>
              </a:rPr>
              <a:t>One agent architecture drove every tool below — no per-tool customization.</a:t>
            </a:r>
          </a:p>
        </p:txBody>
      </p:sp>
      <p:sp>
        <p:nvSpPr>
          <p:cNvPr id="6" name="Rectangle 5"/>
          <p:cNvSpPr/>
          <p:nvPr/>
        </p:nvSpPr>
        <p:spPr>
          <a:xfrm>
            <a:off x="82296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4300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Languages</a:t>
            </a:r>
          </a:p>
          <a:p>
            <a:pPr algn="l">
              <a:lnSpc>
                <a:spcPct val="102000"/>
              </a:lnSpc>
              <a:spcBef>
                <a:spcPts val="0"/>
              </a:spcBef>
              <a:spcAft>
                <a:spcPts val="800"/>
              </a:spcAft>
            </a:pPr>
            <a:r>
              <a:rPr sz="1400" b="0" i="0">
                <a:solidFill>
                  <a:srgbClr val="4A5260"/>
                </a:solidFill>
                <a:latin typeface="Arial"/>
              </a:rPr>
              <a:t>Python · TypeScript · JavaScript · CSS · HTML · LaTeX</a:t>
            </a:r>
          </a:p>
        </p:txBody>
      </p:sp>
      <p:sp>
        <p:nvSpPr>
          <p:cNvPr id="9" name="Rectangle 8"/>
          <p:cNvSpPr/>
          <p:nvPr/>
        </p:nvSpPr>
        <p:spPr>
          <a:xfrm>
            <a:off x="6172200" y="242316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423160"/>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0" y="2532888"/>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Build &amp; tooling</a:t>
            </a:r>
          </a:p>
          <a:p>
            <a:pPr algn="l">
              <a:lnSpc>
                <a:spcPct val="102000"/>
              </a:lnSpc>
              <a:spcBef>
                <a:spcPts val="0"/>
              </a:spcBef>
              <a:spcAft>
                <a:spcPts val="800"/>
              </a:spcAft>
            </a:pPr>
            <a:r>
              <a:rPr sz="1400" b="0" i="0">
                <a:solidFill>
                  <a:srgbClr val="4A5260"/>
                </a:solidFill>
                <a:latin typeface="Arial"/>
              </a:rPr>
              <a:t>uv · npm · pdflatex · BibTeX · pytest</a:t>
            </a:r>
          </a:p>
        </p:txBody>
      </p:sp>
      <p:sp>
        <p:nvSpPr>
          <p:cNvPr id="12" name="Rectangle 11"/>
          <p:cNvSpPr/>
          <p:nvPr/>
        </p:nvSpPr>
        <p:spPr>
          <a:xfrm>
            <a:off x="82296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Version control</a:t>
            </a:r>
          </a:p>
          <a:p>
            <a:pPr algn="l">
              <a:lnSpc>
                <a:spcPct val="102000"/>
              </a:lnSpc>
              <a:spcBef>
                <a:spcPts val="0"/>
              </a:spcBef>
              <a:spcAft>
                <a:spcPts val="800"/>
              </a:spcAft>
            </a:pPr>
            <a:r>
              <a:rPr sz="1400" b="0" i="0">
                <a:solidFill>
                  <a:srgbClr val="4A5260"/>
                </a:solidFill>
                <a:latin typeface="Arial"/>
              </a:rPr>
              <a:t>Git · GitHub · worktree-per-task</a:t>
            </a:r>
          </a:p>
        </p:txBody>
      </p:sp>
      <p:sp>
        <p:nvSpPr>
          <p:cNvPr id="15" name="Rectangle 14"/>
          <p:cNvSpPr/>
          <p:nvPr/>
        </p:nvSpPr>
        <p:spPr>
          <a:xfrm>
            <a:off x="6172200" y="3438144"/>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38144"/>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0" y="3547872"/>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Automation</a:t>
            </a:r>
          </a:p>
          <a:p>
            <a:pPr algn="l">
              <a:lnSpc>
                <a:spcPct val="102000"/>
              </a:lnSpc>
              <a:spcBef>
                <a:spcPts val="0"/>
              </a:spcBef>
              <a:spcAft>
                <a:spcPts val="800"/>
              </a:spcAft>
            </a:pPr>
            <a:r>
              <a:rPr sz="1400" b="0" i="0">
                <a:solidFill>
                  <a:srgbClr val="4A5260"/>
                </a:solidFill>
                <a:latin typeface="Arial"/>
              </a:rPr>
              <a:t>Playwright · Chromium · cron daemon</a:t>
            </a:r>
          </a:p>
        </p:txBody>
      </p:sp>
      <p:sp>
        <p:nvSpPr>
          <p:cNvPr id="18" name="Rectangle 17"/>
          <p:cNvSpPr/>
          <p:nvPr/>
        </p:nvSpPr>
        <p:spPr>
          <a:xfrm>
            <a:off x="82296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300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Remote &amp; infra</a:t>
            </a:r>
          </a:p>
          <a:p>
            <a:pPr algn="l">
              <a:lnSpc>
                <a:spcPct val="102000"/>
              </a:lnSpc>
              <a:spcBef>
                <a:spcPts val="0"/>
              </a:spcBef>
              <a:spcAft>
                <a:spcPts val="800"/>
              </a:spcAft>
            </a:pPr>
            <a:r>
              <a:rPr sz="1400" b="0" i="0">
                <a:solidFill>
                  <a:srgbClr val="4A5260"/>
                </a:solidFill>
                <a:latin typeface="Arial"/>
              </a:rPr>
              <a:t>Cloudflare Tunnels · TLS/WSS · Docker · ntfy.sh</a:t>
            </a:r>
          </a:p>
        </p:txBody>
      </p:sp>
      <p:sp>
        <p:nvSpPr>
          <p:cNvPr id="21" name="Rectangle 20"/>
          <p:cNvSpPr/>
          <p:nvPr/>
        </p:nvSpPr>
        <p:spPr>
          <a:xfrm>
            <a:off x="6172200" y="4453128"/>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92240" y="4562856"/>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Data</a:t>
            </a:r>
          </a:p>
          <a:p>
            <a:pPr algn="l">
              <a:lnSpc>
                <a:spcPct val="102000"/>
              </a:lnSpc>
              <a:spcBef>
                <a:spcPts val="0"/>
              </a:spcBef>
              <a:spcAft>
                <a:spcPts val="800"/>
              </a:spcAft>
            </a:pPr>
            <a:r>
              <a:rPr sz="1400" b="0" i="0">
                <a:solidFill>
                  <a:srgbClr val="4A5260"/>
                </a:solidFill>
                <a:latin typeface="Arial"/>
              </a:rPr>
              <a:t>SQLite (sorcar.db)</a:t>
            </a:r>
          </a:p>
        </p:txBody>
      </p:sp>
      <p:sp>
        <p:nvSpPr>
          <p:cNvPr id="24" name="Rectangle 23"/>
          <p:cNvSpPr/>
          <p:nvPr/>
        </p:nvSpPr>
        <p:spPr>
          <a:xfrm>
            <a:off x="82296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300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Assistants</a:t>
            </a:r>
          </a:p>
          <a:p>
            <a:pPr algn="l">
              <a:lnSpc>
                <a:spcPct val="102000"/>
              </a:lnSpc>
              <a:spcBef>
                <a:spcPts val="0"/>
              </a:spcBef>
              <a:spcAft>
                <a:spcPts val="800"/>
              </a:spcAft>
            </a:pPr>
            <a:r>
              <a:rPr sz="1400" b="0" i="0">
                <a:solidFill>
                  <a:srgbClr val="4A5260"/>
                </a:solidFill>
                <a:latin typeface="Arial"/>
              </a:rPr>
              <a:t>Govee · Slack · iMessage · WhatsApp · Gmail · Resend</a:t>
            </a:r>
          </a:p>
        </p:txBody>
      </p:sp>
      <p:sp>
        <p:nvSpPr>
          <p:cNvPr id="27" name="Rectangle 26"/>
          <p:cNvSpPr/>
          <p:nvPr/>
        </p:nvSpPr>
        <p:spPr>
          <a:xfrm>
            <a:off x="6172200" y="5468112"/>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68112"/>
            <a:ext cx="128016" cy="86868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92240" y="5577840"/>
            <a:ext cx="4617720" cy="649224"/>
          </a:xfrm>
          <a:prstGeom prst="rect">
            <a:avLst/>
          </a:prstGeom>
          <a:noFill/>
        </p:spPr>
        <p:txBody>
          <a:bodyPr wrap="square" lIns="0" tIns="0" rIns="0" bIns="0" anchor="ctr">
            <a:spAutoFit/>
          </a:bodyPr>
          <a:lstStyle/>
          <a:p>
            <a:pPr algn="l">
              <a:lnSpc>
                <a:spcPct val="100000"/>
              </a:lnSpc>
              <a:spcBef>
                <a:spcPts val="0"/>
              </a:spcBef>
              <a:spcAft>
                <a:spcPts val="300"/>
              </a:spcAft>
            </a:pPr>
            <a:r>
              <a:rPr sz="1700" b="1" i="0">
                <a:solidFill>
                  <a:srgbClr val="003262"/>
                </a:solidFill>
                <a:latin typeface="Arial"/>
              </a:rPr>
              <a:t>Media</a:t>
            </a:r>
          </a:p>
          <a:p>
            <a:pPr algn="l">
              <a:lnSpc>
                <a:spcPct val="102000"/>
              </a:lnSpc>
              <a:spcBef>
                <a:spcPts val="0"/>
              </a:spcBef>
              <a:spcAft>
                <a:spcPts val="800"/>
              </a:spcAft>
            </a:pPr>
            <a:r>
              <a:rPr sz="1400" b="0" i="0">
                <a:solidFill>
                  <a:srgbClr val="4A5260"/>
                </a:solidFill>
                <a:latin typeface="Arial"/>
              </a:rPr>
              <a:t>python-pptx · Final Cut Pro</a:t>
            </a:r>
          </a:p>
        </p:txBody>
      </p:sp>
      <p:sp>
        <p:nvSpPr>
          <p:cNvPr id="30" name="Rectangle 2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V  E  A  T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Threats to validity</a:t>
            </a:r>
          </a:p>
        </p:txBody>
      </p:sp>
      <p:sp>
        <p:nvSpPr>
          <p:cNvPr id="5" name="Rectangle 4"/>
          <p:cNvSpPr/>
          <p:nvPr/>
        </p:nvSpPr>
        <p:spPr>
          <a:xfrm>
            <a:off x="822960" y="228600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228600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88720" y="228600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developer</a:t>
            </a:r>
          </a:p>
        </p:txBody>
      </p:sp>
      <p:sp>
        <p:nvSpPr>
          <p:cNvPr id="8" name="TextBox 7"/>
          <p:cNvSpPr txBox="1"/>
          <p:nvPr/>
        </p:nvSpPr>
        <p:spPr>
          <a:xfrm>
            <a:off x="4572000" y="228600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All 3,099 tasks came from one person; other developers may differ.</a:t>
            </a:r>
          </a:p>
        </p:txBody>
      </p:sp>
      <p:sp>
        <p:nvSpPr>
          <p:cNvPr id="9" name="Rectangle 8"/>
          <p:cNvSpPr/>
          <p:nvPr/>
        </p:nvSpPr>
        <p:spPr>
          <a:xfrm>
            <a:off x="822960" y="361188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2960" y="361188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88720" y="361188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Single system</a:t>
            </a:r>
          </a:p>
        </p:txBody>
      </p:sp>
      <p:sp>
        <p:nvSpPr>
          <p:cNvPr id="12" name="TextBox 11"/>
          <p:cNvSpPr txBox="1"/>
          <p:nvPr/>
        </p:nvSpPr>
        <p:spPr>
          <a:xfrm>
            <a:off x="4572000" y="361188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Patterns are specific to KISS Sorcar's architecture.</a:t>
            </a:r>
          </a:p>
        </p:txBody>
      </p:sp>
      <p:sp>
        <p:nvSpPr>
          <p:cNvPr id="13" name="Rectangle 12"/>
          <p:cNvSpPr/>
          <p:nvPr/>
        </p:nvSpPr>
        <p:spPr>
          <a:xfrm>
            <a:off x="822960" y="4937760"/>
            <a:ext cx="10515600" cy="10972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4937760"/>
            <a:ext cx="146304" cy="1097280"/>
          </a:xfrm>
          <a:prstGeom prst="rect">
            <a:avLst/>
          </a:prstGeom>
          <a:solidFill>
            <a:srgbClr val="C88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188720" y="4937760"/>
            <a:ext cx="3291840" cy="1097280"/>
          </a:xfrm>
          <a:prstGeom prst="rect">
            <a:avLst/>
          </a:prstGeom>
          <a:noFill/>
        </p:spPr>
        <p:txBody>
          <a:bodyPr wrap="square" lIns="0" tIns="0" rIns="0" bIns="0" anchor="ctr">
            <a:spAutoFit/>
          </a:bodyPr>
          <a:lstStyle/>
          <a:p>
            <a:pPr algn="l">
              <a:lnSpc>
                <a:spcPct val="100000"/>
              </a:lnSpc>
              <a:spcBef>
                <a:spcPts val="0"/>
              </a:spcBef>
              <a:spcAft>
                <a:spcPts val="800"/>
              </a:spcAft>
            </a:pPr>
            <a:r>
              <a:rPr sz="2200" b="1" i="0">
                <a:solidFill>
                  <a:srgbClr val="003262"/>
                </a:solidFill>
                <a:latin typeface="Arial"/>
              </a:rPr>
              <a:t>Self-hosting bias</a:t>
            </a:r>
          </a:p>
        </p:txBody>
      </p:sp>
      <p:sp>
        <p:nvSpPr>
          <p:cNvPr id="16" name="TextBox 15"/>
          <p:cNvSpPr txBox="1"/>
          <p:nvPr/>
        </p:nvSpPr>
        <p:spPr>
          <a:xfrm>
            <a:off x="4572000" y="4937760"/>
            <a:ext cx="6492240" cy="1097280"/>
          </a:xfrm>
          <a:prstGeom prst="rect">
            <a:avLst/>
          </a:prstGeom>
          <a:noFill/>
        </p:spPr>
        <p:txBody>
          <a:bodyPr wrap="square" lIns="0" tIns="0" rIns="0" bIns="0" anchor="ctr">
            <a:spAutoFit/>
          </a:bodyPr>
          <a:lstStyle/>
          <a:p>
            <a:pPr algn="l">
              <a:lnSpc>
                <a:spcPct val="105000"/>
              </a:lnSpc>
              <a:spcBef>
                <a:spcPts val="0"/>
              </a:spcBef>
              <a:spcAft>
                <a:spcPts val="800"/>
              </a:spcAft>
            </a:pPr>
            <a:r>
              <a:rPr sz="1800" b="0" i="0">
                <a:solidFill>
                  <a:srgbClr val="4A5260"/>
                </a:solidFill>
                <a:latin typeface="Arial"/>
              </a:rPr>
              <a:t>The design is optimized for tasks the agent already does well.</a:t>
            </a:r>
          </a:p>
        </p:txBody>
      </p:sp>
      <p:sp>
        <p:nvSpPr>
          <p:cNvPr id="17" name="Rectangle 16"/>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9" name="TextBox 18"/>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4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4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4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4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4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4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4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4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4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400">
                <a:solidFill>
                  <a:srgbClr val="374151"/>
                </a:solidFill>
              </a:defRPr>
            </a:pPr>
            <a:r>
              <a:t>• Prevents premature commitment to a plan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436D8-CD3B-5F85-10F7-6F8CCCD56019}"/>
              </a:ext>
            </a:extLst>
          </p:cNvPr>
          <p:cNvSpPr>
            <a:spLocks noGrp="1"/>
          </p:cNvSpPr>
          <p:nvPr>
            <p:ph type="title"/>
          </p:nvPr>
        </p:nvSpPr>
        <p:spPr>
          <a:xfrm>
            <a:off x="457199" y="274638"/>
            <a:ext cx="11321143" cy="1143000"/>
          </a:xfrm>
        </p:spPr>
        <p:txBody>
          <a:bodyPr/>
          <a:lstStyle/>
          <a:p>
            <a:r>
              <a:rPr lang="en-US" dirty="0"/>
              <a:t>A sample prompt</a:t>
            </a:r>
          </a:p>
        </p:txBody>
      </p:sp>
      <p:sp>
        <p:nvSpPr>
          <p:cNvPr id="3" name="Content Placeholder 2">
            <a:extLst>
              <a:ext uri="{FF2B5EF4-FFF2-40B4-BE49-F238E27FC236}">
                <a16:creationId xmlns:a16="http://schemas.microsoft.com/office/drawing/2014/main" id="{1CAFC602-A42E-1D9F-9E65-DCE38D218567}"/>
              </a:ext>
            </a:extLst>
          </p:cNvPr>
          <p:cNvSpPr>
            <a:spLocks noGrp="1"/>
          </p:cNvSpPr>
          <p:nvPr>
            <p:ph idx="1"/>
          </p:nvPr>
        </p:nvSpPr>
        <p:spPr>
          <a:xfrm>
            <a:off x="457200" y="1600200"/>
            <a:ext cx="11321142" cy="4525963"/>
          </a:xfrm>
        </p:spPr>
        <p:txBody>
          <a:bodyPr>
            <a:normAutofit lnSpcReduction="10000"/>
          </a:bodyPr>
          <a:lstStyle/>
          <a:p>
            <a:pPr marL="0" indent="0">
              <a:buNone/>
            </a:pPr>
            <a:r>
              <a:rPr lang="en-US" sz="2800" dirty="0">
                <a:latin typeface="Times New Roman" panose="02020603050405020304" pitchFamily="18" charset="0"/>
                <a:cs typeface="Times New Roman" panose="02020603050405020304" pitchFamily="18" charset="0"/>
              </a:rPr>
              <a:t>Can you discover the lightest and fastest neural network model that will give the best accuracy on the data at /Users/</a:t>
            </a:r>
            <a:r>
              <a:rPr lang="en-US" sz="2800" dirty="0" err="1">
                <a:latin typeface="Times New Roman" panose="02020603050405020304" pitchFamily="18" charset="0"/>
                <a:cs typeface="Times New Roman" panose="02020603050405020304" pitchFamily="18" charset="0"/>
              </a:rPr>
              <a:t>ksen</a:t>
            </a:r>
            <a:r>
              <a:rPr lang="en-US" sz="2800" dirty="0">
                <a:latin typeface="Times New Roman" panose="02020603050405020304" pitchFamily="18" charset="0"/>
                <a:cs typeface="Times New Roman" panose="02020603050405020304" pitchFamily="18" charset="0"/>
              </a:rPr>
              <a:t>/work/</a:t>
            </a:r>
            <a:r>
              <a:rPr lang="en-US" sz="2800" dirty="0" err="1">
                <a:latin typeface="Times New Roman" panose="02020603050405020304" pitchFamily="18" charset="0"/>
                <a:cs typeface="Times New Roman" panose="02020603050405020304" pitchFamily="18" charset="0"/>
              </a:rPr>
              <a:t>log_data</a:t>
            </a:r>
            <a:r>
              <a:rPr lang="en-US" sz="2800" dirty="0">
                <a:latin typeface="Times New Roman" panose="02020603050405020304" pitchFamily="18" charset="0"/>
                <a:cs typeface="Times New Roman" panose="02020603050405020304" pitchFamily="18" charset="0"/>
              </a:rPr>
              <a:t>?  Analyze the data and search internet extensively to propose first few models. Implement and experiment each of your proposed models. Note down the ideas you used to optimize the accuracy and speed metrics achieved in a file, so that you can use the file to not repeat ideas that have already been tried and failed. Use 'modal' CLI from </a:t>
            </a:r>
            <a:r>
              <a:rPr lang="en-US" sz="2800" dirty="0">
                <a:latin typeface="Times New Roman" panose="02020603050405020304" pitchFamily="18" charset="0"/>
                <a:cs typeface="Times New Roman" panose="02020603050405020304" pitchFamily="18" charset="0"/>
                <a:hlinkClick r:id="rId2"/>
              </a:rPr>
              <a:t>https://modal.com/</a:t>
            </a:r>
            <a:r>
              <a:rPr lang="en-US" sz="2800" dirty="0">
                <a:latin typeface="Times New Roman" panose="02020603050405020304" pitchFamily="18" charset="0"/>
                <a:cs typeface="Times New Roman" panose="02020603050405020304" pitchFamily="18" charset="0"/>
              </a:rPr>
              <a:t> to train your models and evaluate. Total budget for modal is $1000. Experiment with smaller subset of data and fewer parameter in the model to do experiments quickly and then extrapolate.  Use internet search extensively at every step.  Do not STOP until accuracy reaches 95% and you can process each row in </a:t>
            </a:r>
            <a:r>
              <a:rPr lang="en-US" sz="2800">
                <a:latin typeface="Times New Roman" panose="02020603050405020304" pitchFamily="18" charset="0"/>
                <a:cs typeface="Times New Roman" panose="02020603050405020304" pitchFamily="18" charset="0"/>
              </a:rPr>
              <a:t>less than 50ms.</a:t>
            </a:r>
            <a:endParaRPr lang="en-US"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53716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a:solidFill>
                  <a:srgbClr val="FDB515"/>
                </a:solidFill>
                <a:latin typeface="Arial"/>
              </a:rPr>
              <a:t>—  </a:t>
            </a:r>
            <a:r>
              <a:rPr sz="2300">
                <a:solidFill>
                  <a:srgbClr val="1A1F2B"/>
                </a:solidFill>
                <a:latin typeface="Arial"/>
              </a:rPr>
              <a:t>Nine patterns emerged from 44 days of building KISS Sorcar with itself.</a:t>
            </a:r>
          </a:p>
          <a:p>
            <a:pPr algn="l">
              <a:lnSpc>
                <a:spcPct val="106000"/>
              </a:lnSpc>
              <a:spcAft>
                <a:spcPts val="1800"/>
              </a:spcAft>
            </a:pPr>
            <a:r>
              <a:rPr sz="2300" b="1">
                <a:solidFill>
                  <a:srgbClr val="FDB515"/>
                </a:solidFill>
                <a:latin typeface="Arial"/>
              </a:rPr>
              <a:t>—  </a:t>
            </a:r>
            <a:r>
              <a:rPr sz="2300">
                <a:solidFill>
                  <a:srgbClr val="1A1F2B"/>
                </a:solidFill>
                <a:latin typeface="Arial"/>
              </a:rPr>
              <a:t>Each maps to a decades-old software engineering principle.</a:t>
            </a:r>
          </a:p>
          <a:p>
            <a:pPr algn="l">
              <a:lnSpc>
                <a:spcPct val="106000"/>
              </a:lnSpc>
              <a:spcAft>
                <a:spcPts val="1800"/>
              </a:spcAft>
            </a:pPr>
            <a:r>
              <a:rPr sz="2300" b="1">
                <a:solidFill>
                  <a:srgbClr val="FDB515"/>
                </a:solidFill>
                <a:latin typeface="Arial"/>
              </a:rPr>
              <a:t>—  </a:t>
            </a:r>
            <a:r>
              <a:rPr sz="2300">
                <a:solidFill>
                  <a:srgbClr val="1A1F2B"/>
                </a:solidFill>
                <a:latin typeface="Arial"/>
              </a:rPr>
              <a:t>One 2,400-line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Five-line template:  </a:t>
            </a:r>
            <a:r>
              <a:rPr sz="1900">
                <a:solidFill>
                  <a:srgbClr val="1A1F2B"/>
                </a:solidFill>
                <a:latin typeface="Arial"/>
              </a:rPr>
              <a:t>X MUST hold → reproduce with an integration test → fix → model A codes → model B (other vendor) reviews.</a:t>
            </a:r>
          </a:p>
          <a:p>
            <a:pPr algn="l">
              <a:lnSpc>
                <a:spcPct val="106000"/>
              </a:lnSpc>
              <a:spcAft>
                <a:spcPts val="1400"/>
              </a:spcAft>
            </a:pPr>
            <a:r>
              <a:rPr sz="1900" b="1">
                <a:solidFill>
                  <a:srgbClr val="FDB515"/>
                </a:solidFill>
                <a:latin typeface="Arial"/>
              </a:rPr>
              <a:t>—  </a:t>
            </a:r>
            <a:r>
              <a:rPr sz="1900" b="1">
                <a:solidFill>
                  <a:srgbClr val="003262"/>
                </a:solidFill>
                <a:latin typeface="Arial"/>
              </a:rPr>
              <a:t>Test before fix:  </a:t>
            </a:r>
            <a:r>
              <a:rPr sz="1900">
                <a:solidFill>
                  <a:srgbClr val="1A1F2B"/>
                </a:solidFill>
                <a:latin typeface="Arial"/>
              </a:rPr>
              <a:t>the failing-then-passing end-to-end test is an artifact the reviewer can refute independently and stays as a regression guard.</a:t>
            </a:r>
          </a:p>
          <a:p>
            <a:pPr algn="l">
              <a:lnSpc>
                <a:spcPct val="106000"/>
              </a:lnSpc>
              <a:spcAft>
                <a:spcPts val="1400"/>
              </a:spcAft>
            </a:pPr>
            <a:r>
              <a:rPr sz="1900" b="1">
                <a:solidFill>
                  <a:srgbClr val="FDB515"/>
                </a:solidFill>
                <a:latin typeface="Arial"/>
              </a:rPr>
              <a:t>—  </a:t>
            </a:r>
            <a:r>
              <a:rPr sz="1900" b="1">
                <a:solidFill>
                  <a:srgbClr val="003262"/>
                </a:solidFill>
                <a:latin typeface="Arial"/>
              </a:rPr>
              <a:t>Cross-vendor reviewer:  </a:t>
            </a:r>
            <a:r>
              <a:rPr sz="1900">
                <a:solidFill>
                  <a:srgbClr val="1A1F2B"/>
                </a:solidFill>
                <a:latin typeface="Arial"/>
              </a:rPr>
              <a:t>different training distributions catch library-internal blind spots a single model would systematically miss.</a:t>
            </a:r>
          </a:p>
          <a:p>
            <a:pPr algn="l">
              <a:lnSpc>
                <a:spcPct val="106000"/>
              </a:lnSpc>
              <a:spcAft>
                <a:spcPts val="1400"/>
              </a:spcAft>
            </a:pPr>
            <a:r>
              <a:rPr sz="1900" b="1">
                <a:solidFill>
                  <a:srgbClr val="FDB515"/>
                </a:solidFill>
                <a:latin typeface="Arial"/>
              </a:rPr>
              <a:t>—  </a:t>
            </a:r>
            <a:r>
              <a:rPr sz="1900" b="1">
                <a:solidFill>
                  <a:srgbClr val="003262"/>
                </a:solidFill>
                <a:latin typeface="Arial"/>
              </a:rPr>
              <a:t>Generality:  </a:t>
            </a:r>
            <a:r>
              <a:rPr sz="1900">
                <a:solidFill>
                  <a:srgbClr val="1A1F2B"/>
                </a:solidFill>
                <a:latin typeface="Arial"/>
              </a:rPr>
              <a:t>CLI multi-line input + word wrap, bash-output routing, stale notifications, Read-tool highlighting, temp-file location rule.</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“…the user MUST be able to enter multi-line inputs… Reproduce with an integration test, then fix. Use claude-opus-4-7 for code; gpt-5.5 (not codex) for review.”</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Cross-model iterative review</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900" b="1">
                <a:solidFill>
                  <a:srgbClr val="FDB515"/>
                </a:solidFill>
                <a:latin typeface="Arial"/>
              </a:rPr>
              <a:t>—  </a:t>
            </a:r>
            <a:r>
              <a:rPr sz="1900" b="1">
                <a:solidFill>
                  <a:srgbClr val="003262"/>
                </a:solidFill>
                <a:latin typeface="Arial"/>
              </a:rPr>
              <a:t>set_model tool:  </a:t>
            </a:r>
            <a:r>
              <a:rPr sz="19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900" b="1">
                <a:solidFill>
                  <a:srgbClr val="FDB515"/>
                </a:solidFill>
                <a:latin typeface="Arial"/>
              </a:rPr>
              <a:t>—  </a:t>
            </a:r>
            <a:r>
              <a:rPr sz="1900" b="1">
                <a:solidFill>
                  <a:srgbClr val="003262"/>
                </a:solidFill>
                <a:latin typeface="Arial"/>
              </a:rPr>
              <a:t>Three idiomatic uses:  </a:t>
            </a:r>
            <a:r>
              <a:rPr sz="1900">
                <a:solidFill>
                  <a:srgbClr val="1A1F2B"/>
                </a:solidFill>
                <a:latin typeface="Arial"/>
              </a:rPr>
              <a:t>scout-then-edit (cheap → strong); generate-then-review (vendor swap); cost-aware long-loop (frontier only at decisions).</a:t>
            </a:r>
          </a:p>
          <a:p>
            <a:pPr algn="l">
              <a:lnSpc>
                <a:spcPct val="106000"/>
              </a:lnSpc>
              <a:spcAft>
                <a:spcPts val="1400"/>
              </a:spcAft>
            </a:pPr>
            <a:r>
              <a:rPr sz="1900" b="1">
                <a:solidFill>
                  <a:srgbClr val="FDB515"/>
                </a:solidFill>
                <a:latin typeface="Arial"/>
              </a:rPr>
              <a:t>—  </a:t>
            </a:r>
            <a:r>
              <a:rPr sz="1900" b="1">
                <a:solidFill>
                  <a:srgbClr val="003262"/>
                </a:solidFill>
                <a:latin typeface="Arial"/>
              </a:rPr>
              <a:t>Ensemble disagreement:  </a:t>
            </a:r>
            <a:r>
              <a:rPr sz="19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900" b="1">
                <a:solidFill>
                  <a:srgbClr val="FDB515"/>
                </a:solidFill>
                <a:latin typeface="Arial"/>
              </a:rPr>
              <a:t>—  </a:t>
            </a:r>
            <a:r>
              <a:rPr sz="1900" b="1">
                <a:solidFill>
                  <a:srgbClr val="003262"/>
                </a:solidFill>
                <a:latin typeface="Arial"/>
              </a:rPr>
              <a:t>Single continuous task:  </a:t>
            </a:r>
            <a:r>
              <a:rPr sz="1900">
                <a:solidFill>
                  <a:srgbClr val="1A1F2B"/>
                </a:solidFill>
                <a:latin typeface="Arial"/>
              </a:rPr>
              <a:t>no second human reviewer; transcript and cumulative budget travel across the switch — the sidebar shows the price of the second opinion.</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900" b="0" i="1">
                <a:solidFill>
                  <a:srgbClr val="FFFFFF"/>
                </a:solidFill>
                <a:latin typeface="Arial"/>
              </a:rPr>
              <a:t>“Use claude-opus-4-7 for coding, bug fixing, and test creation. Use gpt-5.5 (not codex) for thorough review and debugging of the work done by the other model.”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283</TotalTime>
  <Words>3040</Words>
  <Application>Microsoft Macintosh PowerPoint</Application>
  <PresentationFormat>Widescreen</PresentationFormat>
  <Paragraphs>317</Paragraphs>
  <Slides>27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Consolas</vt:lpstr>
      <vt:lpstr>Courier New</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 sample prompt</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5</cp:revision>
  <dcterms:created xsi:type="dcterms:W3CDTF">2013-01-27T09:14:16Z</dcterms:created>
  <dcterms:modified xsi:type="dcterms:W3CDTF">2026-06-12T19:09:48Z</dcterms:modified>
  <cp:category/>
</cp:coreProperties>
</file>